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256" r:id="rId2"/>
    <p:sldId id="259" r:id="rId3"/>
    <p:sldId id="271" r:id="rId4"/>
    <p:sldId id="273" r:id="rId5"/>
    <p:sldId id="272" r:id="rId6"/>
    <p:sldId id="274" r:id="rId7"/>
    <p:sldId id="310" r:id="rId8"/>
    <p:sldId id="315" r:id="rId9"/>
    <p:sldId id="311" r:id="rId10"/>
    <p:sldId id="316" r:id="rId11"/>
    <p:sldId id="317" r:id="rId12"/>
    <p:sldId id="318" r:id="rId13"/>
    <p:sldId id="312" r:id="rId14"/>
    <p:sldId id="291" r:id="rId15"/>
    <p:sldId id="313" r:id="rId16"/>
    <p:sldId id="314" r:id="rId17"/>
    <p:sldId id="275" r:id="rId18"/>
    <p:sldId id="320" r:id="rId19"/>
    <p:sldId id="319" r:id="rId20"/>
    <p:sldId id="321" r:id="rId21"/>
    <p:sldId id="296" r:id="rId22"/>
    <p:sldId id="324" r:id="rId23"/>
    <p:sldId id="334" r:id="rId24"/>
    <p:sldId id="325" r:id="rId25"/>
    <p:sldId id="323" r:id="rId26"/>
    <p:sldId id="326" r:id="rId27"/>
    <p:sldId id="329" r:id="rId28"/>
    <p:sldId id="297" r:id="rId29"/>
    <p:sldId id="327" r:id="rId30"/>
    <p:sldId id="330" r:id="rId31"/>
    <p:sldId id="331" r:id="rId32"/>
    <p:sldId id="328" r:id="rId33"/>
    <p:sldId id="295" r:id="rId34"/>
    <p:sldId id="332" r:id="rId35"/>
    <p:sldId id="333" r:id="rId36"/>
    <p:sldId id="294" r:id="rId37"/>
    <p:sldId id="302" r:id="rId38"/>
    <p:sldId id="335" r:id="rId39"/>
    <p:sldId id="336" r:id="rId40"/>
    <p:sldId id="337" r:id="rId41"/>
    <p:sldId id="293" r:id="rId42"/>
    <p:sldId id="338" r:id="rId43"/>
    <p:sldId id="339" r:id="rId44"/>
    <p:sldId id="299" r:id="rId45"/>
    <p:sldId id="340" r:id="rId46"/>
    <p:sldId id="341" r:id="rId47"/>
    <p:sldId id="301" r:id="rId48"/>
    <p:sldId id="278" r:id="rId49"/>
    <p:sldId id="279" r:id="rId50"/>
    <p:sldId id="280" r:id="rId51"/>
    <p:sldId id="281" r:id="rId52"/>
    <p:sldId id="284" r:id="rId53"/>
    <p:sldId id="357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282" r:id="rId64"/>
    <p:sldId id="283" r:id="rId65"/>
    <p:sldId id="257" r:id="rId6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54"/>
    <p:restoredTop sz="94667"/>
  </p:normalViewPr>
  <p:slideViewPr>
    <p:cSldViewPr snapToGrid="0">
      <p:cViewPr varScale="1">
        <p:scale>
          <a:sx n="110" d="100"/>
          <a:sy n="110" d="100"/>
        </p:scale>
        <p:origin x="56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2101-028C-4C7C-BD50-C9732890444B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13FAA-B49B-438C-9DA4-0021B633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3907-0054-4CE1-BA2E-6D8CEC36E5B7}" type="datetime1">
              <a:rPr lang="tr-TR" smtClean="0"/>
              <a:t>24.09.2025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786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16E5-22D1-424E-9E03-7FE4FCF4E762}" type="datetime1">
              <a:rPr lang="tr-TR" smtClean="0"/>
              <a:t>24.09.2025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5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F9A-8D36-43A8-ABA2-4C9C9E5C79EF}" type="datetime1">
              <a:rPr lang="tr-TR" smtClean="0"/>
              <a:t>24.09.2025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61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83676" y="320675"/>
            <a:ext cx="10556631" cy="1325563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83676" y="1646238"/>
            <a:ext cx="10556631" cy="435133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tr-TR" dirty="0"/>
              <a:t>Asıl metin stillerini düzenle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1295400" y="6356349"/>
            <a:ext cx="2743200" cy="365125"/>
          </a:xfrm>
        </p:spPr>
        <p:txBody>
          <a:bodyPr/>
          <a:lstStyle/>
          <a:p>
            <a:fld id="{C46BFB63-2AB2-4BA2-8CD9-A68D09A9B742}" type="datetime1">
              <a:rPr lang="tr-TR" smtClean="0"/>
              <a:t>24.09.2025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20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6E8C-C65E-4F63-AEE4-FAD8C582111C}" type="datetime1">
              <a:rPr lang="tr-TR" smtClean="0"/>
              <a:t>24.09.2025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95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4718-B27C-45EE-A76D-390338E2DE09}" type="datetime1">
              <a:rPr lang="tr-TR" smtClean="0"/>
              <a:t>24.09.2025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03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0E79-79FB-4C73-A853-D9D670F075EE}" type="datetime1">
              <a:rPr lang="tr-TR" smtClean="0"/>
              <a:t>24.09.2025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949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B1A0-33BC-4E80-A17D-D3AE4CBABFEA}" type="datetime1">
              <a:rPr lang="tr-TR" smtClean="0"/>
              <a:t>24.09.2025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5EE4-3681-4524-B732-0D6448CCBE17}" type="datetime1">
              <a:rPr lang="tr-TR" smtClean="0"/>
              <a:t>24.09.2025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6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96BB-783D-4D3E-99CD-AC33CF6608D3}" type="datetime1">
              <a:rPr lang="tr-TR" smtClean="0"/>
              <a:t>24.09.2025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9E9FA-750F-4658-A36B-A439B400F2F3}" type="datetime1">
              <a:rPr lang="tr-TR" smtClean="0"/>
              <a:t>24.09.2025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983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D6CC-84C3-4375-AADE-3F6A6FFABFD1}" type="datetime1">
              <a:rPr lang="tr-TR" smtClean="0"/>
              <a:t>24.09.2025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69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104832"/>
            <a:ext cx="1828800" cy="1184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173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1188084" y="1296670"/>
            <a:ext cx="1016571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Bölümün Adı			: </a:t>
            </a:r>
            <a:r>
              <a:rPr lang="tr-TR" sz="20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Perfüzyon</a:t>
            </a:r>
            <a:endParaRPr lang="tr-TR" sz="2000" b="1" dirty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 Kodu ve Adı		: PER247 Sterilizasyon ve Cerrahi Asepsi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Haftası			: 1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Günü ve Saati		: Çarşamba 12.00-14.50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 Kredi/AKTS Bilgileri	: 3/6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Sınav Şekli/ Not Dağılımı		: Test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</a:t>
            </a:r>
            <a:r>
              <a:rPr lang="tr-TR" sz="20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		: Prof. Dr. Kıvanç Derya Peker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E-posta ve Telefon		: </a:t>
            </a:r>
            <a:r>
              <a:rPr lang="tr-TR" sz="20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kdpeker@gelisim.edu.tr</a:t>
            </a:r>
            <a:endParaRPr lang="tr-TR" sz="2000" b="1" dirty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 Odası		: B Blok 015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Danışmanlık Bilgileri		: Çarşamba14.00-15.00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GBS Linki			: https://gbs.gelisim.edu.tr/ders-detay-17-322-11089-1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ALMS Linki			: https://lms.gelisim.edu.tr/almsp/u/Home/Index</a:t>
            </a:r>
          </a:p>
          <a:p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AVESİS Linki			: https://</a:t>
            </a:r>
            <a:r>
              <a:rPr lang="tr-TR" sz="20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avesis.gelisim.edu.tr</a:t>
            </a:r>
            <a:r>
              <a:rPr lang="tr-TR" sz="20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sz="20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kdpeker</a:t>
            </a:r>
            <a:endParaRPr lang="tr-TR" sz="2000" b="1" dirty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İçerik Yer Tutucusu 8"/>
          <p:cNvSpPr>
            <a:spLocks noGrp="1"/>
          </p:cNvSpPr>
          <p:nvPr>
            <p:ph sz="half" idx="2"/>
          </p:nvPr>
        </p:nvSpPr>
        <p:spPr>
          <a:xfrm>
            <a:off x="1327618" y="1573967"/>
            <a:ext cx="5073182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hakkında genel bilgi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Sterilizasyonda güvenlik testleri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4"/>
          </p:nvPr>
        </p:nvSpPr>
        <p:spPr>
          <a:xfrm>
            <a:off x="6726836" y="1573967"/>
            <a:ext cx="5183188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Setlerin kodlanması ve dokümantasyonu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malzemenin hazırlanması ve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Plastik malzemenin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malzemenin depolanması ve korunması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802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14 HAFTALIK DERS KONULARI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885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kavramını tanımlar.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ve dezenfeksiyon arasındaki farkları ayırt eder.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 sporlarının özelliklerini ve klinik önemini açıklar.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düzeylerini (YDD, orta, düşük) sınıflandırır.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ve kimyasal indikatörlerin kullanım amacını açıklar.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Robert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Koch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sınıflamalarını öğrenir.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Kritik, yarı kritik ve kritik olmayan tıbbi cihazların farklarını ayırt eder.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Sterilite güvence düzeyini (SGD) kavrar.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28099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HAFTALIK ÖĞRENİM KAZANIMLARI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349460" y="1461606"/>
            <a:ext cx="3516525" cy="4770437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37398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ÖNCEKİ DERS HAKKINDA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289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6869723" y="2479964"/>
            <a:ext cx="4953000" cy="28817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35;g2ea15ffc163_0_29"/>
          <p:cNvPicPr preferRelativeResize="0"/>
          <p:nvPr/>
        </p:nvPicPr>
        <p:blipFill rotWithShape="1">
          <a:blip r:embed="rId3">
            <a:alphaModFix/>
          </a:blip>
          <a:srcRect l="26333" t="23998" r="20703" b="21593"/>
          <a:stretch/>
        </p:blipFill>
        <p:spPr>
          <a:xfrm>
            <a:off x="1593628" y="2622193"/>
            <a:ext cx="1731891" cy="177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4;g2ea15ffc163_0_29"/>
          <p:cNvSpPr txBox="1"/>
          <p:nvPr/>
        </p:nvSpPr>
        <p:spPr>
          <a:xfrm>
            <a:off x="3233735" y="2622193"/>
            <a:ext cx="58569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.00-12.50/ 1.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13.00-13.50/ 2.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14.00-14.50/ 3.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</a:t>
            </a:fld>
            <a:endParaRPr lang="tr-TR"/>
          </a:p>
        </p:txBody>
      </p:sp>
      <p:sp>
        <p:nvSpPr>
          <p:cNvPr id="10" name="Dikdörtgen 9"/>
          <p:cNvSpPr/>
          <p:nvPr/>
        </p:nvSpPr>
        <p:spPr>
          <a:xfrm>
            <a:off x="66675" y="384093"/>
            <a:ext cx="12125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17265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GÜNLÜK AKIŞ</a:t>
            </a:r>
          </a:p>
        </p:txBody>
      </p:sp>
    </p:spTree>
    <p:extLst>
      <p:ext uri="{BB962C8B-B14F-4D97-AF65-F5344CB8AC3E}">
        <p14:creationId xmlns:p14="http://schemas.microsoft.com/office/powerpoint/2010/main" val="274098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Sterilizasyon, bir malzeme ya da yüzeyde bulunan tüm mikroorganizmaların — bakteriler, virüsler, mantarlar ve özellikle dayanıklı bakteri sporları dahil olmak üzere — tamamen ortadan kaldırılması veya etkisiz hale getirilmesi işlemidir. 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işlem, yalnızca görünen kirlerin giderilmesi değil, gözle görülmeyen ve enfeksiyona yol açabilecek tüm mikroorganizmaların yok edilmesini kapsar.</a:t>
            </a:r>
          </a:p>
          <a:p>
            <a:endParaRPr lang="tr-TR" sz="2400" dirty="0"/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HAKKINDA GENEL BİLGİ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90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B21A-853D-7E96-1F9B-9B42EB52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14EAE22-915F-20BD-801E-E12A0937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072E63A-B6B6-93BF-7013-85953F53AED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Sterilizasyonun doğru şekilde uygulanması, özellikle cerrahi girişimlerde hasta güvenliğini sağlamak ve enfeksiyon riskini en aza indirmek açısından kritik öneme sahiptir. 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Hastane ortamında sterilizasyon; cerrahi aletlerden endoskoplara, kateterlerden implantlara kadar birçok malzemenin güvenle kullanılabilmesi için temel bir gerekliliktir.</a:t>
            </a: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ACCA5D8-B7F7-5CC2-6E9F-3BF41048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8B13F47-6402-A207-F965-9EBDDF8DB2EB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HAKKINDA GENEL BİLGİ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184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HAKKINDA GENEL BİLGİ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731717" y="1321596"/>
            <a:ext cx="93212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Anlık Sterilizasyon (Flash Sterilizasyon)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Anlık sterilizasyon, tıbbi cihazların özellikle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acil durumlarda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hızlıca yeniden kullanılabilmesi için uygulanan özel bir sterilizasyon yöntemidir.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 Şekli: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Kullanım sonrası cihazlar, klinik alanın hemen yanında bulunan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buhar otoklavlarında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özel ve kısa süreli programlarla sterilize edilir. Bu işlem sırasında cihazlar genellikle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paketlenmez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doğrudan otoklava yerleştirilir.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Avantajı: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Ameliyat sırasında eksik ya da kontamine olmuş bir aletin kısa sürede tekrar steril hale getirilmesini sağlar, zaman kazandırır.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Sakıncaları: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Paketleme yapılmadığı için uzun süreli sterilite sağlanamaz.</a:t>
            </a:r>
          </a:p>
          <a:p>
            <a:pPr lvl="2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Sık tekrarlandığında hasta güvenliği açısından risk oluşturabilir.</a:t>
            </a:r>
          </a:p>
          <a:p>
            <a:pPr lvl="2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Sadece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zorunlu ve acil durumlarda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kullanılmalıdır.</a:t>
            </a:r>
          </a:p>
        </p:txBody>
      </p:sp>
    </p:spTree>
    <p:extLst>
      <p:ext uri="{BB962C8B-B14F-4D97-AF65-F5344CB8AC3E}">
        <p14:creationId xmlns:p14="http://schemas.microsoft.com/office/powerpoint/2010/main" val="57673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0608-2246-8442-E36C-76468DC7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4FC4F05-EFDA-0DE5-F521-D530ED863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7EF587A-6E24-2473-0F34-C73BE503C02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1B0E3E2C-2186-EAFC-B332-6E82E2CD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10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9743A96-1C8A-D9BD-CC7B-25F1E4D7C786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HAKKINDA GENEL BİLGİ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776F67A-CBF1-0854-3235-175ABE29E136}"/>
              </a:ext>
            </a:extLst>
          </p:cNvPr>
          <p:cNvSpPr/>
          <p:nvPr/>
        </p:nvSpPr>
        <p:spPr>
          <a:xfrm>
            <a:off x="1731717" y="1321596"/>
            <a:ext cx="932128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 Sporu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Bakteri sporları, bazı bakterilerin olumsuz çevre koşullarında hayatta kalabilmek için oluşturduğu, son derece dirençli yapılardır.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bakterilere kıyasla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ısıya, kuruluğa, kimyasal maddelere ve radyasyona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çok daha dayanıklıdır.</a:t>
            </a: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Çevre koşulları uygun hale geldiğinde tekrar aktif bakteriye dönüşebilirler.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Açısından Önemi: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Sporların yok edilmesi, sterilizasyon işleminin etkinliğini gösteren en kritik göstergelerden biridir.</a:t>
            </a: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nedenle sterilizasyon testlerinde özellikle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 içeren biyolojik indikatörler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kullanılır.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Örnek: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Clostridium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difficile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veya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Bacillus</a:t>
            </a:r>
            <a:r>
              <a:rPr lang="tr-T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subtilis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gibi spor oluşturan bakteriler, sağlık hizmeti ilişkili enfeksiyonlarda ciddi tehdit oluşturabilir.</a:t>
            </a:r>
          </a:p>
        </p:txBody>
      </p:sp>
    </p:spTree>
    <p:extLst>
      <p:ext uri="{BB962C8B-B14F-4D97-AF65-F5344CB8AC3E}">
        <p14:creationId xmlns:p14="http://schemas.microsoft.com/office/powerpoint/2010/main" val="2079610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E253-3278-A4D4-4C8A-5C0CBB400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51946A4-2FC5-EC38-DDCA-B6824E38A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670B64C-C655-105B-554B-B0CA1D14D49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F9A35918-4FC9-A552-AB17-92497C67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E7C3A44-3AA5-E869-34D9-6CC9F6E16133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HAKKINDA GENEL BİLGİ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13414F6-A2CA-D1C5-22B3-92C0B29FF508}"/>
              </a:ext>
            </a:extLst>
          </p:cNvPr>
          <p:cNvSpPr/>
          <p:nvPr/>
        </p:nvSpPr>
        <p:spPr>
          <a:xfrm>
            <a:off x="1731717" y="1321596"/>
            <a:ext cx="932128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Bakterisit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Bakterisit, bakterileri öldürücü etkiye sahip maddeler veya yöntemler için kullanılan bir terimdir.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Bakterilerin hücre duvarını veya metabolik faaliyetlerini geri dönüşsüz olarak bozarak ölümlerine neden olur.</a:t>
            </a: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Sadece üremeyi durduran değil, bakteriyi tamamen ortadan kaldıran ajanlardır.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 Alanları: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Tıbbi: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Ameliyat öncesi kullanılan bazı antiseptikler veya cerrahi aletlerin sterilizasyonunda kullanılan kimyasallar.</a:t>
            </a:r>
          </a:p>
          <a:p>
            <a:pPr lvl="1"/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Laboratuvar: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Mikrobiyolojik çalışmalarda kontaminasyonu önlemek için.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Örnek: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Alkol (%70 etanol), hipoklorit (çamaşır suyu), fenolik bileşikler gibi dezenfektanlar bakterisit etki gösterir.</a:t>
            </a:r>
          </a:p>
        </p:txBody>
      </p:sp>
    </p:spTree>
    <p:extLst>
      <p:ext uri="{BB962C8B-B14F-4D97-AF65-F5344CB8AC3E}">
        <p14:creationId xmlns:p14="http://schemas.microsoft.com/office/powerpoint/2010/main" val="272427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63D3-E349-05CB-3B31-34769492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E900983-20CA-0EED-373D-45D70F10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4FA8F8F-6DF6-438B-9674-72D12CCA764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B70A3FD-A53C-D288-9180-44E94E67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2495D21-32BF-C4EB-C598-8FEAD2DF9633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HAKKINDA GENEL BİLGİ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485126E7-3012-AE4D-1ED9-184902A9625D}"/>
              </a:ext>
            </a:extLst>
          </p:cNvPr>
          <p:cNvSpPr/>
          <p:nvPr/>
        </p:nvSpPr>
        <p:spPr>
          <a:xfrm>
            <a:off x="1731717" y="1321596"/>
            <a:ext cx="932128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İndikatör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Biyolojik indikatör, sterilizasyon işleminin gerçekten mikroorganizmaları öldürüp öldürmediğini göstermek için kullanılan test materyalidir. Bu materyaller, uygulanan sterilizasyon yöntemine en dirençli bakteri sporlarını içerir.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Sterilizasyonun etkinliğini değerlendirmede </a:t>
            </a:r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altın standart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kabul edilir.</a:t>
            </a: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Kullanılan sporlar, normal sterilizasyon koşullarına karşı oldukça dayanıklı olduğu için işlem gerçekten başarılıysa onların da yok olması gerekir.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cihazı çalıştırıldığında biyolojik indikatör de işlem içine konur.</a:t>
            </a: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İşlem sonrası indikatör kültüre alınır; üreme olmuyorsa sterilizasyon başarılıdır.</a:t>
            </a: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Hastanelerde enfeksiyon kontrolünde güvence sağlar.</a:t>
            </a:r>
          </a:p>
          <a:p>
            <a:pPr lvl="1"/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aletlerin güvenle kullanılabilir olduğunun en güvenilir kanıtıdır.</a:t>
            </a:r>
          </a:p>
        </p:txBody>
      </p:sp>
    </p:spTree>
    <p:extLst>
      <p:ext uri="{BB962C8B-B14F-4D97-AF65-F5344CB8AC3E}">
        <p14:creationId xmlns:p14="http://schemas.microsoft.com/office/powerpoint/2010/main" val="876473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9FDAA-8D47-D6DB-C25E-A4AF6FAC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0933B21-6FA9-120F-C930-96952DE6B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CD5E388-5B67-2090-F99F-D5957E7985B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endParaRPr lang="tr-TR" sz="2400" b="1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Sterilizasyon, tıbbi malzeme veya alet üzerinde bulunan bakteri, virüs, mantar ve özellikle ısıya ve kimyasallara direnç gösteren bakteri sporları dahil tüm mikroorganizmaların tamamen ortadan kaldırılması ya da etkisiz hale getirilmesi sürecidir. </a:t>
            </a:r>
          </a:p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işlem yalnızca gözle görülen kirleri değil, çıplak gözle fark edilemeyen mikroskobik canlıları da hedef alır. </a:t>
            </a:r>
          </a:p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Sterilizasyonun doğru uygulanması, ameliyatlar sırasında hastanın vücuduna mikroorganizma girişini engelleyerek ciddi enfeksiyonların önüne geçer. </a:t>
            </a:r>
          </a:p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prstClr val="black"/>
              </a:buClr>
              <a:buSzPts val="2400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Böylece cerrahi girişimlerin güvenliği artar, hastanın iyileşme süresi kısalır ve sağlık hizmetlerinde kalite standartları korunmuş olur.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50F118D0-AACD-9194-E213-171C5A29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13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0474ACE-92F7-A821-A18A-194FA566214B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HAKKINDA GENEL BİLGİ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1274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2087418" y="1798573"/>
            <a:ext cx="92663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Yük (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Bioburden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Bir malzeme ya da yüzey üzerinde bulunan canlı mikroorganizmaların (bakteri, virüs, mantar, spor vb.) miktarını ifade eder.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öncesi başlangıç noktasıdır.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yük arttıkça sterilizasyonun başarısı azalabilir.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Örnek: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Yetersiz temizlenmiş cerrahi aletlerde yüksek biyolojik yük enfeksiyon riskini artırır.</a:t>
            </a:r>
          </a:p>
        </p:txBody>
      </p:sp>
    </p:spTree>
    <p:extLst>
      <p:ext uri="{BB962C8B-B14F-4D97-AF65-F5344CB8AC3E}">
        <p14:creationId xmlns:p14="http://schemas.microsoft.com/office/powerpoint/2010/main" val="1299772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EAA1-A742-F121-D74C-7720D89E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25C3EA2-0DAA-0C06-9225-9C9F11047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44EFAC6-6A67-940C-B411-9BD214B1CC2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9A945236-721D-AF9C-19BF-4633D36F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15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A1B8AA7-D0D5-4181-6535-C42A0D124D7C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0583DAA-43A7-4B61-B116-6449E47AD18F}"/>
              </a:ext>
            </a:extLst>
          </p:cNvPr>
          <p:cNvSpPr txBox="1"/>
          <p:nvPr/>
        </p:nvSpPr>
        <p:spPr>
          <a:xfrm>
            <a:off x="1922939" y="1513429"/>
            <a:ext cx="92663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Amblemi (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Conformité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Européenne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Avrupa Birliği standartlarına uygunluğu gösteren uluslararası işarettir.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 Yönetmeliği (MDD):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Cihazın güvenlik, kalite ve performans açısından belirlenmiş kriterleri karşıladığını gösterir.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Hasta güvenliği açısından güvence sağlar.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cihazların uluslararası pazarda kullanılmasına izin verir.</a:t>
            </a:r>
          </a:p>
        </p:txBody>
      </p:sp>
    </p:spTree>
    <p:extLst>
      <p:ext uri="{BB962C8B-B14F-4D97-AF65-F5344CB8AC3E}">
        <p14:creationId xmlns:p14="http://schemas.microsoft.com/office/powerpoint/2010/main" val="3323863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5210-E5C4-5DF7-E573-E90FA7EC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A6E7337-DB85-A0DA-E50F-ABEA66199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9BBE0A8-FED7-93C4-D883-133FB254F17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F1780A67-2D36-0578-78A3-CBEF4A23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16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4C37785-7562-ADC8-631C-80D0D6452179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0B7536F-AC37-BECD-C76C-B14E09CAA42E}"/>
              </a:ext>
            </a:extLst>
          </p:cNvPr>
          <p:cNvSpPr txBox="1"/>
          <p:nvPr/>
        </p:nvSpPr>
        <p:spPr>
          <a:xfrm>
            <a:off x="1922939" y="1513429"/>
            <a:ext cx="92663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Dekontaminasyon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Malzeme veya yüzeylerin kontaminasyona yol açan kirleticilerden arındırılarak yeniden kullanıma uygun hale getirilmesidir.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Aşamalar: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Mekanik temizlik (su + deterjan)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işlemleri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Örnek: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Ameliyat sonrası kullanılan cerrahi aletlerin, sterilizasyondan önce mutlaka dekontaminasyondan geçirilmesi gerekir.</a:t>
            </a:r>
          </a:p>
        </p:txBody>
      </p:sp>
    </p:spTree>
    <p:extLst>
      <p:ext uri="{BB962C8B-B14F-4D97-AF65-F5344CB8AC3E}">
        <p14:creationId xmlns:p14="http://schemas.microsoft.com/office/powerpoint/2010/main" val="2987476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17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1487606" y="965756"/>
            <a:ext cx="9374358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Dezenfeksiyon, bir nesne ya da ortamda bulunan mikroorganizmaların sayısını enfeksiyon kaynağı oluşturmayacak düzeye indirme işlemidir. Bu yöntem tüm mikroorganizmaları ortadan kaldırmaz; esas olarak enfeksiyon riski taşıyan patojenleri hedefler.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Sporlara Etkisi: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Çoğu dezenfektan bakteri sporlarını ve bazı dirençli mikroorganizmaları (örneğin mikobakteriler) tam olarak yok edemez. Bu nedenle sterilizasyonla karıştırılmamalıdır.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Düzeylerine Göre Sınıflandırma: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Yüksek düzey dezenfeksiyon (YDD):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Tüm mikroorganizmaları ortadan kaldırır; sadece bazı bakteri sporlarına etkisizdir. (Örnek: Glutaraldehit,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orto-fitalaldehit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 düzey dezenfeksiyon: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Çoğu bakteri, mantar ve virüsü öldürür, fakat sporları etkisiz hale getiremez.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Düşük düzey dezenfeksiyon: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Sadece vejetatif bakteriler ve bazı zarflı virüsler üzerinde etkilidir. (Örnek: Kuaterner amonyum bileşikleri).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Kritik olmayan malzemeler (örnek: tansiyon aleti manşonu, yatak başlığı) genellikle dezenfeksiyon ile güvenli hale getirilebilir.</a:t>
            </a:r>
          </a:p>
        </p:txBody>
      </p:sp>
    </p:spTree>
    <p:extLst>
      <p:ext uri="{BB962C8B-B14F-4D97-AF65-F5344CB8AC3E}">
        <p14:creationId xmlns:p14="http://schemas.microsoft.com/office/powerpoint/2010/main" val="4283866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452D-2C6B-8658-7ED8-610776CF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26547FC-F2EB-24E7-534C-E59D9FA44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9FD6674-678B-5B60-66AC-082F019DFDD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0E5CE03-F45B-AAB3-64D7-89E2D847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18</a:t>
            </a:fld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01D92ABA-77C2-BFB5-AF82-3296F2AB9203}"/>
              </a:ext>
            </a:extLst>
          </p:cNvPr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7843388-78CF-5ACE-C276-E860FCD486FF}"/>
              </a:ext>
            </a:extLst>
          </p:cNvPr>
          <p:cNvSpPr txBox="1"/>
          <p:nvPr/>
        </p:nvSpPr>
        <p:spPr>
          <a:xfrm>
            <a:off x="1487606" y="965756"/>
            <a:ext cx="93743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Düzeylerine Göre Sınıflandırma: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Yüksek düzey dezenfeksiyon (YDD):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Tüm mikroorganizmaları ortadan kaldırır; sadece bazı bakteri sporlarına etkisizdir. (Örnek: Glutaraldehit,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orto-fitalaldehit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 düzey dezenfeksiyon: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Çoğu bakteri, mantar ve virüsü öldürür, fakat sporları etkisiz hale getiremez.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Düşük düzey dezenfeksiyon: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Sadece vejetatif bakteriler ve bazı zarflı virüsler üzerinde etkilidir. (Örnek: Kuaterner amonyum bileşikleri).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Kritik olmayan malzemeler (örnek: tansiyon aleti manşonu, yatak başlığı) genellikle dezenfeksiyon ile güvenli hale getirilebilir.</a:t>
            </a:r>
          </a:p>
        </p:txBody>
      </p:sp>
    </p:spTree>
    <p:extLst>
      <p:ext uri="{BB962C8B-B14F-4D97-AF65-F5344CB8AC3E}">
        <p14:creationId xmlns:p14="http://schemas.microsoft.com/office/powerpoint/2010/main" val="395487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A10B-F9B8-DE0F-F9F8-51CC2EF8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EDC23AD-4E1D-B831-499C-3B43C3A10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472705C-1D45-95C0-2265-65CCC537A5D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6AC6E23-4F8B-8E0D-4A15-075D0F3C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19</a:t>
            </a:fld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584F297C-EA04-C378-2D58-008FFCCB7168}"/>
              </a:ext>
            </a:extLst>
          </p:cNvPr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EC45FD1-C9BC-DFCD-FB3B-CCF0717298AD}"/>
              </a:ext>
            </a:extLst>
          </p:cNvPr>
          <p:cNvSpPr txBox="1"/>
          <p:nvPr/>
        </p:nvSpPr>
        <p:spPr>
          <a:xfrm>
            <a:off x="1569493" y="965756"/>
            <a:ext cx="9292471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Elektronik Test Sistemleri (ETS)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Elektronik Test Sistemleri, buhar sterilizatörlerinin performansını sürekli olarak izleyen, olası arızaları tespit eden ve sterilizasyon sürecinin güvenilirliğini belgeleyen gelişmiş kontrol mekanizmalarıdır.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İzlenen Parametreler: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Sterilizasyonun hedef sıcaklığa ulaşıp ulaşmadığını gösterir.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Basınç: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Buhar basıncının sterilizasyon için gerekli seviyelerde olup olmadığını denetler.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Vakum kaçağı: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Sterilizatörün hava sızdırmazlığını kontrol eder.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 kalıntısı: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Cihaz içinde sterilizasyonu engelleyebilecek hava kalıp kalmadığını belirler.</a:t>
            </a: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Yoğunlaşmamış gaz varlığı ve buhar doygunluğu: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Buharın sterilizasyon için yeterli saflık ve nem seviyesinde olup olmadığını kontrol eder.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Ölçüm sonuçlarını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dijital olarak kaydeder ve bilgisayar ortamına aktarır.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İnsan hatasını en aza indirerek sterilizasyonun sürekli güvence altında olmasını sağlar.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Ameliyathanelerde ve yoğun kullanılan cerrahi alanlarda, sterilizasyon cihazlarının düzenli ve güvenli çalıştığını kanıtlamak için tercih edilir.</a:t>
            </a:r>
          </a:p>
        </p:txBody>
      </p:sp>
    </p:spTree>
    <p:extLst>
      <p:ext uri="{BB962C8B-B14F-4D97-AF65-F5344CB8AC3E}">
        <p14:creationId xmlns:p14="http://schemas.microsoft.com/office/powerpoint/2010/main" val="3158929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BB2AF-0193-1F42-D123-0F23AEAB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2AF0796-8205-E4D3-8798-98CCF70D9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EE6E408-ADD7-0896-DAA7-6295EC4C797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7881F970-D074-AD37-9770-17A5500D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20</a:t>
            </a:fld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C14AADC-7030-FA26-8078-097B4DE1BB7E}"/>
              </a:ext>
            </a:extLst>
          </p:cNvPr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255240E-4280-83D8-C4D5-AC5A50942AEE}"/>
              </a:ext>
            </a:extLst>
          </p:cNvPr>
          <p:cNvSpPr txBox="1"/>
          <p:nvPr/>
        </p:nvSpPr>
        <p:spPr>
          <a:xfrm>
            <a:off x="1461487" y="1651298"/>
            <a:ext cx="92924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Ölçüm sonuçlarını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dijital olarak kaydeder ve bilgisayar ortamına aktarır.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İnsan hatasını en aza indirerek sterilizasyonun sürekli güvence altında olmasını sağlar.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Ameliyathanelerde ve yoğun kullanılan cerrahi alanlarda, sterilizasyon cihazlarının düzenli ve güvenli çalıştığını kanıtlamak için tercih edilir.</a:t>
            </a:r>
          </a:p>
        </p:txBody>
      </p:sp>
    </p:spTree>
    <p:extLst>
      <p:ext uri="{BB962C8B-B14F-4D97-AF65-F5344CB8AC3E}">
        <p14:creationId xmlns:p14="http://schemas.microsoft.com/office/powerpoint/2010/main" val="279438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Kimyasal İndikatör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Kimyasal indikatörler, sterilizasyon koşulları sağlandığında renk değişikliği gösteren ve böylece sterilizasyon işleminin gerçekleşip gerçekleşmediğini görsel olarak kontrol etmeye yarayan test materyalleridir. Genellikle kağıt şeritler, bantlar veya özel etiketler şeklinde kullanılır.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Çalışma Prensibi: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İçerdikleri kimyasal maddeler, belirli bir sıcaklık, basınç ya da süreye ulaşıldığında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renk değiştirir.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değişim, sterilizasyonun temel parametrelerinin sağlandığını gösterir.</a:t>
            </a:r>
          </a:p>
          <a:p>
            <a:pPr marL="0" indent="0">
              <a:buNone/>
            </a:pP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8655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040A-AA38-29F5-7C90-1226E480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0AA5388-7DEF-505E-B753-97652B7B3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421FD20-A178-0464-7AC3-239622E724B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Kullanımı pratik ve hızlıdır.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Çıplak gözle kontrol edilebilir.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indikatörlere göre daha ucuz ve kolay uygulanabilir, fakat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mikroorganizmaların öldüğünü kesin olarak göstermez.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Sterilizasyonun günlük ve rutin kontrolünde yaygın olarak kullanılır.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Örneğin ameliyathanelerde set paketlerinin dışına yapıştırılan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bantları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bilinen kimyasal indikatör örneğidir.</a:t>
            </a:r>
          </a:p>
          <a:p>
            <a:pPr marL="0" indent="0">
              <a:buNone/>
            </a:pP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00D4E614-904B-61C6-C708-ED3A8642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A7EDBE3-D77A-A376-8A8B-297DCF373578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8864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45F4-8852-D423-1CEC-14FF926F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9682949-B668-73DE-64EA-EC2D5CCD9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8766DA6-C5E8-8BE7-EA30-3AE72E6B33C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Autofit/>
          </a:bodyPr>
          <a:lstStyle/>
          <a:p>
            <a:r>
              <a:rPr lang="tr-T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</a:t>
            </a:r>
            <a:endParaRPr lang="tr-T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nükleik asit (DNA veya RNA) içermeyen, yalnızca anormal katlanmış proteinlerden oluşan enfeksiyöz partiküllerdir.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Bakteri, virüs veya mantarlardan farklıdır; genetik materyalleri bulunmaz.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Yapılarındaki anormal proteinler, normal proteinleri de yanlış katlanmaya zorlayarak çoğalırlar.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derece dirençlidirler; standart sterilizasyon ve dezenfeksiyon yöntemleri (buhar, kuru ısı, birçok kimyasal)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prionları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etkisiz hale getirmekte yetersizdir.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B2C8DDC-2AA3-6474-F1AE-05E90ACF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23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A22F948-4437-5B35-5575-ECE699FEA62B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9596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65BA6-AB5D-1DB5-AE44-6E526990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A6D4FA0-D92C-4656-0C66-5FC9D7879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70890BF-3304-9331-EA00-059C0A57382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Prionlar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Creutzfeldt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-Jakob hastalığı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kuru hastalığı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sığır süngerimsi ensefalopatisi (deli dana hastalığı)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gibi ölümcül nörodejeneratif hastalıklardan sorumludur.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Sağlık hizmetlerinde özellikle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beyin ve sinir dokusu ile temas eden cerrahi aletlerin sterilizasyonunda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büyük risk oluşturur.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Prionlara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karşı daha güçlü kimyasal ajanlar (ör. sodyum hidroksit) veya yüksek sıcaklık ve basınç kombinasyonları önerilir.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sterilizasyon protokollerinin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kontaminasyonunu elimine edemeyeceği için özel prosedürler geliştirilmiştir.</a:t>
            </a:r>
          </a:p>
          <a:p>
            <a:pPr marL="0" indent="0">
              <a:buNone/>
            </a:pPr>
            <a:endParaRPr lang="tr-T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95617A24-5122-DFD5-249E-5611DC7C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24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DBD533B-1C3D-BA39-1721-638E390A333E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1866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3FB9-C5D9-15C0-163B-EF80EC48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A321383-D386-3235-7B86-E504A8925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A45A845-C3A4-58F3-D8BD-7E17B900CF1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Sterilite Güvence Düzeyi (SGD)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Sterilite Güvence Düzeyi (SGD), bir malzemenin steril kabul edilebilmesi için üzerinde canlı mikroorganizma kalma olasılığının ne kadar düşük olduğunu ifade eden ölçüttür.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Standart: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Teorik olarak, steril kabul edilen bir malzemede canlı mikroorganizma bulunma olasılığı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10⁻⁶ veya daha düşük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olmalıdır. Bu, bir milyon üründen yalnızca birinde canlı mikroorganizma bulunabileceği anlamına gelir.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5A94E139-F852-A96E-4032-F7972AB0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25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489EAC4-00E1-5B6E-14AB-9D5C0B2F0F16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545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ED6B-9FA0-6FFD-55B6-2D9CE1B18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132F550-6488-A3C1-18F9-1F556E57E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C3634A8-314E-A17A-0696-415596E7E88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Sağlık hizmetlerinde güvenli kullanım için uluslararası kabul görmüş bir kriterdir.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 cerrahi aletler, implantlar ve kritik tıbbi cihazlar için temel güvenlik göstergesidir.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Örnek: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Kardiyak kateter veya ortopedik implant gibi cihazların sterilite güvence düzeyi sağlanmadığında, ciddi enfeksiyon ve komplikasyon riski ortaya çıkar.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Kontrol: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ve kimyasal indikatörlerle desteklenen validasyon süreçleri sayesinde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SGD’nin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sağlandığı belgelenir.</a:t>
            </a: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FD038703-41BA-963F-37EB-C7378232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26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9A7F060-FD93-145B-1F18-1CCC803996CC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4095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8F70-C26E-6B2C-0A0E-519F08AC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892CA483-7FAD-2599-AB15-85BCC8AB9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0D36DD3-C571-4B93-383B-E80DE3A3F12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E7CF39F7-0B9F-1252-AC56-63A398DE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27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B3795DC-844D-330A-ADAF-D1940A889023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A989336-46AD-5521-8DB0-D4373209A029}"/>
              </a:ext>
            </a:extLst>
          </p:cNvPr>
          <p:cNvSpPr txBox="1"/>
          <p:nvPr/>
        </p:nvSpPr>
        <p:spPr>
          <a:xfrm>
            <a:off x="1377286" y="1180490"/>
            <a:ext cx="99765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Temizlik, kir, organik madde ve mikroorganizmaların bir kısmının malzeme veya yüzeylerden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su, deterjan veya uygun temizlik ajanları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kullanılarak mekanik yollarla uzaklaştırılması işlemidir.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ve dezenfeksiyondan farklıdır; mikroorganizmaları mutlaka öldürmez ama sayılarını azaltır.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ve dezenfeksiyonun etkili olabilmesi için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 koşuldur.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Gözle görünür kirlerin ve organik artıkların (kan, doku parçaları, vücut sıvıları) temizlenmesi enfeksiyon riskini azaltır.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215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567873" y="1529580"/>
            <a:ext cx="99765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aletler, endoskoplar veya solunum cihazları gibi tıbbi ekipmanlar önce mutlaka temizlikten geçirilir.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 yapılmadan doğrudan sterilizasyon uygulandığında, mikroorganizmalar organik artıkların içinde korunarak sterilizasyon işleminden etkilenmeyebilir.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Yöntemler: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temizlik (fırçalama, yıkama)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Ultrasonik yıkayıcı cihazlar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Mekanik yıkama makineleri</a:t>
            </a:r>
          </a:p>
        </p:txBody>
      </p:sp>
    </p:spTree>
    <p:extLst>
      <p:ext uri="{BB962C8B-B14F-4D97-AF65-F5344CB8AC3E}">
        <p14:creationId xmlns:p14="http://schemas.microsoft.com/office/powerpoint/2010/main" val="3749188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0974-610F-5193-105B-AA9761F1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1DA3AE4-2427-87C5-96E9-0253F86F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7F569BB-95B8-22C7-340B-A86C27C1652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169A77FF-FEE9-9E71-4D22-092FF84C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E2473EE-0AF0-9159-C51A-173E36EEEB21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2EEC8E1-2B7B-86CB-7833-1908BA8C9D96}"/>
              </a:ext>
            </a:extLst>
          </p:cNvPr>
          <p:cNvSpPr txBox="1"/>
          <p:nvPr/>
        </p:nvSpPr>
        <p:spPr>
          <a:xfrm>
            <a:off x="1651380" y="1898912"/>
            <a:ext cx="95481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Validasyon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Validasyon, bir işlem, yöntem, sistem ya da sürecin; önceden belirlenmiş koşulları sürekli olarak sağladığının kanıtlanmasıdır.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 seferlik bir kontrol değil, sürecin her uygulamada güvenilir şekilde aynı sonucu verdiğini gösterir.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Sağlık hizmetlerinde özellikle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sterilizasyon, dezenfeksiyon ve ilaç üretimi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gibi kritik alanlarda uygulanır.</a:t>
            </a:r>
          </a:p>
        </p:txBody>
      </p:sp>
    </p:spTree>
    <p:extLst>
      <p:ext uri="{BB962C8B-B14F-4D97-AF65-F5344CB8AC3E}">
        <p14:creationId xmlns:p14="http://schemas.microsoft.com/office/powerpoint/2010/main" val="1195738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E6E9-4E35-453F-7500-B993DE849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EF632B2-8AAA-C34F-F145-FBD25A43F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1F001D1-2A38-7A2C-75FA-1B1B9195D01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B2B83A78-E53C-F2D8-F1C0-75DCE145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30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81A6C74-08F6-7D36-A1F3-9155D492806F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36DAABA-4E7A-3B76-D90F-111548B07E05}"/>
              </a:ext>
            </a:extLst>
          </p:cNvPr>
          <p:cNvSpPr txBox="1"/>
          <p:nvPr/>
        </p:nvSpPr>
        <p:spPr>
          <a:xfrm>
            <a:off x="1487607" y="965756"/>
            <a:ext cx="9548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Bağlamında: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Kullanılan sterilizatörün (örneğin otoklav) belirli sıcaklık, basınç ve süre şartlarını her seferinde aynı güvenilirlikte sağladığını doğrular.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ve kimyasal indikatörler, test paketleri ve kayıt sistemleri ile desteklenir.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Hasta güvenliği açısından zorunlu bir kalite kontrol basamağıdır.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Validasyonu yapılmamış bir sterilizatör, görünüşte çalışsa bile gerçekte mikroorganizmaları yok etmeyebilir.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Örnek: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Ameliyathanelerde kullanılan otoklavların düzenli aralıklarla validasyon testinden geçirilmesi gerekir.</a:t>
            </a:r>
          </a:p>
        </p:txBody>
      </p:sp>
    </p:spTree>
    <p:extLst>
      <p:ext uri="{BB962C8B-B14F-4D97-AF65-F5344CB8AC3E}">
        <p14:creationId xmlns:p14="http://schemas.microsoft.com/office/powerpoint/2010/main" val="536708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701A-26EC-B052-1C9A-3875F306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24748B8-A44B-6E23-C578-959D4A4B9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5650EE6-371D-930A-6F4E-5C834A5D07A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A21305D-B190-F779-63E5-F97D4484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6279D80-6B00-4CBE-F898-F250D4DD6530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569F1DC7-8A1C-CB3C-16B7-F27E7EEBB769}"/>
              </a:ext>
            </a:extLst>
          </p:cNvPr>
          <p:cNvSpPr txBox="1"/>
          <p:nvPr/>
        </p:nvSpPr>
        <p:spPr>
          <a:xfrm>
            <a:off x="1590735" y="1038483"/>
            <a:ext cx="99307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Zorlaştırıcı Test Paketi (</a:t>
            </a:r>
            <a:r>
              <a:rPr lang="tr-T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 Device – PCD)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Zorlaştırıcı test paketi (PCD), sterilizatörlerde yapılan işlemin gerçekten etkili olup olmadığını sınamak amacıyla kullanılan özel bir test sistemidir. Bu sistem, sterilizasyon işlemine karşı ekstra direnç oluşturacak şekilde tasarlanmıştır.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Özellikleri: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Sterilizatörün en zor ulaşabileceği noktalarda bile sterilizasyonun etkinliğini test eder.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Genellikle biyolojik veya kimyasal indikatörlerle birlikte kullanılır.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Standart sterilizasyon koşullarında bile zorlayıcı bir ortam yaratarak cihazın güvenilirliğini değerlendirir.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260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0E8-94B5-1DF0-E851-74B2EC82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C545D12-8847-0C43-91FA-94A11E2C1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7E13FCD-4CCA-EBDC-26BD-1A51E55219C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50AD2B73-073D-6A8D-B7E7-81C5860D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F529943-8DC4-D27B-E347-57EF25E1F77B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093195D-D4CF-EC5F-C7BC-C108C35F338E}"/>
              </a:ext>
            </a:extLst>
          </p:cNvPr>
          <p:cNvSpPr txBox="1"/>
          <p:nvPr/>
        </p:nvSpPr>
        <p:spPr>
          <a:xfrm>
            <a:off x="1590735" y="1038483"/>
            <a:ext cx="99307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 karmaşık yapıya sahip cerrahi setlerde ve içi boşluklu malzemelerde (örnek: endoskop, laparoskopi aletleri) sterilizasyonun etkili olup olmadığını anlamak için kritik öneme sahiptir.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cihazına PCD yerleştirilir ve işlem tamamlandıktan sonra test materyali incelenir.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Eğer indikatör başarıyla sonuç verirse, cihazın zor koşullarda dahi etkin çalıştığı doğrulanır.</a:t>
            </a:r>
          </a:p>
        </p:txBody>
      </p:sp>
    </p:spTree>
    <p:extLst>
      <p:ext uri="{BB962C8B-B14F-4D97-AF65-F5344CB8AC3E}">
        <p14:creationId xmlns:p14="http://schemas.microsoft.com/office/powerpoint/2010/main" val="3934354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Amaç: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Cihazların temas ettiği vücut bölgesine ve enfeksiyon riski düzeyine göre uygun sterilizasyon/dezenfeksiyon yöntemini belirlemek.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Kategoriler: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cihazlar: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Steril dokulara veya damar sistemine girenler (cerrahi aletler, implantlar, kardiyak kateterler). → Mutlaka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sterilize edilmelidir.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Yarı kritik cihazlar: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Mukozalar veya bütünlüğü bozulmuş deri ile temas edenler (endoskop, laringoskop bıçakları, solunum cihazları). →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tercih edilir, mümkün değilse YDD uygulanır.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olmayan cihazlar: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Sadece sağlam ciltle temas edenler (stetoskop, tansiyon aleti manşonu, yatak kenarı). →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 veya düşük düzey dezenfeksiyon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yeterlidir.</a:t>
            </a: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4740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C79A-CB8A-AED5-1B39-9606FAE9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8937F6D-F97A-A334-BC45-580554F8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34B2398-EE62-8DAF-0CE9-D4F005A5D0B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Sınıflamasının Klinik Önemi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cihazlar: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Sterilite sağlanmadığında → ciddi cerrahi alan enfeksiyonları ve sepsis riski.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Yarı kritik cihazlar: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Uygun sterilizasyon yapılmazsa → solunum yolu veya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gastrointestinal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enfeksiyon riski.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olmayan cihazlar: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Yüzey dezenfeksiyonu ile kontrol sağlanabilir, fakat vücut sıvıları ile kontamine olduğunda mutlaka dezenfekte edilmelidir.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Sonuç: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 enfeksiyon kontrolünde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uluslararası standarttır.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C6A80E46-6809-0B3A-3506-35E8919B1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34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2EB36BD-9FC8-3B3E-418E-53BFEC2D00F2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3812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3D54B-7239-DD45-5336-3026DAD2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C1F6659-27B6-D5B1-74D7-D73296285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0A466DD-BE0B-90DE-8E42-0368A6FCA98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</a:t>
            </a:r>
            <a:r>
              <a:rPr lang="tr-T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Koch</a:t>
            </a:r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Enstitüsü Sınıflaması</a:t>
            </a:r>
          </a:p>
          <a:p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sistemine ek olarak: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Cihazları sadece enfeksiyon riskine göre değil,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yapısal özelliklerine göre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değerlendirir.</a:t>
            </a:r>
          </a:p>
          <a:p>
            <a:pPr lvl="1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Örneğin içi boşluklu, çok parçalı veya gözenekli yapıya sahip cihazlar için daha ayrıntılı kurallar belirlenmiştir.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Avantajı: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Daha ayrıntılı ve güvenli bir sınıflandırma sunar.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Katkısı: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Özellikle endoskopi, laparoskopi ve kompleks cerrahi setlerde sterilizasyonun etkinliğini artırır.</a:t>
            </a: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39D6E45-0884-764C-60D8-BE52B5C4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35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28BD718-C767-3B30-FDF6-9AE598C8F138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3407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574" y="972358"/>
            <a:ext cx="8587042" cy="55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97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2142836" y="1644073"/>
            <a:ext cx="83496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Tıbbi Cihazların Tanımı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cihazlar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steril dokulara, steril vücut boşluklarına veya vasküler sisteme doğrudan giren tıbbi cihazlardır.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Örnekler: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aletler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Kardiyak kateterler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İdrar sondaları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Rijit endoskop ekipmanları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İmplantlar (ortopedik, kardiyak vb.)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cihazların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mutlaka steril edilerek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kullanılması gerekir.</a:t>
            </a:r>
          </a:p>
        </p:txBody>
      </p:sp>
    </p:spTree>
    <p:extLst>
      <p:ext uri="{BB962C8B-B14F-4D97-AF65-F5344CB8AC3E}">
        <p14:creationId xmlns:p14="http://schemas.microsoft.com/office/powerpoint/2010/main" val="121466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4232-3763-F863-2D55-09936369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AEA842E-EFE2-3FE1-9510-0CA7F8666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84CEEF1-EA04-DFD2-60B0-3FED6C59F28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86B572A-6696-6525-B865-BFD7D490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71367DE-CC46-780D-8E48-B9A790CDA99D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5289231-2057-0F1F-5813-8B2488C4D14D}"/>
              </a:ext>
            </a:extLst>
          </p:cNvPr>
          <p:cNvSpPr txBox="1"/>
          <p:nvPr/>
        </p:nvSpPr>
        <p:spPr>
          <a:xfrm>
            <a:off x="1555982" y="1246798"/>
            <a:ext cx="96798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Cihazların Klinik Önemi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cihazlar doğrudan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alanlara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temas ettiği için kontaminasyon riski çok yüksektir.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Uygun sterilizasyon yapılmazsa: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alan enfeksiyonları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Sepsis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Mortalite ve morbiditede artış</a:t>
            </a:r>
          </a:p>
          <a:p>
            <a:pPr lvl="1"/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nedenle sterilizasyon, enfeksiyon kontrolünde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olmazsa olmazdır.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1366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0228-DD10-81F4-9B4A-8BDB6C6CF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A3A72CE-CB4F-73CB-F47B-DD223987B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2BA199C-1C3B-C094-2ED0-4A9BE452658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180ED3B-AFB1-D02E-4487-8A7E8895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95B2B6F-62CD-81AA-E4F6-D33D840E3E31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8B743BD-BDA8-6848-3E92-58B8E595EAB4}"/>
              </a:ext>
            </a:extLst>
          </p:cNvPr>
          <p:cNvSpPr txBox="1"/>
          <p:nvPr/>
        </p:nvSpPr>
        <p:spPr>
          <a:xfrm>
            <a:off x="1922373" y="1928297"/>
            <a:ext cx="89800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 ve Bilimsel Bulgular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sınıflamasına göre kritik cihazlar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gerektirir.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Ancak bazı kliniklerde kritik cihazların sadece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dezenfekte edilerek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kullanıldığı gözlenmiştir.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Araştırmalar göstermiştir ki: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Artroskop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laparoskop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gibi cihazların sadece dezenfekte edilmesi →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enfeksiyon riskini artırmaktadır.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858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4FD9-3B3D-2E1F-3348-B0CD7DD25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F159A6A-C770-3995-4791-5E307C607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52025FA-A63A-20F0-0498-C20A9126D87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1FFDC2A-9A9B-544E-4C76-69C90BF3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40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68B05DC-AE2A-3DEA-0DAF-1E52622CDC4A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84B6157-CBCA-4C2D-83CE-A59B35CD25E5}"/>
              </a:ext>
            </a:extLst>
          </p:cNvPr>
          <p:cNvSpPr txBox="1"/>
          <p:nvPr/>
        </p:nvSpPr>
        <p:spPr>
          <a:xfrm>
            <a:off x="1902312" y="1658278"/>
            <a:ext cx="93076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Uygulama Örnekleri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cihazların her zaman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edilmesi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gerekir.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Özellikle:</a:t>
            </a:r>
          </a:p>
          <a:p>
            <a:pPr lvl="1"/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Artroskoplar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Laparoskoplar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Biyopsi forsepsleri</a:t>
            </a:r>
          </a:p>
          <a:p>
            <a:pPr lvl="1"/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cihazların dezenfekte edilerek kullanılmasının yerine, sterilizasyon koşullarının sağlanması enfeksiyon kontrolü açısından hayati önemdedir.</a:t>
            </a:r>
          </a:p>
        </p:txBody>
      </p:sp>
    </p:spTree>
    <p:extLst>
      <p:ext uri="{BB962C8B-B14F-4D97-AF65-F5344CB8AC3E}">
        <p14:creationId xmlns:p14="http://schemas.microsoft.com/office/powerpoint/2010/main" val="1046943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842448" y="1597891"/>
            <a:ext cx="90600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Yarı Kritik Tıbbi Cihazların Tanımı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Mukozalar veya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bütünlüğü bozulmuş deri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ile temas eden cihazlardır.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Örnekler: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Endoskoplar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Laringoskop bıçakları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Anestezi ve solunum cihazı parçaları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Vajinal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spekulumlar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cihazların tercihen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edilmesi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gerekir; sterilizasyon mümkün değilse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yüksek düzey dezenfeksiyon (YDD)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uygulanır.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6309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64B5-CA27-D277-50F8-6FAD8684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8C679102-4D65-D424-D003-F5382DFC6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18667ED-5916-38EB-132C-384166550C4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FF8C640C-3256-0467-67A0-F45B45D3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5ACB7A2-E692-2F82-0D4E-52A9DE43AB7F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2D2846A-B27A-DE46-B33C-D045FE5FF4F0}"/>
              </a:ext>
            </a:extLst>
          </p:cNvPr>
          <p:cNvSpPr txBox="1"/>
          <p:nvPr/>
        </p:nvSpPr>
        <p:spPr>
          <a:xfrm>
            <a:off x="1760562" y="1246798"/>
            <a:ext cx="88520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Mukozalar mikroorganizmalara karşı daha hassastır; bu nedenle kontamine cihazlarla enfeksiyon riski artar.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Uygun işlem yapılmazsa: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Solunum yolu enfeksiyonları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Gastrointestinal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enfeksiyonlar</a:t>
            </a:r>
          </a:p>
          <a:p>
            <a:pPr lvl="1"/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Ürogenital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enfeksiyonlar gelişebilir.</a:t>
            </a:r>
          </a:p>
          <a:p>
            <a:pPr lvl="1"/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Hasta güvenliği için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YDD en az düzeyde gereklidir.</a:t>
            </a:r>
          </a:p>
        </p:txBody>
      </p:sp>
    </p:spTree>
    <p:extLst>
      <p:ext uri="{BB962C8B-B14F-4D97-AF65-F5344CB8AC3E}">
        <p14:creationId xmlns:p14="http://schemas.microsoft.com/office/powerpoint/2010/main" val="40828567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7E63-1274-6538-F01F-EE4E69E1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E0151E1-AD01-3301-BA74-3F42F91AF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BE176C8-3E72-515C-3BEA-0EC84AC59D0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2BDD526-FFB9-2174-7DE9-D1C1D322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43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F90EB30-8B2D-3029-453D-D3B2467A50CD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18C9115-2AF6-9F5B-5094-9F9FD9EDF7B8}"/>
              </a:ext>
            </a:extLst>
          </p:cNvPr>
          <p:cNvSpPr txBox="1"/>
          <p:nvPr/>
        </p:nvSpPr>
        <p:spPr>
          <a:xfrm>
            <a:off x="1487606" y="1180490"/>
            <a:ext cx="986619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Uygulama ve Örnekler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Endoskoplar: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İşlem sonrası mutlaka temizlenmeli, ardından yüksek düzey dezenfeksiyon uygulanmalıdır.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Laringoskop bıçakları: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Tek kullanımlık olanlar tercih edilmeli, değilse sterilize edilmelidir.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Solunum cihazı parçaları: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Hasta başına steril ya da Yüksek Düzey Dezenfeksiyon (YDD)’den geçmiş olarak kullanılmalıdır.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sınıflamasına göre yarı kritik cihazların dezenfekte edilmesi, enfeksiyon kontrolünde temel standarttır.</a:t>
            </a:r>
          </a:p>
        </p:txBody>
      </p:sp>
    </p:spTree>
    <p:extLst>
      <p:ext uri="{BB962C8B-B14F-4D97-AF65-F5344CB8AC3E}">
        <p14:creationId xmlns:p14="http://schemas.microsoft.com/office/powerpoint/2010/main" val="3346411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289538" y="1104803"/>
            <a:ext cx="103656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Olmayan Tıbbi Cihazların Tanımı ve Örnekleri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Sadece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bütünlüğü bozulmamış deri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ile temas eden cihazlardır.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Örnekler: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Tansiyon aleti manşonu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Stetoskop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Yatak kenarları ve mobilyalar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Koltuk değnekleri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Ördek / sürgü gibi hasta bakım gereçleri</a:t>
            </a:r>
          </a:p>
          <a:p>
            <a:pPr lvl="1"/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cihazlar doğrudan steril alanlara temas etmediği için enfeksiyon riski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daha düşüktür.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07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A181-EC04-119B-4AEA-967534F2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1B32DEC-8F9C-662C-1021-B510EC071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9BABB12-3135-BC0E-994A-8DC10C2350B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3A54075-CE67-C7C1-2632-063054AE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45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A9009F7-F26F-0BDD-A240-BCDC7F5F0B99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B62E579-C4A3-7935-3B84-BE42E5DE48A8}"/>
              </a:ext>
            </a:extLst>
          </p:cNvPr>
          <p:cNvSpPr txBox="1"/>
          <p:nvPr/>
        </p:nvSpPr>
        <p:spPr>
          <a:xfrm>
            <a:off x="1289538" y="1104803"/>
            <a:ext cx="103656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 ve Dezenfeksiyon Gereklilikleri</a:t>
            </a: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Gözle görülen kirler su ve deterjan ile mekanik olarak uzaklaştırılır.</a:t>
            </a:r>
          </a:p>
          <a:p>
            <a:endParaRPr lang="tr-T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Düşük Düzey Dezenfeksiyon: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olmayan cihazların çoğu için yeterlidir.</a:t>
            </a:r>
          </a:p>
          <a:p>
            <a:pPr lvl="1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Kuaterner amonyum bileşikleri, alkol bazlı solüsyonlar kullanılabilir.</a:t>
            </a:r>
          </a:p>
          <a:p>
            <a:pPr lvl="1"/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Kirlenme Durumu: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Eğer cihaz vücut sıvısı veya salgıları ile kirlenirse → önce temizlik, sonra dezenfeksiyon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3917960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B542-F68C-8691-2B13-BE573E20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2AD531B-B99C-88E4-0BC2-95CBCD182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C5A4FE5-630A-0CBE-56F9-64687622F7D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B0D4B50-B871-2405-C99A-53E84CEE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46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F769E9F-C982-F9EB-A0FF-8E11FD16B0CA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B25DF3EE-A73C-1222-1BA1-AD86D463BA14}"/>
              </a:ext>
            </a:extLst>
          </p:cNvPr>
          <p:cNvSpPr txBox="1"/>
          <p:nvPr/>
        </p:nvSpPr>
        <p:spPr>
          <a:xfrm>
            <a:off x="1289538" y="1104803"/>
            <a:ext cx="103656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Klinik Önemi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 olmayan cihazlar enfeksiyon kontrolünde bazen göz ardı edilse de, yanlış temizlik ve dezenfeksiyon ciddi sorunlara yol açabilir.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Örnek: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Tansiyon aleti manşonları ve stetoskoplar uygun temizlenmezse, hasta-hasta bulaşlarda önemli rol oynayabilir.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Sonuç: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 cihazlar için 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temizlik + düşük düzey dezenfeksiyon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düzenli ve doğru şekilde uygulanmalıdır.</a:t>
            </a:r>
          </a:p>
        </p:txBody>
      </p:sp>
    </p:spTree>
    <p:extLst>
      <p:ext uri="{BB962C8B-B14F-4D97-AF65-F5344CB8AC3E}">
        <p14:creationId xmlns:p14="http://schemas.microsoft.com/office/powerpoint/2010/main" val="3288608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686" y="643648"/>
            <a:ext cx="7460627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222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8842834" y="3775725"/>
            <a:ext cx="2278732" cy="2763187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BUGÜN NELER ÖĞRENDİK?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E44A89D-B2E7-6090-83A8-A1D4541E8959}"/>
              </a:ext>
            </a:extLst>
          </p:cNvPr>
          <p:cNvSpPr txBox="1"/>
          <p:nvPr/>
        </p:nvSpPr>
        <p:spPr>
          <a:xfrm>
            <a:off x="1463257" y="2019050"/>
            <a:ext cx="76970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Sterilizasyonun hasta güvenliği açısından önemi.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Dezenfeksiyonun düzeyleri ve klinik uygulamaları.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 sporlarının sterilizasyon testlerindeki rolü.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Biyolojik ve kimyasal indikatörlerin çalışma prensipleri.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Elektronik test sistemleri (ETS) ile sterilizasyonun güvence altına alınması.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sınıflamasına göre cihazların kategorize edilmesi.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Kritik, yarı kritik ve kritik olmayan cihazların klinik önemi.</a:t>
            </a:r>
          </a:p>
        </p:txBody>
      </p:sp>
    </p:spTree>
    <p:extLst>
      <p:ext uri="{BB962C8B-B14F-4D97-AF65-F5344CB8AC3E}">
        <p14:creationId xmlns:p14="http://schemas.microsoft.com/office/powerpoint/2010/main" val="40494734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2767029" y="1335317"/>
            <a:ext cx="6657941" cy="5117195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548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SORU VE ÖNERİLER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8703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50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1" y="38535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ÖNERİLEN HAFTALIK ÇALIŞMALAR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B37C668-1A19-BEA1-6D97-B5C273FF0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339" y="2177451"/>
            <a:ext cx="1012746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Bakteri sporları, biyolojik indikatörler ve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prionlarla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ilgili kısa özet hazırla.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sınıflamasındaki kritik cihaz örneklerini listele.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 düzeylerini tablo şeklinde çıkar.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klinik örnek vaka üzerinde sterilizasyon–dezenfeksiyon seçimini tartış.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Ders notlarını tekrar ederek sterilizasyon ve dezenfeksiyon tanımlarını yazılı olarak karşılaştır.</a:t>
            </a:r>
          </a:p>
        </p:txBody>
      </p:sp>
    </p:spTree>
    <p:extLst>
      <p:ext uri="{BB962C8B-B14F-4D97-AF65-F5344CB8AC3E}">
        <p14:creationId xmlns:p14="http://schemas.microsoft.com/office/powerpoint/2010/main" val="14880479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1" y="28310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KAYNAKÇA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373638-7A1A-EF08-F030-A779A908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719" y="1959428"/>
            <a:ext cx="96185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Rutala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W. A., &amp; Weber, D. J. (2024).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Disinfection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Sterilization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Healthcare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Facilities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CDC.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Zenciroğlu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D. (2024). 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Dezenfeksiyon, Antisepsi, Sterilizasyon Rehberi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Ankara: Sağlık Yayınevi.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WHO. (2023). 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Sterilization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Disinfection</a:t>
            </a:r>
            <a:r>
              <a:rPr kumimoji="0" lang="tr-TR" altLang="tr-T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Healthcare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World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1356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BİR SONRAKİ DERS HAKKINDA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7070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F586-0B36-D567-73A1-BD904B2E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6E256C2-6468-E0FD-4FAC-E10DA9A8F94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Soru 1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Sterilizasyonun temel amacı aşağıdakilerden hangisidir?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Tüm mikroorganizmaları öldürmek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Sadece patojenleri azaltmak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Organik kirleri uzaklaştırmak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Sporları etkisiz hale getirmek ama tamamen yok etmemek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Virüsleri inaktive etmek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A439594-2566-9BDF-A55A-EAF6F410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53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BBA2BF7-E3EE-802B-2E69-33707BA9E551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67522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41C74-7531-8B72-CD03-77164450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79B10C4-4591-4F39-6FD4-3729A0A18DF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Yüksek düzey dezenfeksiyon (YDD) aşağıdakilerden hangisini tamamen ortadan kaldırmaz?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Vejetatif bakteriler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Çoğu mantar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Zarflı virüsler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Bakteri sporları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Mikobakteriler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B3567E8-A90F-929C-7A50-B67C2B80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54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2A5DA95-D8CB-D0D6-5850-0D3926402B03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1273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DB07-29CA-D8BD-8A76-5FDE156F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688A6B5-CCC0-AC14-BB08-9BD50D2094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Bakteri sporlarının sterilizasyon açısından önemi nedir?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Çabuk yok olmaları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Dayanıksız olmaları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Sterilizasyonun etkinliğini gösterebilmeleri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Dezenfektanlara duyarlı olmaları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Temizlikle kolayca uzaklaştırılmaları</a:t>
            </a: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C8B1C47-7D8D-081D-D3DA-C938F469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55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6650D7E-669C-865C-7840-5AC7421EF266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2659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FC3A-8438-5B69-3A37-86C2BB7E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487D37D-175F-718B-4327-D50DD738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56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23B9DA1-D1EC-1C2D-9DF6-1BB1FEF07360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C529A65-BFAB-DCA6-B0C6-436D483D5FB8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1289050" y="2613769"/>
            <a:ext cx="63474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Kimyasal indikatörlerin en belirgin özelliği nedir?</a:t>
            </a:r>
            <a:b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a) Spor içerir</a:t>
            </a:r>
            <a:b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b) Renk değiştirir</a:t>
            </a:r>
            <a:b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c) Bakterileri öldürür</a:t>
            </a:r>
            <a:b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d) Proteinleri parçalar</a:t>
            </a:r>
            <a:b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e) Elektronik kayıt tutar</a:t>
            </a:r>
          </a:p>
        </p:txBody>
      </p:sp>
    </p:spTree>
    <p:extLst>
      <p:ext uri="{BB962C8B-B14F-4D97-AF65-F5344CB8AC3E}">
        <p14:creationId xmlns:p14="http://schemas.microsoft.com/office/powerpoint/2010/main" val="13032502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4D2D-75FE-F8E4-B5B8-BD88E9726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18881D9-5E4B-1C2F-86EB-FD2B5E03CDA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Soru 5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Prionlarla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ilgili aşağıdakilerden hangisi doğrudur?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DNA içerir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Standart sterilizasyon ile yok edilir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Protein yapısındadır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Antibiyotiklerle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eradike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edilir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Bakteri sporlarından daha dayanıksızdır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0872E8D5-7676-1875-9AFB-3A819B96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57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3C2EADB-9C2C-7D42-10F8-DC5F71476D07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68104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5750-59DF-0EAF-8D8E-22BDA3FE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7D1EB6C-5055-A9D7-B7E9-18FCC68EA98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öncesi en önemli basamak nedir?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Validasyon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Temizlik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ETS kontrolü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Biyolojik indikatör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Kimyasal indikatör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1852745-0600-1E46-1799-E2B03230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887D58C-6D42-0564-936D-B7513D0D3384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25253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4B12-AAC5-ABD6-3494-2BF349C60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19631C7-4C20-8D67-970E-641B410D5F2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Aşağıdakilerden hangisi yüksek düzey dezenfektan örneğidir?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Kuaterner amonyum bileşikleri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Alkol (%70 etanol)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Glutaraldehit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Çamaşır suyu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Fenolik bileşikler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50584B89-17A6-8E7B-2F66-4AC365EF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C86D01B-2E05-B4D3-A91D-71F9DB6C5BD4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5465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5B26-590D-3121-DE62-0A06BBEB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1D1020C-82A7-717D-7EED-35231BF5690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Elektronik Test Sistemleri (ETS) aşağıdakilerden hangisini sağlamaz?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Basınç kontrolü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Isı ölçümü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Vakum kaçağı tespiti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Protein yapısının bozulması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Buhar doygunluğu analizi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ECFC9686-D5A3-5A53-3688-BAFB5B1B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60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213454D-22C5-59A0-0E84-BE6ADE582457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95844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D3D1-AE99-5C3C-013D-B75719B3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DC5DCE0-CFF5-8FD6-0D5A-07DE5FB8D24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Endoskoplar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Spaulding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sınıflamasına göre hangi kategoriye girer?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Kritik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Yarı kritik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Kritik olmayan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ETS cihazı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Bakterisit ajan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167780B-20AD-5362-5499-AD096155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AE60DF8-1F93-9DE5-C50D-BBD120020364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43629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9F998-681F-2BE6-2B6C-04C58E318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D9DDC8F-0E51-BDF5-A517-D44B8424B87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Stetoskop hangi gruba girer?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Kritik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Yarı kritik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Kritik olmayan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Sterilizasyon indikatörü</a:t>
            </a:r>
            <a:b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PCD cihazı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8206BF6-6B07-8A89-0821-EAC688C9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77F5FA0-12CC-23AF-539E-1FAB68A52DAE}"/>
              </a:ext>
            </a:extLst>
          </p:cNvPr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ÇALIŞMA SORUSU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81292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10710042" cy="53918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Dr. </a:t>
            </a:r>
            <a:r>
              <a:rPr lang="tr-TR" dirty="0" err="1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Öğr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. Üyesi Sevinç Baba’nın Sterilizasyon ve </a:t>
            </a:r>
            <a:r>
              <a:rPr lang="tr-TR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Cerrahi Asepsi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Dersine ait sunumlar özel olduğu için burada yer alan  metin ve görsellerin,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 öğretim üyesinden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izin alınmaksızın sosyal medya ya da farklı alanlarda kullanılması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i="1" u="sng" dirty="0">
                <a:solidFill>
                  <a:srgbClr val="FF0000"/>
                </a:solidFill>
                <a:ea typeface="Times New Roman"/>
                <a:cs typeface="Times New Roman"/>
                <a:sym typeface="Times New Roman"/>
              </a:rPr>
              <a:t>6698 Sayılı Kanun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ile güvence altına alınan kişisel verilerin ve özel hayatın korunmasına yönelik düzenlemelere aykırıdır.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endParaRPr lang="tr-TR" sz="2400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03811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6494080" cy="5391807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dirty="0"/>
              <a:t>Ey Türk gençliği! Birinci vazifen; Türk istiklalini, Türk cumhuriyetini, ilelebet muhafaza ve müdafaa etmektir.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b="1" dirty="0">
                <a:solidFill>
                  <a:srgbClr val="172652"/>
                </a:solidFill>
                <a:ea typeface="Times New Roman"/>
                <a:cs typeface="Times New Roman"/>
                <a:sym typeface="Times New Roman"/>
              </a:rPr>
              <a:t>                              Mustafa Kemal ATATÜRK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323;g2ea15ffc163_0_229" descr="kişi, şahıs, insan yüzü, giyim, askeri üniforma içeren bir resim&#10;&#10;Açıklama otomatik olarak oluşturuldu"/>
          <p:cNvPicPr preferRelativeResize="0"/>
          <p:nvPr/>
        </p:nvPicPr>
        <p:blipFill rotWithShape="1">
          <a:blip r:embed="rId3">
            <a:alphaModFix/>
          </a:blip>
          <a:srcRect l="16533"/>
          <a:stretch/>
        </p:blipFill>
        <p:spPr>
          <a:xfrm>
            <a:off x="8421447" y="1542485"/>
            <a:ext cx="3570201" cy="46207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19399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tr-TR" dirty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013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3659</Words>
  <Application>Microsoft Macintosh PowerPoint</Application>
  <PresentationFormat>Geniş ekran</PresentationFormat>
  <Paragraphs>524</Paragraphs>
  <Slides>65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65</vt:i4>
      </vt:variant>
    </vt:vector>
  </HeadingPairs>
  <TitlesOfParts>
    <vt:vector size="70" baseType="lpstr">
      <vt:lpstr>Arial</vt:lpstr>
      <vt:lpstr>Calibri</vt:lpstr>
      <vt:lpstr>Calibri Light</vt:lpstr>
      <vt:lpstr>Times New Roman</vt:lpstr>
      <vt:lpstr>Office Teması</vt:lpstr>
      <vt:lpstr>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kaydemir</dc:creator>
  <cp:lastModifiedBy>Kıvanç Derya PEKER</cp:lastModifiedBy>
  <cp:revision>75</cp:revision>
  <dcterms:created xsi:type="dcterms:W3CDTF">2024-07-10T08:02:52Z</dcterms:created>
  <dcterms:modified xsi:type="dcterms:W3CDTF">2025-09-24T09:47:15Z</dcterms:modified>
</cp:coreProperties>
</file>