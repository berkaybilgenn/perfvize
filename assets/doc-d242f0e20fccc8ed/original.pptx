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sldIdLst>
    <p:sldId id="256" r:id="rId2"/>
    <p:sldId id="259" r:id="rId3"/>
    <p:sldId id="271" r:id="rId4"/>
    <p:sldId id="273" r:id="rId5"/>
    <p:sldId id="272" r:id="rId6"/>
    <p:sldId id="274" r:id="rId7"/>
    <p:sldId id="310" r:id="rId8"/>
    <p:sldId id="333" r:id="rId9"/>
    <p:sldId id="311" r:id="rId10"/>
    <p:sldId id="291" r:id="rId11"/>
    <p:sldId id="334" r:id="rId12"/>
    <p:sldId id="335" r:id="rId13"/>
    <p:sldId id="275" r:id="rId14"/>
    <p:sldId id="336" r:id="rId15"/>
    <p:sldId id="296" r:id="rId16"/>
    <p:sldId id="297" r:id="rId17"/>
    <p:sldId id="295" r:id="rId18"/>
    <p:sldId id="337" r:id="rId19"/>
    <p:sldId id="294" r:id="rId20"/>
    <p:sldId id="302" r:id="rId21"/>
    <p:sldId id="338" r:id="rId22"/>
    <p:sldId id="339" r:id="rId23"/>
    <p:sldId id="299" r:id="rId24"/>
    <p:sldId id="312" r:id="rId25"/>
    <p:sldId id="318" r:id="rId26"/>
    <p:sldId id="340" r:id="rId27"/>
    <p:sldId id="314" r:id="rId28"/>
    <p:sldId id="341" r:id="rId29"/>
    <p:sldId id="342" r:id="rId30"/>
    <p:sldId id="315" r:id="rId31"/>
    <p:sldId id="343" r:id="rId32"/>
    <p:sldId id="344" r:id="rId33"/>
    <p:sldId id="316" r:id="rId34"/>
    <p:sldId id="317" r:id="rId35"/>
    <p:sldId id="320" r:id="rId36"/>
    <p:sldId id="321" r:id="rId37"/>
    <p:sldId id="322" r:id="rId38"/>
    <p:sldId id="324" r:id="rId39"/>
    <p:sldId id="325" r:id="rId40"/>
    <p:sldId id="326" r:id="rId41"/>
    <p:sldId id="327" r:id="rId42"/>
    <p:sldId id="328" r:id="rId43"/>
    <p:sldId id="278" r:id="rId44"/>
    <p:sldId id="279" r:id="rId45"/>
    <p:sldId id="280" r:id="rId46"/>
    <p:sldId id="281" r:id="rId47"/>
    <p:sldId id="284" r:id="rId48"/>
    <p:sldId id="282" r:id="rId49"/>
    <p:sldId id="283" r:id="rId50"/>
    <p:sldId id="257" r:id="rId5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6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7"/>
  </p:normalViewPr>
  <p:slideViewPr>
    <p:cSldViewPr snapToGrid="0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2101-028C-4C7C-BD50-C9732890444B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13FAA-B49B-438C-9DA4-0021B6332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19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AFEC-CCFA-8170-725F-B27C3339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123023C2-57E3-CFA8-D8FA-F14360439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C815366B-2F84-8D8C-90EA-1514D43CC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3438C7E-E37D-D345-6AE9-D884FC63C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4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13FAA-B49B-438C-9DA4-0021B633206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1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3907-0054-4CE1-BA2E-6D8CEC36E5B7}" type="datetime1">
              <a:rPr lang="tr-TR" smtClean="0"/>
              <a:t>8.10.2025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86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16E5-22D1-424E-9E03-7FE4FCF4E762}" type="datetime1">
              <a:rPr lang="tr-TR" smtClean="0"/>
              <a:t>8.10.2025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549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F9A-8D36-43A8-ABA2-4C9C9E5C79EF}" type="datetime1">
              <a:rPr lang="tr-TR" smtClean="0"/>
              <a:t>8.10.2025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861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3676" y="320675"/>
            <a:ext cx="10556631" cy="1325563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83676" y="1646238"/>
            <a:ext cx="10556631" cy="435133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tr-TR" dirty="0"/>
              <a:t>Asıl metin stillerini düzenle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295400" y="6356349"/>
            <a:ext cx="2743200" cy="365125"/>
          </a:xfrm>
        </p:spPr>
        <p:txBody>
          <a:bodyPr/>
          <a:lstStyle/>
          <a:p>
            <a:fld id="{C46BFB63-2AB2-4BA2-8CD9-A68D09A9B742}" type="datetime1">
              <a:rPr lang="tr-TR" smtClean="0"/>
              <a:t>8.10.2025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20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6E8C-C65E-4F63-AEE4-FAD8C582111C}" type="datetime1">
              <a:rPr lang="tr-TR" smtClean="0"/>
              <a:t>8.10.2025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995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4718-B27C-45EE-A76D-390338E2DE09}" type="datetime1">
              <a:rPr lang="tr-TR" smtClean="0"/>
              <a:t>8.10.2025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03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10E79-79FB-4C73-A853-D9D670F075EE}" type="datetime1">
              <a:rPr lang="tr-TR" smtClean="0"/>
              <a:t>8.10.2025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949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B1A0-33BC-4E80-A17D-D3AE4CBABFEA}" type="datetime1">
              <a:rPr lang="tr-TR" smtClean="0"/>
              <a:t>8.10.2025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1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5EE4-3681-4524-B732-0D6448CCBE17}" type="datetime1">
              <a:rPr lang="tr-TR" smtClean="0"/>
              <a:t>8.10.2025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362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96BB-783D-4D3E-99CD-AC33CF6608D3}" type="datetime1">
              <a:rPr lang="tr-TR" smtClean="0"/>
              <a:t>8.10.2025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038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9E9FA-750F-4658-A36B-A439B400F2F3}" type="datetime1">
              <a:rPr lang="tr-TR" smtClean="0"/>
              <a:t>8.10.2025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983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D6CC-84C3-4375-AADE-3F6A6FFABFD1}" type="datetime1">
              <a:rPr lang="tr-TR" smtClean="0"/>
              <a:t>8.10.2025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D401F-286E-468B-9BCD-6DE50C180B4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869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3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1188084" y="1296670"/>
            <a:ext cx="1016571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endParaRPr lang="tr-TR" sz="24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 PER247 Sterilizasyon ve Cerrahi Asepsi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: 3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: Pazartesi 15.00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 3/6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: Test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 Prof. Dr. Kıvanç Derya Peker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 sbaba@gelisim.edu.tr</a:t>
            </a:r>
          </a:p>
          <a:p>
            <a:r>
              <a:rPr lang="tr-TR" sz="2400" b="1" dirty="0" err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 B Blok 015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</a:t>
            </a:r>
            <a:r>
              <a:rPr lang="tr-TR" sz="2400" b="1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Çarşamba 12.00</a:t>
            </a:r>
            <a:endParaRPr lang="tr-TR" sz="2400" b="1" dirty="0">
              <a:solidFill>
                <a:srgbClr val="2E32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 https://gbs.gelisim.edu.tr/ders-detay-17-322-11089-1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 https://lms.gelisim.edu.tr/almsp/u/Home/Index</a:t>
            </a:r>
          </a:p>
          <a:p>
            <a:r>
              <a:rPr lang="tr-TR" sz="2400" b="1" dirty="0">
                <a:solidFill>
                  <a:srgbClr val="2E3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: https://avesis.gelisim.edu.tr/sbaba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İçerik Yer Tutucusu 8"/>
          <p:cNvSpPr>
            <a:spLocks noGrp="1"/>
          </p:cNvSpPr>
          <p:nvPr>
            <p:ph sz="half" idx="2"/>
          </p:nvPr>
        </p:nvSpPr>
        <p:spPr>
          <a:xfrm>
            <a:off x="1327618" y="1573967"/>
            <a:ext cx="5073182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hakkında genel bilgi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Malzeme yıkama ve hazırlama üniteleri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Sterilizasyonda güvenlik testleri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4"/>
          </p:nvPr>
        </p:nvSpPr>
        <p:spPr>
          <a:xfrm>
            <a:off x="6726836" y="1573967"/>
            <a:ext cx="5183188" cy="4615696"/>
          </a:xfrm>
        </p:spPr>
        <p:txBody>
          <a:bodyPr>
            <a:normAutofit/>
          </a:bodyPr>
          <a:lstStyle/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Setlerin kodlanması ve dokümantasyonu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malzemenin hazırlanması ve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Plastik malzemenin sterilizasyonu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 malzemenin depolanması ve korunması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Tekrar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802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14 HAFTALIK DERS KONULARI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885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 alanlarını öğrenir.</a:t>
            </a: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 sterilizasyon ünitesi teknik ve mimari donanımını açıklar.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280994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HAFTALIK ÖĞRENİM KAZANIMLARI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0" y="373985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ÖNCEKİ DERS HAKKINDA 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1755673" y="1533237"/>
            <a:ext cx="3227165" cy="2241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Asepsi-antisepsi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Tıbbi asepsi ilkeleri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asepsi ilkeleri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Cerrahi el yıkama</a:t>
            </a:r>
          </a:p>
        </p:txBody>
      </p:sp>
    </p:spTree>
    <p:extLst>
      <p:ext uri="{BB962C8B-B14F-4D97-AF65-F5344CB8AC3E}">
        <p14:creationId xmlns:p14="http://schemas.microsoft.com/office/powerpoint/2010/main" val="104289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6869723" y="2479964"/>
            <a:ext cx="4953000" cy="28817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135;g2ea15ffc163_0_29"/>
          <p:cNvPicPr preferRelativeResize="0"/>
          <p:nvPr/>
        </p:nvPicPr>
        <p:blipFill rotWithShape="1">
          <a:blip r:embed="rId3">
            <a:alphaModFix/>
          </a:blip>
          <a:srcRect l="26333" t="23998" r="20703" b="21593"/>
          <a:stretch/>
        </p:blipFill>
        <p:spPr>
          <a:xfrm>
            <a:off x="1593628" y="2622193"/>
            <a:ext cx="1731891" cy="17791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4;g2ea15ffc163_0_29"/>
          <p:cNvSpPr txBox="1"/>
          <p:nvPr/>
        </p:nvSpPr>
        <p:spPr>
          <a:xfrm>
            <a:off x="3233735" y="2622193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.00-15.50/ 1.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16.00-16.50/ 2.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tr-TR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17.00-17.45/ 3. DERS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6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>
          <a:xfrm>
            <a:off x="66675" y="384093"/>
            <a:ext cx="121253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17265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GÜNLÜK AKIŞ</a:t>
            </a:r>
          </a:p>
        </p:txBody>
      </p:sp>
    </p:spTree>
    <p:extLst>
      <p:ext uri="{BB962C8B-B14F-4D97-AF65-F5344CB8AC3E}">
        <p14:creationId xmlns:p14="http://schemas.microsoft.com/office/powerpoint/2010/main" val="274098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3200" b="1" dirty="0"/>
              <a:t>Merkezi Sterilizasyon Üniteleri (MSÜ) – Tanım ve Önemi</a:t>
            </a:r>
          </a:p>
          <a:p>
            <a:pPr lvl="1"/>
            <a:r>
              <a:rPr lang="tr-TR" sz="2800" b="1" dirty="0"/>
              <a:t>Amaç:</a:t>
            </a:r>
            <a:br>
              <a:rPr lang="tr-TR" sz="2800" dirty="0"/>
            </a:br>
            <a:r>
              <a:rPr lang="tr-TR" sz="2800" dirty="0"/>
              <a:t>Hastanelerde kullanılan tıbbi cihazların sterilizasyon süreçlerinin </a:t>
            </a:r>
            <a:r>
              <a:rPr lang="tr-TR" sz="2800" b="1" dirty="0"/>
              <a:t>tek bir merkezden</a:t>
            </a:r>
            <a:r>
              <a:rPr lang="tr-TR" sz="2800" dirty="0"/>
              <a:t>, </a:t>
            </a:r>
            <a:r>
              <a:rPr lang="tr-TR" sz="2800" b="1" dirty="0"/>
              <a:t>sürekli</a:t>
            </a:r>
            <a:r>
              <a:rPr lang="tr-TR" sz="2800" dirty="0"/>
              <a:t> ve </a:t>
            </a:r>
            <a:r>
              <a:rPr lang="tr-TR" sz="2800" b="1" dirty="0"/>
              <a:t>izlenebilir</a:t>
            </a:r>
            <a:r>
              <a:rPr lang="tr-TR" sz="2800" dirty="0"/>
              <a:t> biçimde yürütülmesini sağlar.</a:t>
            </a:r>
            <a:br>
              <a:rPr lang="tr-TR" sz="2800" dirty="0"/>
            </a:br>
            <a:r>
              <a:rPr lang="tr-TR" sz="2800" dirty="0"/>
              <a:t>Bu yaklaşım hem </a:t>
            </a:r>
            <a:r>
              <a:rPr lang="tr-TR" sz="2800" b="1" dirty="0"/>
              <a:t>çalışma güvenliği</a:t>
            </a:r>
            <a:r>
              <a:rPr lang="tr-TR" sz="2800" dirty="0"/>
              <a:t> hem de </a:t>
            </a:r>
            <a:r>
              <a:rPr lang="tr-TR" sz="2800" b="1" dirty="0"/>
              <a:t>hizmet kalitesi</a:t>
            </a:r>
            <a:r>
              <a:rPr lang="tr-TR" sz="2800" dirty="0"/>
              <a:t> açısından kritiktir.</a:t>
            </a:r>
          </a:p>
          <a:p>
            <a:pPr lvl="1"/>
            <a:r>
              <a:rPr lang="tr-TR" sz="2800" b="1" dirty="0"/>
              <a:t>Tanım:</a:t>
            </a:r>
            <a:br>
              <a:rPr lang="tr-TR" sz="2800" dirty="0"/>
            </a:br>
            <a:r>
              <a:rPr lang="tr-TR" sz="2800" dirty="0"/>
              <a:t>MSÜ’ler, hastanelerin farklı birimlerinden gelen tıbbi cihazları </a:t>
            </a:r>
            <a:r>
              <a:rPr lang="tr-TR" sz="2800" b="1" dirty="0"/>
              <a:t>yeniden kullanıma hazırlayan</a:t>
            </a:r>
            <a:r>
              <a:rPr lang="tr-TR" sz="2800" dirty="0"/>
              <a:t> ve </a:t>
            </a:r>
            <a:r>
              <a:rPr lang="tr-TR" sz="2800" b="1" dirty="0"/>
              <a:t>steril hale getirerek</a:t>
            </a:r>
            <a:r>
              <a:rPr lang="tr-TR" sz="2800" dirty="0"/>
              <a:t> ilgili birimlere teslim eden </a:t>
            </a:r>
            <a:r>
              <a:rPr lang="tr-TR" sz="2800" b="1" dirty="0"/>
              <a:t>entegre merkezlerdir</a:t>
            </a:r>
            <a:r>
              <a:rPr lang="tr-TR" sz="2800" dirty="0"/>
              <a:t>.</a:t>
            </a:r>
          </a:p>
          <a:p>
            <a:pPr lvl="1"/>
            <a:endParaRPr lang="tr-TR" sz="2000" dirty="0"/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ÜNİTESİNİN ÖZELLİKLERİ</a:t>
            </a:r>
          </a:p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90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0067-F0C7-2262-57D2-45F5631A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2C9EC52-1AD2-BC19-314E-E58A6C0B0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E138A57-BBE9-BBFF-AA73-5E871C147C3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r>
              <a:rPr lang="tr-TR" sz="3200" b="1" dirty="0"/>
              <a:t>İşlem Döngüsü:</a:t>
            </a:r>
            <a:endParaRPr lang="tr-TR" sz="3200" dirty="0"/>
          </a:p>
          <a:p>
            <a:pPr lvl="1"/>
            <a:r>
              <a:rPr lang="tr-TR" sz="2800" b="1" dirty="0"/>
              <a:t>Yıkama ve Dezenfeksiyon:</a:t>
            </a:r>
            <a:r>
              <a:rPr lang="tr-TR" sz="2800" dirty="0"/>
              <a:t> Kullanılmış cihazların temizliği.</a:t>
            </a:r>
          </a:p>
          <a:p>
            <a:pPr lvl="1"/>
            <a:r>
              <a:rPr lang="tr-TR" sz="2800" b="1" dirty="0"/>
              <a:t>Bakım ve Kontrol:</a:t>
            </a:r>
            <a:r>
              <a:rPr lang="tr-TR" sz="2800" dirty="0"/>
              <a:t> Mekanik bütünlük ve işlevsellik kontrolü.</a:t>
            </a:r>
          </a:p>
          <a:p>
            <a:pPr lvl="1"/>
            <a:r>
              <a:rPr lang="tr-TR" sz="2800" b="1" dirty="0"/>
              <a:t>Paketleme:</a:t>
            </a:r>
            <a:r>
              <a:rPr lang="tr-TR" sz="2800" dirty="0"/>
              <a:t> Sterilizasyon öncesi uygun ambalajlama.</a:t>
            </a:r>
          </a:p>
          <a:p>
            <a:pPr lvl="1"/>
            <a:r>
              <a:rPr lang="tr-TR" sz="2800" b="1" dirty="0"/>
              <a:t>Sterilizasyon:</a:t>
            </a:r>
            <a:r>
              <a:rPr lang="tr-TR" sz="2800" dirty="0"/>
              <a:t> Buhar, plazma, etilen oksit gibi yöntemlerle mikrobiyal yükün yok edilmesi.</a:t>
            </a:r>
          </a:p>
          <a:p>
            <a:pPr lvl="1"/>
            <a:r>
              <a:rPr lang="tr-TR" sz="2800" b="1" dirty="0"/>
              <a:t>Depolama:</a:t>
            </a:r>
            <a:r>
              <a:rPr lang="tr-TR" sz="2800" dirty="0"/>
              <a:t> Steril malzemelerin uygun koşullarda saklanması.</a:t>
            </a:r>
          </a:p>
          <a:p>
            <a:pPr lvl="1"/>
            <a:r>
              <a:rPr lang="tr-TR" sz="2800" b="1" dirty="0"/>
              <a:t>Dağıtım:</a:t>
            </a:r>
            <a:r>
              <a:rPr lang="tr-TR" sz="2800" dirty="0"/>
              <a:t> İhtiyaç duyan klinik veya ameliyathanelere teslimat.</a:t>
            </a: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77F7720-C7B7-6190-9DFE-4CADBA89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C2470025-A2D1-1CBF-CB4A-A822EC67767D}"/>
              </a:ext>
            </a:extLst>
          </p:cNvPr>
          <p:cNvSpPr/>
          <p:nvPr/>
        </p:nvSpPr>
        <p:spPr>
          <a:xfrm>
            <a:off x="0" y="373985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STERİLİZASYON ÜNİTESİNİN ÖZELLİKLERİ</a:t>
            </a:r>
          </a:p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858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289538" y="1275933"/>
            <a:ext cx="973868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200" b="1" dirty="0"/>
              <a:t>MSÜ Tasarımı ve Teknik Özellikleri</a:t>
            </a:r>
          </a:p>
          <a:p>
            <a:endParaRPr lang="tr-TR" sz="2400" b="1" dirty="0"/>
          </a:p>
          <a:p>
            <a:r>
              <a:rPr lang="tr-TR" sz="2400" b="1" dirty="0"/>
              <a:t>1. Standartlara Uygunluk:</a:t>
            </a:r>
            <a:endParaRPr lang="tr-TR" sz="2400" dirty="0"/>
          </a:p>
          <a:p>
            <a:r>
              <a:rPr lang="tr-TR" sz="2400" dirty="0"/>
              <a:t>MSÜ’lerin tasarımı hem </a:t>
            </a:r>
            <a:r>
              <a:rPr lang="tr-TR" sz="2400" b="1" dirty="0"/>
              <a:t>ulusal</a:t>
            </a:r>
            <a:r>
              <a:rPr lang="tr-TR" sz="2400" dirty="0"/>
              <a:t> hem de </a:t>
            </a:r>
            <a:r>
              <a:rPr lang="tr-TR" sz="2400" b="1" dirty="0"/>
              <a:t>uluslararası rehberler</a:t>
            </a:r>
            <a:r>
              <a:rPr lang="tr-TR" sz="2400" dirty="0"/>
              <a:t> (örneğin WHO, CDC, ISO, TSE standartları) doğrultusunda yapılmalıdır.</a:t>
            </a:r>
          </a:p>
          <a:p>
            <a:r>
              <a:rPr lang="tr-TR" sz="2400" dirty="0"/>
              <a:t>Yapılandırma, sterilizasyon güvenliği ve izlenebilirliği sağlayacak biçimde olmalıdır.</a:t>
            </a:r>
          </a:p>
          <a:p>
            <a:endParaRPr lang="tr-TR" sz="2400" dirty="0"/>
          </a:p>
          <a:p>
            <a:r>
              <a:rPr lang="tr-TR" sz="2400" b="1" dirty="0"/>
              <a:t>2. Tasarım Ön Analizi:</a:t>
            </a:r>
            <a:endParaRPr lang="tr-TR" sz="2400" dirty="0"/>
          </a:p>
          <a:p>
            <a:r>
              <a:rPr lang="tr-TR" sz="2400" dirty="0"/>
              <a:t>Uygulamaya geçmeden önce </a:t>
            </a:r>
            <a:r>
              <a:rPr lang="tr-TR" sz="2400" b="1" dirty="0"/>
              <a:t>kalite, verimlilik ve ergonomi odaklı analizler</a:t>
            </a:r>
            <a:r>
              <a:rPr lang="tr-TR" sz="2400" dirty="0"/>
              <a:t> yapılmalıdır.</a:t>
            </a:r>
          </a:p>
          <a:p>
            <a:r>
              <a:rPr lang="tr-TR" sz="2400" dirty="0"/>
              <a:t>Bu analizler, personel akışını, malzeme hareketini ve enfeksiyon risklerini en aza indirir.</a:t>
            </a:r>
          </a:p>
        </p:txBody>
      </p:sp>
    </p:spTree>
    <p:extLst>
      <p:ext uri="{BB962C8B-B14F-4D97-AF65-F5344CB8AC3E}">
        <p14:creationId xmlns:p14="http://schemas.microsoft.com/office/powerpoint/2010/main" val="57673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1520042" y="1136073"/>
            <a:ext cx="98337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3. Tasarım Ekibi:</a:t>
            </a:r>
            <a:endParaRPr lang="tr-TR" sz="2800" dirty="0"/>
          </a:p>
          <a:p>
            <a:r>
              <a:rPr lang="tr-TR" sz="2800" dirty="0"/>
              <a:t>MSÜ’nün tasarımı çok disiplinli bir ekip tarafından gerçekleştirilmelidir:</a:t>
            </a:r>
          </a:p>
          <a:p>
            <a:pPr lvl="1"/>
            <a:r>
              <a:rPr lang="tr-TR" sz="2800" b="1" dirty="0"/>
              <a:t>Mimar ve mühendisler:</a:t>
            </a:r>
            <a:r>
              <a:rPr lang="tr-TR" sz="2800" dirty="0"/>
              <a:t> Teknik altyapı ve bina tasarımı.</a:t>
            </a:r>
          </a:p>
          <a:p>
            <a:pPr lvl="1"/>
            <a:r>
              <a:rPr lang="tr-TR" sz="2800" b="1" dirty="0"/>
              <a:t>Hastane yöneticileri:</a:t>
            </a:r>
            <a:r>
              <a:rPr lang="tr-TR" sz="2800" dirty="0"/>
              <a:t> Kurumsal ihtiyaç ve bütçe planlaması.</a:t>
            </a:r>
          </a:p>
          <a:p>
            <a:pPr lvl="1"/>
            <a:r>
              <a:rPr lang="tr-TR" sz="2800" b="1" dirty="0"/>
              <a:t>MSÜ sorumluları ve enfeksiyon kontrol komitesi:</a:t>
            </a:r>
            <a:r>
              <a:rPr lang="tr-TR" sz="2800" dirty="0"/>
              <a:t> Sterilizasyon akışı ve güvenliği.</a:t>
            </a:r>
          </a:p>
          <a:p>
            <a:pPr lvl="1"/>
            <a:r>
              <a:rPr lang="tr-TR" sz="2800" b="1" dirty="0"/>
              <a:t>Sağlık profesyonelleri:</a:t>
            </a:r>
            <a:r>
              <a:rPr lang="tr-TR" sz="2800" dirty="0"/>
              <a:t> Bilimsel ve teknolojik yeniliklerin entegrasyonu için öneri sunar.</a:t>
            </a:r>
          </a:p>
        </p:txBody>
      </p:sp>
    </p:spTree>
    <p:extLst>
      <p:ext uri="{BB962C8B-B14F-4D97-AF65-F5344CB8AC3E}">
        <p14:creationId xmlns:p14="http://schemas.microsoft.com/office/powerpoint/2010/main" val="129977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0F32-C64C-A8DE-1007-0E93EC79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BDC5CA5-3D74-6838-6004-B3EC0C5F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96CB16D-8112-E799-E7BF-74C0EA722B4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AC2161C-96A1-9BFB-AFC7-7D2DDABF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00F6658-F734-4F96-C9D5-ECD290DE1496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7D77946-CFF0-468B-FE2C-60AF56DD8EB5}"/>
              </a:ext>
            </a:extLst>
          </p:cNvPr>
          <p:cNvSpPr txBox="1"/>
          <p:nvPr/>
        </p:nvSpPr>
        <p:spPr>
          <a:xfrm>
            <a:off x="1289537" y="535294"/>
            <a:ext cx="1054491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MSÜ Yapısal Özellikleri ve Teknik Altyapı Gereksinimleri</a:t>
            </a:r>
          </a:p>
          <a:p>
            <a:endParaRPr lang="tr-TR" sz="3200" b="1" dirty="0"/>
          </a:p>
          <a:p>
            <a:r>
              <a:rPr lang="tr-TR" sz="2400" b="1" dirty="0"/>
              <a:t>1. Yüzey Malzemeleri:</a:t>
            </a:r>
            <a:endParaRPr lang="tr-TR" sz="2400" dirty="0"/>
          </a:p>
          <a:p>
            <a:pPr lvl="1"/>
            <a:r>
              <a:rPr lang="tr-TR" sz="2400" dirty="0"/>
              <a:t>Duvar, döşeme ve tavan yüzeyleri </a:t>
            </a:r>
            <a:r>
              <a:rPr lang="tr-TR" sz="2400" b="1" dirty="0"/>
              <a:t>enfeksiyon kaynağı oluşturmayacak</a:t>
            </a:r>
            <a:r>
              <a:rPr lang="tr-TR" sz="2400" dirty="0"/>
              <a:t>, </a:t>
            </a:r>
            <a:r>
              <a:rPr lang="tr-TR" sz="2400" b="1" dirty="0"/>
              <a:t>düz, gözeneksiz</a:t>
            </a:r>
            <a:r>
              <a:rPr lang="tr-TR" sz="2400" dirty="0"/>
              <a:t>, </a:t>
            </a:r>
            <a:r>
              <a:rPr lang="tr-TR" sz="2400" b="1" dirty="0"/>
              <a:t>kolay temizlenebilir</a:t>
            </a:r>
            <a:r>
              <a:rPr lang="tr-TR" sz="2400" dirty="0"/>
              <a:t> ve </a:t>
            </a:r>
            <a:r>
              <a:rPr lang="tr-TR" sz="2400" b="1" dirty="0"/>
              <a:t>dezenfeksiyona dayanıklı</a:t>
            </a:r>
            <a:r>
              <a:rPr lang="tr-TR" sz="2400" dirty="0"/>
              <a:t> malzemelerden yapılmalıdır.</a:t>
            </a:r>
          </a:p>
          <a:p>
            <a:pPr lvl="1"/>
            <a:r>
              <a:rPr lang="tr-TR" sz="2400" dirty="0"/>
              <a:t>Bu, mikroorganizmaların tutunmasını ve çoğalmasını önler.</a:t>
            </a:r>
          </a:p>
          <a:p>
            <a:r>
              <a:rPr lang="tr-TR" sz="2400" b="1" dirty="0"/>
              <a:t>2. Aydınlatma:</a:t>
            </a:r>
            <a:endParaRPr lang="tr-TR" sz="2400" dirty="0"/>
          </a:p>
          <a:p>
            <a:pPr lvl="1"/>
            <a:r>
              <a:rPr lang="tr-TR" sz="2400" dirty="0"/>
              <a:t>Tüm alanlarda </a:t>
            </a:r>
            <a:r>
              <a:rPr lang="tr-TR" sz="2400" b="1" dirty="0"/>
              <a:t>yeterli ve homojen aydınlatma</a:t>
            </a:r>
            <a:r>
              <a:rPr lang="tr-TR" sz="2400" dirty="0"/>
              <a:t> sağlanmalıdır.</a:t>
            </a:r>
          </a:p>
          <a:p>
            <a:pPr lvl="1"/>
            <a:r>
              <a:rPr lang="tr-TR" sz="2400" dirty="0"/>
              <a:t>Aydınlatma, çalışanların detaylı görsel kontroller yapmasına imkân vermelidir.</a:t>
            </a:r>
          </a:p>
          <a:p>
            <a:r>
              <a:rPr lang="tr-TR" sz="2400" b="1" dirty="0"/>
              <a:t>3. Teknik Altyapı:</a:t>
            </a:r>
            <a:endParaRPr lang="tr-TR" sz="2400" dirty="0"/>
          </a:p>
          <a:p>
            <a:pPr lvl="1"/>
            <a:r>
              <a:rPr lang="tr-TR" sz="2400" b="1" dirty="0"/>
              <a:t>Su sistemi, havalandırma, güç kaynağı ve cihaz yerleşimi</a:t>
            </a:r>
            <a:r>
              <a:rPr lang="tr-TR" sz="2400" dirty="0"/>
              <a:t> planlaması, sürecin sürekliliğini ve güvenliğini sağlar.</a:t>
            </a:r>
          </a:p>
          <a:p>
            <a:pPr lvl="1"/>
            <a:r>
              <a:rPr lang="tr-TR" sz="2400" b="1" dirty="0"/>
              <a:t>Kesintisiz güç kaynakları (UPS)</a:t>
            </a:r>
            <a:r>
              <a:rPr lang="tr-TR" sz="2400" dirty="0"/>
              <a:t> sterilizasyon döngüsünün kesilmesini önler.</a:t>
            </a:r>
          </a:p>
          <a:p>
            <a:pPr lvl="1"/>
            <a:r>
              <a:rPr lang="tr-TR" sz="2400" dirty="0"/>
              <a:t>Havalandırma sistemi; temiz ve kirli hava akımlarının karışmamasını garanti etmelidir.</a:t>
            </a:r>
          </a:p>
        </p:txBody>
      </p:sp>
    </p:spTree>
    <p:extLst>
      <p:ext uri="{BB962C8B-B14F-4D97-AF65-F5344CB8AC3E}">
        <p14:creationId xmlns:p14="http://schemas.microsoft.com/office/powerpoint/2010/main" val="140315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C9962-58A1-C04A-ACE5-9C9EF1EA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890B94CB-B18E-06B4-E832-2BD3C620D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4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38D84A6-AE71-8390-E8CC-4F917AC8F90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CF641CF-2A83-279B-4E72-626330E9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733B50E-37B6-0CFD-90EE-F84560B9A15B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545D92F-2CB1-A295-85C5-3BD241CF97F1}"/>
              </a:ext>
            </a:extLst>
          </p:cNvPr>
          <p:cNvSpPr txBox="1"/>
          <p:nvPr/>
        </p:nvSpPr>
        <p:spPr>
          <a:xfrm>
            <a:off x="1289537" y="835651"/>
            <a:ext cx="1006426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4. Ergonomi ve Konfor:</a:t>
            </a:r>
            <a:endParaRPr lang="tr-TR" sz="3200" dirty="0"/>
          </a:p>
          <a:p>
            <a:pPr lvl="1"/>
            <a:r>
              <a:rPr lang="tr-TR" sz="2400" dirty="0"/>
              <a:t>Ortamın </a:t>
            </a:r>
            <a:r>
              <a:rPr lang="tr-TR" sz="2400" b="1" dirty="0"/>
              <a:t>termal konforu</a:t>
            </a:r>
            <a:r>
              <a:rPr lang="tr-TR" sz="2400" dirty="0"/>
              <a:t> (sıcaklık, nem) ve </a:t>
            </a:r>
            <a:r>
              <a:rPr lang="tr-TR" sz="2400" b="1" dirty="0"/>
              <a:t>gürültü düzeyi</a:t>
            </a:r>
            <a:r>
              <a:rPr lang="tr-TR" sz="2400" dirty="0"/>
              <a:t> çalışan sağlığı açısından tasarımda dikkate alınmalıdır.</a:t>
            </a:r>
          </a:p>
          <a:p>
            <a:endParaRPr lang="tr-TR" dirty="0"/>
          </a:p>
          <a:p>
            <a:r>
              <a:rPr lang="tr-TR" sz="2800" b="1" dirty="0"/>
              <a:t>5. Alan Düzeni – Üç Alan, İki Bariyer Prensibi:</a:t>
            </a:r>
            <a:endParaRPr lang="tr-TR" sz="2800" dirty="0"/>
          </a:p>
          <a:p>
            <a:pPr lvl="1"/>
            <a:r>
              <a:rPr lang="tr-TR" sz="2400" b="1" dirty="0"/>
              <a:t>Üç alan:</a:t>
            </a:r>
            <a:endParaRPr lang="tr-TR" sz="2400" dirty="0"/>
          </a:p>
          <a:p>
            <a:pPr lvl="2"/>
            <a:r>
              <a:rPr lang="tr-TR" sz="2400" b="1" dirty="0"/>
              <a:t>Kirli alan:</a:t>
            </a:r>
            <a:r>
              <a:rPr lang="tr-TR" sz="2400" dirty="0"/>
              <a:t> Kullanılmış malzemelerin geldiği ve temizlendiği bölüm.</a:t>
            </a:r>
          </a:p>
          <a:p>
            <a:pPr lvl="2"/>
            <a:r>
              <a:rPr lang="tr-TR" sz="2400" b="1" dirty="0"/>
              <a:t>Temiz alan:</a:t>
            </a:r>
            <a:r>
              <a:rPr lang="tr-TR" sz="2400" dirty="0"/>
              <a:t> Kurutulmuş ve paketleme öncesi malzemelerin bulunduğu bölüm.</a:t>
            </a:r>
          </a:p>
          <a:p>
            <a:pPr lvl="2"/>
            <a:r>
              <a:rPr lang="tr-TR" sz="2400" b="1" dirty="0"/>
              <a:t>Steril alan:</a:t>
            </a:r>
            <a:r>
              <a:rPr lang="tr-TR" sz="2400" dirty="0"/>
              <a:t> Sterilizasyon sonrası malzemelerin depolandığı bölüm.</a:t>
            </a:r>
          </a:p>
          <a:p>
            <a:pPr lvl="1"/>
            <a:r>
              <a:rPr lang="tr-TR" sz="2400" b="1" dirty="0"/>
              <a:t>İki bariyer sistemi:</a:t>
            </a:r>
            <a:endParaRPr lang="tr-TR" sz="2400" dirty="0"/>
          </a:p>
          <a:p>
            <a:pPr lvl="2"/>
            <a:r>
              <a:rPr lang="tr-TR" sz="2400" b="1" dirty="0"/>
              <a:t>1. Bariyer:</a:t>
            </a:r>
            <a:r>
              <a:rPr lang="tr-TR" sz="2400" dirty="0"/>
              <a:t> Yıkayıcı–</a:t>
            </a:r>
            <a:r>
              <a:rPr lang="tr-TR" sz="2400" dirty="0" err="1"/>
              <a:t>dezenfektörler</a:t>
            </a:r>
            <a:r>
              <a:rPr lang="tr-TR" sz="2400" dirty="0"/>
              <a:t>.</a:t>
            </a:r>
          </a:p>
          <a:p>
            <a:pPr lvl="2"/>
            <a:r>
              <a:rPr lang="tr-TR" sz="2400" b="1" dirty="0"/>
              <a:t>2. Bariyer:</a:t>
            </a:r>
            <a:r>
              <a:rPr lang="tr-TR" sz="2400" dirty="0"/>
              <a:t> Sterilizatörler.</a:t>
            </a:r>
            <a:br>
              <a:rPr lang="tr-TR" sz="2400" dirty="0"/>
            </a:br>
            <a:r>
              <a:rPr lang="tr-TR" sz="2400" dirty="0"/>
              <a:t>→ Bu bariyerler </a:t>
            </a:r>
            <a:r>
              <a:rPr lang="tr-TR" sz="2400" b="1" dirty="0"/>
              <a:t>fiziksel sınır</a:t>
            </a:r>
            <a:r>
              <a:rPr lang="tr-TR" sz="2400" dirty="0"/>
              <a:t> oluşturarak alanlar arası kontaminasyonu engeller.</a:t>
            </a:r>
          </a:p>
        </p:txBody>
      </p:sp>
    </p:spTree>
    <p:extLst>
      <p:ext uri="{BB962C8B-B14F-4D97-AF65-F5344CB8AC3E}">
        <p14:creationId xmlns:p14="http://schemas.microsoft.com/office/powerpoint/2010/main" val="2313461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13</a:t>
            </a:fld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1289537" y="363915"/>
            <a:ext cx="1053318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MSÜ Yerleşim ve Akış Tasarımı İlkeleri</a:t>
            </a:r>
          </a:p>
          <a:p>
            <a:r>
              <a:rPr lang="tr-TR" sz="2400" b="1" dirty="0"/>
              <a:t>1. Malzeme ve Yüzey Özellikleri:</a:t>
            </a:r>
            <a:endParaRPr lang="tr-TR" sz="2400" dirty="0"/>
          </a:p>
          <a:p>
            <a:pPr lvl="1"/>
            <a:r>
              <a:rPr lang="tr-TR" sz="2400" dirty="0"/>
              <a:t>Cihaz kurulumları tamamlandıktan sonra yüzeylerin </a:t>
            </a:r>
            <a:r>
              <a:rPr lang="tr-TR" sz="2400" b="1" dirty="0"/>
              <a:t>paslanmaz çelik kaplama</a:t>
            </a:r>
            <a:r>
              <a:rPr lang="tr-TR" sz="2400" dirty="0"/>
              <a:t> ile korunması gerekir.</a:t>
            </a:r>
          </a:p>
          <a:p>
            <a:pPr lvl="1"/>
            <a:r>
              <a:rPr lang="tr-TR" sz="2400" dirty="0"/>
              <a:t>Bu uygulama, </a:t>
            </a:r>
            <a:r>
              <a:rPr lang="tr-TR" sz="2400" b="1" dirty="0"/>
              <a:t>steril ortamın sürekliliğini</a:t>
            </a:r>
            <a:r>
              <a:rPr lang="tr-TR" sz="2400" dirty="0"/>
              <a:t> sağlar ve </a:t>
            </a:r>
            <a:r>
              <a:rPr lang="tr-TR" sz="2400" b="1" dirty="0"/>
              <a:t>korozyon, partikül birikimi</a:t>
            </a:r>
            <a:r>
              <a:rPr lang="tr-TR" sz="2400" dirty="0"/>
              <a:t> gibi riskleri önler.</a:t>
            </a:r>
          </a:p>
          <a:p>
            <a:r>
              <a:rPr lang="tr-TR" sz="2400" b="1" dirty="0"/>
              <a:t>2. İş Akışı Tasarımı – Tek Yönlü Akış:</a:t>
            </a:r>
            <a:endParaRPr lang="tr-TR" sz="2400" dirty="0"/>
          </a:p>
          <a:p>
            <a:pPr lvl="1"/>
            <a:r>
              <a:rPr lang="tr-TR" sz="2400" dirty="0"/>
              <a:t>MSÜ içinde </a:t>
            </a:r>
            <a:r>
              <a:rPr lang="tr-TR" sz="2400" b="1" dirty="0"/>
              <a:t>tek yönlü malzeme akışı</a:t>
            </a:r>
            <a:r>
              <a:rPr lang="tr-TR" sz="2400" dirty="0"/>
              <a:t> olmalıdır.</a:t>
            </a:r>
          </a:p>
          <a:p>
            <a:pPr lvl="1"/>
            <a:r>
              <a:rPr lang="tr-TR" sz="2400" dirty="0"/>
              <a:t>Kirli malzeme → temizleme → paketleme → sterilizasyon → depolama → dağıtım şeklinde bir yön izlenir.</a:t>
            </a:r>
          </a:p>
          <a:p>
            <a:pPr lvl="1"/>
            <a:r>
              <a:rPr lang="tr-TR" sz="2400" dirty="0"/>
              <a:t>Bu akışın tersine dönmemesi, </a:t>
            </a:r>
            <a:r>
              <a:rPr lang="tr-TR" sz="2400" b="1" dirty="0"/>
              <a:t>çapraz kontaminasyonu önleyen temel kuraldır</a:t>
            </a:r>
            <a:r>
              <a:rPr lang="tr-TR" sz="2400" dirty="0"/>
              <a:t>.</a:t>
            </a:r>
          </a:p>
          <a:p>
            <a:r>
              <a:rPr lang="tr-TR" sz="2400" b="1" dirty="0"/>
              <a:t>3. Alan Ayrımı ve Bariyerler:</a:t>
            </a:r>
            <a:endParaRPr lang="tr-TR" sz="2400" dirty="0"/>
          </a:p>
          <a:p>
            <a:pPr lvl="1"/>
            <a:r>
              <a:rPr lang="tr-TR" sz="2400" b="1" dirty="0"/>
              <a:t>Kirli, temiz ve steril alanlar</a:t>
            </a:r>
            <a:r>
              <a:rPr lang="tr-TR" sz="2400" dirty="0"/>
              <a:t>, </a:t>
            </a:r>
            <a:r>
              <a:rPr lang="tr-TR" sz="2400" b="1" dirty="0"/>
              <a:t>fiziksel bariyerlerle</a:t>
            </a:r>
            <a:r>
              <a:rPr lang="tr-TR" sz="2400" dirty="0"/>
              <a:t> birbirinden kesin biçimde ayrılmalıdır.</a:t>
            </a:r>
          </a:p>
          <a:p>
            <a:pPr lvl="1"/>
            <a:r>
              <a:rPr lang="tr-TR" sz="2400" dirty="0"/>
              <a:t>Bu ayrım; kapılar, pencereler ve geçiş tünelleriyle desteklenir.</a:t>
            </a:r>
          </a:p>
          <a:p>
            <a:pPr lvl="1"/>
            <a:r>
              <a:rPr lang="tr-TR" sz="2400" b="1" dirty="0"/>
              <a:t>Ara kapılar</a:t>
            </a:r>
            <a:r>
              <a:rPr lang="tr-TR" sz="2400" dirty="0"/>
              <a:t> yalnızca </a:t>
            </a:r>
            <a:r>
              <a:rPr lang="tr-TR" sz="2400" b="1" dirty="0"/>
              <a:t>zorunlu geçiş anlarında açılmalı</a:t>
            </a:r>
            <a:r>
              <a:rPr lang="tr-TR" sz="2400" dirty="0"/>
              <a:t>, diğer zamanlarda </a:t>
            </a:r>
            <a:r>
              <a:rPr lang="tr-TR" sz="2400" b="1" dirty="0"/>
              <a:t>kapalı tutulmalıdır</a:t>
            </a:r>
            <a:r>
              <a:rPr lang="tr-T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3866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0CBA-0A86-220A-7CA1-3F04EB20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91D8BF52-B766-E1D8-2F10-946898518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214DDBD-5E98-D166-93FD-EF4540344CD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74F21317-EF3D-94A5-3439-597BA883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14</a:t>
            </a:fld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E6B0C39-96CC-C18D-D67A-91B4E2B353F0}"/>
              </a:ext>
            </a:extLst>
          </p:cNvPr>
          <p:cNvSpPr txBox="1"/>
          <p:nvPr/>
        </p:nvSpPr>
        <p:spPr>
          <a:xfrm>
            <a:off x="4378036" y="2078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F83FD2B-50AC-AF26-4877-D42614A88B27}"/>
              </a:ext>
            </a:extLst>
          </p:cNvPr>
          <p:cNvSpPr txBox="1"/>
          <p:nvPr/>
        </p:nvSpPr>
        <p:spPr>
          <a:xfrm>
            <a:off x="1289537" y="1052684"/>
            <a:ext cx="1053318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4. Konumlandırma:</a:t>
            </a:r>
            <a:endParaRPr lang="tr-TR" sz="3200" dirty="0"/>
          </a:p>
          <a:p>
            <a:pPr lvl="1"/>
            <a:r>
              <a:rPr lang="tr-TR" sz="3200" dirty="0"/>
              <a:t>MSÜ, </a:t>
            </a:r>
            <a:r>
              <a:rPr lang="tr-TR" sz="3200" b="1" dirty="0"/>
              <a:t>hastanedeki tüm klinik bölümlere ulaşımı kolay</a:t>
            </a:r>
            <a:r>
              <a:rPr lang="tr-TR" sz="3200" dirty="0"/>
              <a:t> bir konumda olmalıdır.</a:t>
            </a:r>
          </a:p>
          <a:p>
            <a:pPr lvl="1"/>
            <a:r>
              <a:rPr lang="tr-TR" sz="3200" b="1" dirty="0"/>
              <a:t>Malzeme transferi</a:t>
            </a:r>
            <a:r>
              <a:rPr lang="tr-TR" sz="3200" dirty="0"/>
              <a:t> açısından merkezi bir lokasyon, zaman kaybını ve lojistik zorlukları azaltır.</a:t>
            </a:r>
          </a:p>
          <a:p>
            <a:r>
              <a:rPr lang="tr-TR" sz="3200" b="1" dirty="0"/>
              <a:t>5. Ameliyathane ile İlişki:</a:t>
            </a:r>
            <a:endParaRPr lang="tr-TR" sz="3200" dirty="0"/>
          </a:p>
          <a:p>
            <a:pPr lvl="1"/>
            <a:r>
              <a:rPr lang="tr-TR" sz="3200" dirty="0"/>
              <a:t>Yönetsel olarak MSÜ, </a:t>
            </a:r>
            <a:r>
              <a:rPr lang="tr-TR" sz="3200" b="1" dirty="0"/>
              <a:t>ameliyathaneden bağımsız</a:t>
            </a:r>
            <a:r>
              <a:rPr lang="tr-TR" sz="3200" dirty="0"/>
              <a:t> birim olmalıdır.</a:t>
            </a:r>
          </a:p>
          <a:p>
            <a:pPr lvl="1"/>
            <a:r>
              <a:rPr lang="tr-TR" sz="3200" dirty="0"/>
              <a:t>Ancak </a:t>
            </a:r>
            <a:r>
              <a:rPr lang="tr-TR" sz="3200" b="1" dirty="0"/>
              <a:t>işlevsel olarak yakın konumda bulunması</a:t>
            </a:r>
            <a:r>
              <a:rPr lang="tr-TR" sz="3200" dirty="0"/>
              <a:t>, steril malzeme akışı açısından büyük avantaj sağlar.</a:t>
            </a:r>
          </a:p>
        </p:txBody>
      </p:sp>
    </p:spTree>
    <p:extLst>
      <p:ext uri="{BB962C8B-B14F-4D97-AF65-F5344CB8AC3E}">
        <p14:creationId xmlns:p14="http://schemas.microsoft.com/office/powerpoint/2010/main" val="299417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6246AA6F-09A4-A245-4BAF-F1BE289F5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661242"/>
              </p:ext>
            </p:extLst>
          </p:nvPr>
        </p:nvGraphicFramePr>
        <p:xfrm>
          <a:off x="1313288" y="4952051"/>
          <a:ext cx="10515600" cy="1463040"/>
        </p:xfrm>
        <a:graphic>
          <a:graphicData uri="http://schemas.openxmlformats.org/drawingml/2006/table">
            <a:tbl>
              <a:tblPr/>
              <a:tblGrid>
                <a:gridCol w="2427439">
                  <a:extLst>
                    <a:ext uri="{9D8B030D-6E8A-4147-A177-3AD203B41FA5}">
                      <a16:colId xmlns:a16="http://schemas.microsoft.com/office/drawing/2014/main" val="2938871548"/>
                    </a:ext>
                  </a:extLst>
                </a:gridCol>
                <a:gridCol w="3182587">
                  <a:extLst>
                    <a:ext uri="{9D8B030D-6E8A-4147-A177-3AD203B41FA5}">
                      <a16:colId xmlns:a16="http://schemas.microsoft.com/office/drawing/2014/main" val="3111399647"/>
                    </a:ext>
                  </a:extLst>
                </a:gridCol>
                <a:gridCol w="4905574">
                  <a:extLst>
                    <a:ext uri="{9D8B030D-6E8A-4147-A177-3AD203B41FA5}">
                      <a16:colId xmlns:a16="http://schemas.microsoft.com/office/drawing/2014/main" val="21429244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Hastane Kapasitesi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Alan Hesaplama Kriteri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Örnek Hesaplama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96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0–300 yatak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Yatak başına </a:t>
                      </a:r>
                      <a:r>
                        <a:rPr lang="tr-TR" b="1"/>
                        <a:t>0.7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300 yataklı hastane → 300 × 0.7 = </a:t>
                      </a:r>
                      <a:r>
                        <a:rPr lang="tr-TR" b="1"/>
                        <a:t>210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492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300–600 yatak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Yatak başına </a:t>
                      </a:r>
                      <a:r>
                        <a:rPr lang="tr-TR" b="1"/>
                        <a:t>0.6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500 yataklı hastane → 500 × 0.6 = </a:t>
                      </a:r>
                      <a:r>
                        <a:rPr lang="tr-TR" b="1"/>
                        <a:t>300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52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600+ yatak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Yatak başına </a:t>
                      </a:r>
                      <a:r>
                        <a:rPr lang="tr-TR" b="1"/>
                        <a:t>0.5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800 yataklı hastane → 800 × 0.5 = </a:t>
                      </a:r>
                      <a:r>
                        <a:rPr lang="tr-TR" b="1" dirty="0"/>
                        <a:t>400 m²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84339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8325FB6-2D20-8553-C645-D43658F3B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283" y="409532"/>
            <a:ext cx="10705605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3200" b="1" dirty="0"/>
              <a:t>MSÜ Alan Gereksinimleri ve Kapasite Planlaması</a:t>
            </a:r>
          </a:p>
          <a:p>
            <a:pPr>
              <a:lnSpc>
                <a:spcPct val="150000"/>
              </a:lnSpc>
            </a:pPr>
            <a:r>
              <a:rPr lang="tr-TR" b="1" dirty="0"/>
              <a:t>1. Minimum Alan Standardı: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tr-TR" dirty="0"/>
              <a:t>Bir MSÜ’nün toplam alanı, hastanenin kapasitesine bağlı olarak değişmekle birlikte, </a:t>
            </a:r>
            <a:r>
              <a:rPr lang="tr-TR" b="1" dirty="0"/>
              <a:t>en az 200 m²</a:t>
            </a:r>
            <a:r>
              <a:rPr lang="tr-TR" dirty="0"/>
              <a:t> olmalıdır.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Bu büyüklük, sterilizasyon döngüsünün kesintisiz işlemesi, malzeme akışının düzenli yürütülmesi ve personel güvenliği açısından </a:t>
            </a:r>
            <a:r>
              <a:rPr lang="tr-TR" b="1" dirty="0"/>
              <a:t>alt sınır</a:t>
            </a:r>
            <a:r>
              <a:rPr lang="tr-TR" dirty="0"/>
              <a:t> kabul edilir.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Bir MSÜ’nün toplam alanı, hastanenin kapasitesine bağlı olarak değişmekle birlikte, 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 az 200 m²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olmalıdır.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 büyüklük, sterilizasyon döngüsünün kesintisiz işlemesi, malzeme akışının düzenli yürütülmesi ve personel güvenliği açısından 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alt sınır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kabul edilir.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Yatak Sayısına Göre Alan Hesaplaması: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MSÜ alanı, hastanedeki yatak kapasitesi dikkate alınarak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aşağıdaki şekilde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belirlenir: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655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965756"/>
            <a:ext cx="10533185" cy="5390594"/>
          </a:xfrm>
        </p:spPr>
        <p:txBody>
          <a:bodyPr>
            <a:normAutofit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400" b="1" dirty="0">
                <a:latin typeface="Arial" panose="020B0604020202020204" pitchFamily="34" charset="0"/>
              </a:rPr>
              <a:t>2. Yatak Sayısına Göre Alan Hesaplaması: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tr-TR" sz="2400" dirty="0">
                <a:latin typeface="Arial" panose="020B0604020202020204" pitchFamily="34" charset="0"/>
              </a:rPr>
              <a:t>MSÜ alanı, hastanedeki yatak kapasitesi dikkate alınarak </a:t>
            </a:r>
            <a:r>
              <a:rPr lang="tr-TR" altLang="tr-TR" sz="2400" b="1" dirty="0">
                <a:latin typeface="Arial" panose="020B0604020202020204" pitchFamily="34" charset="0"/>
              </a:rPr>
              <a:t>aşağıdaki şekilde</a:t>
            </a:r>
            <a:r>
              <a:rPr lang="tr-TR" altLang="tr-TR" sz="2400" dirty="0">
                <a:latin typeface="Arial" panose="020B0604020202020204" pitchFamily="34" charset="0"/>
              </a:rPr>
              <a:t> belirlenir: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400" b="1" dirty="0">
                <a:latin typeface="Arial" panose="020B0604020202020204" pitchFamily="34" charset="0"/>
              </a:rPr>
              <a:t>3. Planlamanın Önemi:</a:t>
            </a:r>
            <a:endParaRPr lang="tr-TR" altLang="tr-TR" sz="24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tr-TR" sz="2400" dirty="0">
                <a:latin typeface="Arial" panose="020B0604020202020204" pitchFamily="34" charset="0"/>
              </a:rPr>
              <a:t>Bu hesaplama, </a:t>
            </a:r>
            <a:r>
              <a:rPr lang="tr-TR" altLang="tr-TR" sz="2400" b="1" dirty="0">
                <a:latin typeface="Arial" panose="020B0604020202020204" pitchFamily="34" charset="0"/>
              </a:rPr>
              <a:t>iş yükü, cihaz kapasitesi ve personel sayısına göre</a:t>
            </a:r>
            <a:r>
              <a:rPr lang="tr-TR" altLang="tr-TR" sz="2400" dirty="0">
                <a:latin typeface="Arial" panose="020B0604020202020204" pitchFamily="34" charset="0"/>
              </a:rPr>
              <a:t> optimize edilmelidir.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tr-TR" sz="2400" dirty="0">
                <a:latin typeface="Arial" panose="020B0604020202020204" pitchFamily="34" charset="0"/>
              </a:rPr>
              <a:t>Gereğinden küçük alanlar; </a:t>
            </a:r>
            <a:r>
              <a:rPr lang="tr-TR" altLang="tr-TR" sz="2400" b="1" dirty="0">
                <a:latin typeface="Arial" panose="020B0604020202020204" pitchFamily="34" charset="0"/>
              </a:rPr>
              <a:t>yoğunluk, karışıklık ve kontaminasyon riski</a:t>
            </a:r>
            <a:r>
              <a:rPr lang="tr-TR" altLang="tr-TR" sz="2400" dirty="0">
                <a:latin typeface="Arial" panose="020B0604020202020204" pitchFamily="34" charset="0"/>
              </a:rPr>
              <a:t> doğurur.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tr-TR" sz="2400" dirty="0">
                <a:latin typeface="Arial" panose="020B0604020202020204" pitchFamily="34" charset="0"/>
              </a:rPr>
              <a:t>Aşırı büyük alanlar ise </a:t>
            </a:r>
            <a:r>
              <a:rPr lang="tr-TR" altLang="tr-TR" sz="2400" b="1" dirty="0">
                <a:latin typeface="Arial" panose="020B0604020202020204" pitchFamily="34" charset="0"/>
              </a:rPr>
              <a:t>enerji ve bakım maliyetlerini artırır</a:t>
            </a:r>
            <a:r>
              <a:rPr lang="tr-TR" altLang="tr-TR" sz="24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dirty="0">
              <a:latin typeface="Arial" panose="020B0604020202020204" pitchFamily="34" charset="0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C779F696-9834-BCD0-C052-B2618D44A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9337"/>
              </p:ext>
            </p:extLst>
          </p:nvPr>
        </p:nvGraphicFramePr>
        <p:xfrm>
          <a:off x="1381903" y="2142484"/>
          <a:ext cx="10515600" cy="1463040"/>
        </p:xfrm>
        <a:graphic>
          <a:graphicData uri="http://schemas.openxmlformats.org/drawingml/2006/table">
            <a:tbl>
              <a:tblPr/>
              <a:tblGrid>
                <a:gridCol w="2118680">
                  <a:extLst>
                    <a:ext uri="{9D8B030D-6E8A-4147-A177-3AD203B41FA5}">
                      <a16:colId xmlns:a16="http://schemas.microsoft.com/office/drawing/2014/main" val="2392340959"/>
                    </a:ext>
                  </a:extLst>
                </a:gridCol>
                <a:gridCol w="2555833">
                  <a:extLst>
                    <a:ext uri="{9D8B030D-6E8A-4147-A177-3AD203B41FA5}">
                      <a16:colId xmlns:a16="http://schemas.microsoft.com/office/drawing/2014/main" val="1930917868"/>
                    </a:ext>
                  </a:extLst>
                </a:gridCol>
                <a:gridCol w="5841087">
                  <a:extLst>
                    <a:ext uri="{9D8B030D-6E8A-4147-A177-3AD203B41FA5}">
                      <a16:colId xmlns:a16="http://schemas.microsoft.com/office/drawing/2014/main" val="154778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Hastane Kapasitesi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Alan Hesaplama Kriteri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Örnek Hesaplama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02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0–300 yatak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Yatak başına </a:t>
                      </a:r>
                      <a:r>
                        <a:rPr lang="tr-TR" b="1"/>
                        <a:t>0.7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300 yataklı hastane → 300 × 0.7 = </a:t>
                      </a:r>
                      <a:r>
                        <a:rPr lang="tr-TR" b="1"/>
                        <a:t>210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49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300–600 yatak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Yatak başına </a:t>
                      </a:r>
                      <a:r>
                        <a:rPr lang="tr-TR" b="1" dirty="0"/>
                        <a:t>0.6 m²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500 yataklı hastane → 500 × 0.6 = </a:t>
                      </a:r>
                      <a:r>
                        <a:rPr lang="tr-TR" b="1"/>
                        <a:t>300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64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600+ yatak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Yatak başına </a:t>
                      </a:r>
                      <a:r>
                        <a:rPr lang="tr-TR" b="1"/>
                        <a:t>0.5 m²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800 yataklı hastane → 800 × 0.5 = </a:t>
                      </a:r>
                      <a:r>
                        <a:rPr lang="tr-TR" b="1" dirty="0"/>
                        <a:t>400 m²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490025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494086AE-F42F-3814-3D00-25C93CFD5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538" y="56872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918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325164" y="253524"/>
            <a:ext cx="10533185" cy="2606786"/>
          </a:xfrm>
        </p:spPr>
        <p:txBody>
          <a:bodyPr>
            <a:normAutofit/>
          </a:bodyPr>
          <a:lstStyle/>
          <a:p>
            <a:r>
              <a:rPr lang="tr-TR" sz="2400" b="1" dirty="0"/>
              <a:t>MSÜ Alanları ve Renk Kodlu Akış Düzeni</a:t>
            </a:r>
          </a:p>
          <a:p>
            <a:pPr lvl="1"/>
            <a:r>
              <a:rPr lang="tr-TR" sz="2000" b="1" dirty="0"/>
              <a:t>1. Akış Yönü:</a:t>
            </a:r>
            <a:br>
              <a:rPr lang="tr-TR" sz="2000" dirty="0"/>
            </a:br>
            <a:r>
              <a:rPr lang="tr-TR" sz="2000" dirty="0"/>
              <a:t>MSÜ’ye teslim edilen tıbbi cihazların akışı </a:t>
            </a:r>
            <a:r>
              <a:rPr lang="tr-TR" sz="2000" b="1" dirty="0"/>
              <a:t>tek yönlü olmalıdır</a:t>
            </a:r>
            <a:r>
              <a:rPr lang="tr-TR" sz="2000" dirty="0"/>
              <a:t> — bu, enfeksiyon kontrolü ve iş güvenliği açısından kritik bir ilkedir.</a:t>
            </a:r>
            <a:br>
              <a:rPr lang="tr-TR" sz="2000" dirty="0"/>
            </a:br>
            <a:r>
              <a:rPr lang="tr-TR" sz="2000" dirty="0"/>
              <a:t>Akış sırası:</a:t>
            </a:r>
            <a:br>
              <a:rPr lang="tr-TR" sz="2000" dirty="0"/>
            </a:br>
            <a:r>
              <a:rPr lang="tr-TR" sz="2000" dirty="0"/>
              <a:t>➡️ </a:t>
            </a:r>
            <a:r>
              <a:rPr lang="tr-TR" sz="2000" b="1" dirty="0"/>
              <a:t>Kirli alan → Temiz alan → Steril alan → Dağıtım</a:t>
            </a: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F5EE72F1-8BEE-3C98-5C4F-9738B6611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908454"/>
              </p:ext>
            </p:extLst>
          </p:nvPr>
        </p:nvGraphicFramePr>
        <p:xfrm>
          <a:off x="1587718" y="2202285"/>
          <a:ext cx="10008076" cy="4351339"/>
        </p:xfrm>
        <a:graphic>
          <a:graphicData uri="http://schemas.openxmlformats.org/drawingml/2006/table">
            <a:tbl>
              <a:tblPr/>
              <a:tblGrid>
                <a:gridCol w="2502019">
                  <a:extLst>
                    <a:ext uri="{9D8B030D-6E8A-4147-A177-3AD203B41FA5}">
                      <a16:colId xmlns:a16="http://schemas.microsoft.com/office/drawing/2014/main" val="4280171034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4251625046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3248774490"/>
                    </a:ext>
                  </a:extLst>
                </a:gridCol>
                <a:gridCol w="2502019">
                  <a:extLst>
                    <a:ext uri="{9D8B030D-6E8A-4147-A177-3AD203B41FA5}">
                      <a16:colId xmlns:a16="http://schemas.microsoft.com/office/drawing/2014/main" val="1530581972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Alan Türü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İşlevi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Renk Kodu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Açıklama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47820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 b="1"/>
                        <a:t>Kirli Alan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 dirty="0"/>
                        <a:t>Kullanılmış tıbbi cihazların teslim alındığı, yıkama ve dezenfeksiyonun yapıldığı bölümdür.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🔴 </a:t>
                      </a:r>
                      <a:r>
                        <a:rPr lang="tr-TR" sz="1700" b="1"/>
                        <a:t>Kırmızı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Enfekte materyallerin bulunduğu yüksek riskli alandır.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283398"/>
                  </a:ext>
                </a:extLst>
              </a:tr>
              <a:tr h="1131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 b="1"/>
                        <a:t>Temiz Alan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Kurutma, kontrol ve paketleme işlemlerinin gerçekleştirildiği bölümdür.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🔵 </a:t>
                      </a:r>
                      <a:r>
                        <a:rPr lang="tr-TR" sz="1700" b="1"/>
                        <a:t>Mavi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Bu alanda sterilizasyon öncesi hazırlık yapılır.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546269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 b="1"/>
                        <a:t>Steril Alan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Sterilizasyon sonrası malzemelerin depolandığı ve dağıtıldığı bölümdür.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🟢 </a:t>
                      </a:r>
                      <a:r>
                        <a:rPr lang="tr-TR" sz="1700" b="1"/>
                        <a:t>Yeşil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Steril malzemeler yalnızca bu alanda muhafaza edilir.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426439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 b="1"/>
                        <a:t>Destek Alanlar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Personel soyunma, dinlenme, idari ofis ve teknik odalardan oluşur.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/>
                        <a:t>🟡 </a:t>
                      </a:r>
                      <a:r>
                        <a:rPr lang="tr-TR" sz="1700" b="1"/>
                        <a:t>Sarı</a:t>
                      </a:r>
                      <a:endParaRPr lang="tr-TR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700" dirty="0"/>
                        <a:t>Bu alanlar steril akıştan bağımsız olarak tasarlanmalıdır.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740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66E9B-231F-E044-4A19-0BF375E6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180D481-9742-2F31-4622-43FDD7282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AAD6FF4-7CAA-E66A-28CB-5A9D87C3CC3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965756"/>
            <a:ext cx="10533185" cy="53905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400" dirty="0">
              <a:latin typeface="Arial" panose="020B0604020202020204" pitchFamily="34" charset="0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CF72D1C-0DE1-8C79-90CC-098D96F0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563563D-A9E5-83F1-93F8-4CCC7858BA65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3012681-B04D-8CF9-6837-66F289A4C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538" y="56872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ED5483C-2B68-5742-5ACB-3D04D5B53EE4}"/>
              </a:ext>
            </a:extLst>
          </p:cNvPr>
          <p:cNvSpPr txBox="1"/>
          <p:nvPr/>
        </p:nvSpPr>
        <p:spPr>
          <a:xfrm>
            <a:off x="1241922" y="1198659"/>
            <a:ext cx="1062841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3200" b="1" dirty="0"/>
              <a:t>Özetle:</a:t>
            </a:r>
            <a:br>
              <a:rPr lang="tr-TR" sz="3200" dirty="0"/>
            </a:br>
            <a:r>
              <a:rPr lang="tr-TR" sz="3200" dirty="0"/>
              <a:t>MSÜ’nün alan düzeni </a:t>
            </a:r>
            <a:r>
              <a:rPr lang="tr-TR" sz="3200" b="1" dirty="0"/>
              <a:t>renk kodlarıyla net olarak tanımlandığında</a:t>
            </a:r>
            <a:r>
              <a:rPr lang="tr-TR" sz="3200" dirty="0"/>
              <a:t>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sz="3200" dirty="0"/>
              <a:t>personel farkındalığı artar,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sz="3200" dirty="0"/>
              <a:t>yönlendirme ve temizlik süreçleri kolaylaşır,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sz="3200" dirty="0"/>
              <a:t>kontaminasyon riski azalır,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sz="3200" dirty="0"/>
              <a:t>hasta güvenliği güçlenir.</a:t>
            </a:r>
          </a:p>
        </p:txBody>
      </p:sp>
    </p:spTree>
    <p:extLst>
      <p:ext uri="{BB962C8B-B14F-4D97-AF65-F5344CB8AC3E}">
        <p14:creationId xmlns:p14="http://schemas.microsoft.com/office/powerpoint/2010/main" val="1550566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19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36437" y="1168589"/>
            <a:ext cx="9892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23" y="1527114"/>
            <a:ext cx="6201923" cy="463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97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408177" y="428178"/>
            <a:ext cx="1029590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/>
              <a:t>Kirli Alan – (Teslim Alma ve Yıkama Bölümü)</a:t>
            </a:r>
          </a:p>
          <a:p>
            <a:r>
              <a:rPr lang="tr-TR" sz="2400" b="1" dirty="0"/>
              <a:t>Tanım:</a:t>
            </a:r>
            <a:endParaRPr lang="tr-TR" sz="2400" dirty="0"/>
          </a:p>
          <a:p>
            <a:pPr lvl="1"/>
            <a:r>
              <a:rPr lang="tr-TR" sz="2400" dirty="0"/>
              <a:t>Kirli alan; kullanım sonrası tıbbi cihazların </a:t>
            </a:r>
            <a:r>
              <a:rPr lang="tr-TR" sz="2400" b="1" dirty="0"/>
              <a:t>ilk kabul edildiği, sınıflandırıldığı ve yıkandığı</a:t>
            </a:r>
            <a:r>
              <a:rPr lang="tr-TR" sz="2400" dirty="0"/>
              <a:t> bölümdür.</a:t>
            </a:r>
            <a:br>
              <a:rPr lang="tr-TR" sz="2400" dirty="0"/>
            </a:br>
            <a:r>
              <a:rPr lang="tr-TR" sz="2400" dirty="0"/>
              <a:t>Bu alan, sterilizasyon sürecinin başlangıç noktasıdır ve </a:t>
            </a:r>
            <a:r>
              <a:rPr lang="tr-TR" sz="2400" b="1" dirty="0"/>
              <a:t>en yüksek enfeksiyon riski taşıyan bölümdür.</a:t>
            </a:r>
            <a:endParaRPr lang="tr-TR" sz="2400" dirty="0"/>
          </a:p>
          <a:p>
            <a:br>
              <a:rPr lang="tr-TR" sz="2400" dirty="0"/>
            </a:br>
            <a:endParaRPr lang="tr-TR" sz="2400" dirty="0"/>
          </a:p>
          <a:p>
            <a:r>
              <a:rPr lang="tr-TR" sz="2400" b="1" dirty="0"/>
              <a:t>Temel Özellikler:</a:t>
            </a:r>
          </a:p>
          <a:p>
            <a:pPr lvl="1"/>
            <a:r>
              <a:rPr lang="tr-TR" sz="2400" dirty="0"/>
              <a:t>Kullanım alanlarından (ameliyathane, yoğun bakım, klinikler vb.) gelen cihazlar </a:t>
            </a:r>
            <a:r>
              <a:rPr lang="tr-TR" sz="2400" b="1" dirty="0"/>
              <a:t>burada teslim alınır</a:t>
            </a:r>
            <a:r>
              <a:rPr lang="tr-TR" sz="2400" dirty="0"/>
              <a:t>.</a:t>
            </a:r>
          </a:p>
          <a:p>
            <a:pPr lvl="1"/>
            <a:r>
              <a:rPr lang="tr-TR" sz="2400" dirty="0"/>
              <a:t>Her cihaz, türüne ve kirlilik derecesine göre </a:t>
            </a:r>
            <a:r>
              <a:rPr lang="tr-TR" sz="2400" b="1" dirty="0"/>
              <a:t>ön sınıflandırmadan</a:t>
            </a:r>
            <a:r>
              <a:rPr lang="tr-TR" sz="2400" dirty="0"/>
              <a:t> geçirilir.</a:t>
            </a:r>
          </a:p>
          <a:p>
            <a:pPr lvl="1"/>
            <a:r>
              <a:rPr lang="tr-TR" sz="2400" b="1" dirty="0"/>
              <a:t>Taşıma arabaları da</a:t>
            </a:r>
            <a:r>
              <a:rPr lang="tr-TR" sz="2400" dirty="0"/>
              <a:t> bu alanda yıkanıp dezenfekte edilerek yeniden kullanıma hazırlanır.</a:t>
            </a:r>
          </a:p>
          <a:p>
            <a:pPr lvl="1"/>
            <a:r>
              <a:rPr lang="tr-TR" sz="2400" dirty="0"/>
              <a:t>Bu alan, </a:t>
            </a:r>
            <a:r>
              <a:rPr lang="tr-TR" sz="2400" b="1" dirty="0"/>
              <a:t>temiz ve steril alanlardan kesin biçimde fiziksel olarak ayrılmış</a:t>
            </a:r>
            <a:r>
              <a:rPr lang="tr-TR" sz="2400" dirty="0"/>
              <a:t> olmalıdır (duvar, bariyer, geçiş kontrolü vb.).</a:t>
            </a:r>
          </a:p>
        </p:txBody>
      </p:sp>
    </p:spTree>
    <p:extLst>
      <p:ext uri="{BB962C8B-B14F-4D97-AF65-F5344CB8AC3E}">
        <p14:creationId xmlns:p14="http://schemas.microsoft.com/office/powerpoint/2010/main" val="121466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D03A-F3C4-8716-7B3A-E4B85B73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AD1B2A7-E7EA-EBDA-6F9E-3EE05DBD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3" y="0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E474693-C8BC-E6DF-FE77-728488ABB4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E477051-F5EF-AD9B-3A5C-0809F6C4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743CD974-B15A-E04A-99BA-C6E21A998700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CFED8825-9C52-31C9-28C5-9B6C649EF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09901"/>
              </p:ext>
            </p:extLst>
          </p:nvPr>
        </p:nvGraphicFramePr>
        <p:xfrm>
          <a:off x="1408177" y="2566665"/>
          <a:ext cx="10515600" cy="2560320"/>
        </p:xfrm>
        <a:graphic>
          <a:graphicData uri="http://schemas.openxmlformats.org/drawingml/2006/table">
            <a:tbl>
              <a:tblPr/>
              <a:tblGrid>
                <a:gridCol w="4434483">
                  <a:extLst>
                    <a:ext uri="{9D8B030D-6E8A-4147-A177-3AD203B41FA5}">
                      <a16:colId xmlns:a16="http://schemas.microsoft.com/office/drawing/2014/main" val="1569657240"/>
                    </a:ext>
                  </a:extLst>
                </a:gridCol>
                <a:gridCol w="6081117">
                  <a:extLst>
                    <a:ext uri="{9D8B030D-6E8A-4147-A177-3AD203B41FA5}">
                      <a16:colId xmlns:a16="http://schemas.microsoft.com/office/drawing/2014/main" val="1046270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Ekipman / Gereç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İşlevi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746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Tezgâhlar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Cihazların sayımı, kontrolü ve ön işlemlerinin yapılması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35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Yıkama Lavaboları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Manuel yıkama ve durulama işlemleri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286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Hava – Su Tabancaları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Cihazların iç ve dış yüzeylerinin basınçlı temizliği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4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Ultrasonik Yıkayıcılar</a:t>
                      </a:r>
                      <a:r>
                        <a:rPr lang="tr-TR"/>
                        <a:t> </a:t>
                      </a:r>
                      <a:r>
                        <a:rPr lang="tr-TR" i="1"/>
                        <a:t>(tercihen asansörlü)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Karmaşık yapılı aletlerde detaylı temizlik sağlar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0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Yıkayıcı-Dezenfektörler</a:t>
                      </a:r>
                      <a:r>
                        <a:rPr lang="tr-TR"/>
                        <a:t> </a:t>
                      </a:r>
                      <a:r>
                        <a:rPr lang="tr-TR" i="1"/>
                        <a:t>(tercihen çift kapılı)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Otomatik yıkama ve dezenfeksiyon döngüsünü tamamlar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12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El Yıkama Lavaboları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Personelin el hijyenini sağlar; uygun konumda bulunmalıdır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8991"/>
                  </a:ext>
                </a:extLst>
              </a:tr>
            </a:tbl>
          </a:graphicData>
        </a:graphic>
      </p:graphicFrame>
      <p:sp>
        <p:nvSpPr>
          <p:cNvPr id="9" name="Metin kutusu 8">
            <a:extLst>
              <a:ext uri="{FF2B5EF4-FFF2-40B4-BE49-F238E27FC236}">
                <a16:creationId xmlns:a16="http://schemas.microsoft.com/office/drawing/2014/main" id="{1D1BC901-B4E5-4305-00F6-F57B83555F9A}"/>
              </a:ext>
            </a:extLst>
          </p:cNvPr>
          <p:cNvSpPr txBox="1"/>
          <p:nvPr/>
        </p:nvSpPr>
        <p:spPr>
          <a:xfrm>
            <a:off x="1408176" y="1252850"/>
            <a:ext cx="79733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/>
              <a:t>Kirli Alanda Bulunması Gereken Donanımlar</a:t>
            </a:r>
          </a:p>
        </p:txBody>
      </p:sp>
    </p:spTree>
    <p:extLst>
      <p:ext uri="{BB962C8B-B14F-4D97-AF65-F5344CB8AC3E}">
        <p14:creationId xmlns:p14="http://schemas.microsoft.com/office/powerpoint/2010/main" val="3396522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2CE3-578A-9F0E-65EF-ECD11C46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D79BC9F-25C0-7095-2C6F-B510970B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0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AE76556-1F3E-B7AC-A69B-9DE7A743EED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0171991-9FEA-8F2F-3D3B-79BC7B9A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F65A29B-1924-267B-2A97-E9F7F738263E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0BABD142-4E93-481E-263A-F4BB0D6AD1C6}"/>
              </a:ext>
            </a:extLst>
          </p:cNvPr>
          <p:cNvSpPr txBox="1"/>
          <p:nvPr/>
        </p:nvSpPr>
        <p:spPr>
          <a:xfrm>
            <a:off x="1408177" y="1227760"/>
            <a:ext cx="102959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/>
              <a:t>⚠️ Kritik İlkeler:</a:t>
            </a:r>
          </a:p>
          <a:p>
            <a:r>
              <a:rPr lang="tr-TR" sz="3600" dirty="0"/>
              <a:t>Kirli alanın </a:t>
            </a:r>
            <a:r>
              <a:rPr lang="tr-TR" sz="3600" b="1" dirty="0"/>
              <a:t>havalandırması</a:t>
            </a:r>
            <a:r>
              <a:rPr lang="tr-TR" sz="3600" dirty="0"/>
              <a:t>, negatif basınçla çalışmalıdır; bu, kirli havanın temiz bölgelere geçişini önler.</a:t>
            </a:r>
          </a:p>
          <a:p>
            <a:r>
              <a:rPr lang="tr-TR" sz="3600" b="1" dirty="0"/>
              <a:t>Alan sınırları belirgin olmalı</a:t>
            </a:r>
            <a:r>
              <a:rPr lang="tr-TR" sz="3600" dirty="0"/>
              <a:t>, sadece yetkili personel giriş yapmalıdır.</a:t>
            </a:r>
          </a:p>
          <a:p>
            <a:r>
              <a:rPr lang="tr-TR" sz="3600" dirty="0"/>
              <a:t>Bu bölüm, </a:t>
            </a:r>
            <a:r>
              <a:rPr lang="tr-TR" sz="3600" b="1" dirty="0"/>
              <a:t>MSÜ’nün en fazla temizlik sıklığı gerektiren</a:t>
            </a:r>
            <a:r>
              <a:rPr lang="tr-TR" sz="3600" dirty="0"/>
              <a:t> alanıdır.</a:t>
            </a:r>
          </a:p>
        </p:txBody>
      </p:sp>
    </p:spTree>
    <p:extLst>
      <p:ext uri="{BB962C8B-B14F-4D97-AF65-F5344CB8AC3E}">
        <p14:creationId xmlns:p14="http://schemas.microsoft.com/office/powerpoint/2010/main" val="424097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499" y="1186983"/>
            <a:ext cx="5547001" cy="4484034"/>
          </a:xfrm>
          <a:prstGeom prst="rect">
            <a:avLst/>
          </a:prstGeom>
        </p:spPr>
      </p:pic>
      <p:sp>
        <p:nvSpPr>
          <p:cNvPr id="9" name="Metin kutusu 8"/>
          <p:cNvSpPr txBox="1"/>
          <p:nvPr/>
        </p:nvSpPr>
        <p:spPr>
          <a:xfrm>
            <a:off x="5528878" y="5470962"/>
            <a:ext cx="1157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Kirli alan</a:t>
            </a:r>
          </a:p>
        </p:txBody>
      </p:sp>
    </p:spTree>
    <p:extLst>
      <p:ext uri="{BB962C8B-B14F-4D97-AF65-F5344CB8AC3E}">
        <p14:creationId xmlns:p14="http://schemas.microsoft.com/office/powerpoint/2010/main" val="525807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933" y="1920053"/>
            <a:ext cx="5644924" cy="3899995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8093271" y="3627981"/>
            <a:ext cx="2460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Göz yıkama istasyonu</a:t>
            </a: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271" y="1083776"/>
            <a:ext cx="2941200" cy="2496134"/>
          </a:xfrm>
          <a:prstGeom prst="rect">
            <a:avLst/>
          </a:prstGeom>
        </p:spPr>
      </p:pic>
      <p:sp>
        <p:nvSpPr>
          <p:cNvPr id="11" name="Dikdörtgen 10"/>
          <p:cNvSpPr/>
          <p:nvPr/>
        </p:nvSpPr>
        <p:spPr>
          <a:xfrm>
            <a:off x="2609724" y="5950920"/>
            <a:ext cx="3486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Koruyucu bariyerli yıkama lavabosu</a:t>
            </a:r>
          </a:p>
        </p:txBody>
      </p:sp>
    </p:spTree>
    <p:extLst>
      <p:ext uri="{BB962C8B-B14F-4D97-AF65-F5344CB8AC3E}">
        <p14:creationId xmlns:p14="http://schemas.microsoft.com/office/powerpoint/2010/main" val="524054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553357" y="775527"/>
            <a:ext cx="10269365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200" b="1" dirty="0"/>
              <a:t>Temiz Alan – (Kontrol, Bakım ve Paketleme Bölümü)</a:t>
            </a:r>
          </a:p>
          <a:p>
            <a:r>
              <a:rPr lang="tr-TR" b="1" dirty="0"/>
              <a:t>Tanım:</a:t>
            </a:r>
            <a:br>
              <a:rPr lang="tr-TR" dirty="0"/>
            </a:br>
            <a:r>
              <a:rPr lang="tr-TR" dirty="0"/>
              <a:t>Temiz alan; </a:t>
            </a:r>
            <a:r>
              <a:rPr lang="tr-TR" b="1" dirty="0"/>
              <a:t>yıkanmış ve dezenfekte edilmiş</a:t>
            </a:r>
            <a:r>
              <a:rPr lang="tr-TR" dirty="0"/>
              <a:t> tıbbi cihazların </a:t>
            </a:r>
            <a:r>
              <a:rPr lang="tr-TR" b="1" dirty="0"/>
              <a:t>kontrol, fonksiyon testi, bakımı ve paketlenmesi</a:t>
            </a:r>
            <a:r>
              <a:rPr lang="tr-TR" dirty="0"/>
              <a:t> işlemlerinin gerçekleştirildiği bölümdür.</a:t>
            </a:r>
            <a:br>
              <a:rPr lang="tr-TR" dirty="0"/>
            </a:br>
            <a:r>
              <a:rPr lang="tr-TR" dirty="0"/>
              <a:t>Bu alan, sterilizasyon işlemine geçmeden önceki </a:t>
            </a:r>
            <a:r>
              <a:rPr lang="tr-TR" b="1" dirty="0"/>
              <a:t>hazırlık aşamasını</a:t>
            </a:r>
            <a:r>
              <a:rPr lang="tr-TR" dirty="0"/>
              <a:t> temsil eder ve sterilizasyonun etkinliğini doğrudan etkiler.</a:t>
            </a:r>
          </a:p>
          <a:p>
            <a:br>
              <a:rPr lang="tr-TR" dirty="0"/>
            </a:br>
            <a:r>
              <a:rPr lang="tr-TR" b="1" dirty="0"/>
              <a:t>Temiz Alanın Özellikleri:</a:t>
            </a:r>
          </a:p>
          <a:p>
            <a:pPr lvl="1"/>
            <a:r>
              <a:rPr lang="tr-TR" b="1" dirty="0"/>
              <a:t>Hava Kalitesi ve Standartlar:</a:t>
            </a:r>
            <a:endParaRPr lang="tr-TR" dirty="0"/>
          </a:p>
          <a:p>
            <a:pPr lvl="2"/>
            <a:r>
              <a:rPr lang="tr-TR" dirty="0"/>
              <a:t>Ortamın, </a:t>
            </a:r>
            <a:r>
              <a:rPr lang="tr-TR" b="1" dirty="0"/>
              <a:t>ISO 8 temiz oda kriterlerine</a:t>
            </a:r>
            <a:r>
              <a:rPr lang="tr-TR" dirty="0"/>
              <a:t> (ISO 14644 standardı) uygun olması önerilir.</a:t>
            </a:r>
          </a:p>
          <a:p>
            <a:pPr lvl="2"/>
            <a:r>
              <a:rPr lang="tr-TR" dirty="0"/>
              <a:t>Bu sınıf, havadaki partikül yoğunluğunu sınırlandırarak </a:t>
            </a:r>
            <a:r>
              <a:rPr lang="tr-TR" b="1" dirty="0"/>
              <a:t>setlerin kontaminasyon riskini en aza indirir.</a:t>
            </a:r>
            <a:endParaRPr lang="tr-TR" dirty="0"/>
          </a:p>
          <a:p>
            <a:pPr lvl="1"/>
            <a:r>
              <a:rPr lang="tr-TR" b="1" dirty="0"/>
              <a:t>Ergonomik Tasarım:</a:t>
            </a:r>
            <a:endParaRPr lang="tr-TR" dirty="0"/>
          </a:p>
          <a:p>
            <a:pPr lvl="2"/>
            <a:r>
              <a:rPr lang="tr-TR" dirty="0"/>
              <a:t>Çalışan konforu ve verimliliği için </a:t>
            </a:r>
            <a:r>
              <a:rPr lang="tr-TR" b="1" dirty="0"/>
              <a:t>ergonomik tezgâhlar ve tabureler</a:t>
            </a:r>
            <a:r>
              <a:rPr lang="tr-TR" dirty="0"/>
              <a:t> bulunmalıdır.</a:t>
            </a:r>
          </a:p>
          <a:p>
            <a:pPr lvl="2"/>
            <a:r>
              <a:rPr lang="tr-TR" dirty="0"/>
              <a:t>Çalışma yüzeyleri </a:t>
            </a:r>
            <a:r>
              <a:rPr lang="tr-TR" b="1" dirty="0"/>
              <a:t>pürüzsüz</a:t>
            </a:r>
            <a:r>
              <a:rPr lang="tr-TR" dirty="0"/>
              <a:t>, </a:t>
            </a:r>
            <a:r>
              <a:rPr lang="tr-TR" b="1" dirty="0"/>
              <a:t>gözeneksiz</a:t>
            </a:r>
            <a:r>
              <a:rPr lang="tr-TR" dirty="0"/>
              <a:t>, </a:t>
            </a:r>
            <a:r>
              <a:rPr lang="tr-TR" b="1" dirty="0"/>
              <a:t>deterjan ve dezenfektanlara dayanıklı</a:t>
            </a:r>
            <a:r>
              <a:rPr lang="tr-TR" dirty="0"/>
              <a:t> olmalıdır.</a:t>
            </a:r>
          </a:p>
          <a:p>
            <a:pPr lvl="1"/>
            <a:r>
              <a:rPr lang="tr-TR" b="1" dirty="0"/>
              <a:t>Aydınlatma ve Görsel Kontrol Donanımı:</a:t>
            </a:r>
            <a:endParaRPr lang="tr-TR" dirty="0"/>
          </a:p>
          <a:p>
            <a:pPr lvl="2"/>
            <a:r>
              <a:rPr lang="tr-TR" b="1" dirty="0"/>
              <a:t>Yeterli aydınlatma</a:t>
            </a:r>
            <a:r>
              <a:rPr lang="tr-TR" dirty="0"/>
              <a:t> ve </a:t>
            </a:r>
            <a:r>
              <a:rPr lang="tr-TR" b="1" dirty="0"/>
              <a:t>ışıklı büyüteçler</a:t>
            </a:r>
            <a:r>
              <a:rPr lang="tr-TR" dirty="0"/>
              <a:t>, cihazların ayrıntılı görsel kontrolünü sağlar.</a:t>
            </a:r>
          </a:p>
          <a:p>
            <a:pPr lvl="2"/>
            <a:r>
              <a:rPr lang="tr-TR" dirty="0"/>
              <a:t>Bu sayede hem temizlik hem de mekanik bütünlük değerlendirilir.</a:t>
            </a:r>
          </a:p>
        </p:txBody>
      </p:sp>
    </p:spTree>
    <p:extLst>
      <p:ext uri="{BB962C8B-B14F-4D97-AF65-F5344CB8AC3E}">
        <p14:creationId xmlns:p14="http://schemas.microsoft.com/office/powerpoint/2010/main" val="1865181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C754-9CB7-E758-3540-D31A7BDFE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E657E7E-E2B6-5FDB-7843-E01D0BF67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EF7D1E5-F3A0-F3BB-8BAB-E4C6B171BF7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4582B02-1B24-80DD-725E-8E7BFBAB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26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2448A9C-4649-06F7-E00B-F28156ACA18B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A5E44C6E-00A2-D402-A1F3-680923816397}"/>
              </a:ext>
            </a:extLst>
          </p:cNvPr>
          <p:cNvSpPr/>
          <p:nvPr/>
        </p:nvSpPr>
        <p:spPr>
          <a:xfrm>
            <a:off x="1289539" y="775527"/>
            <a:ext cx="105331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4. Donanımlar ve Gereçler:</a:t>
            </a:r>
            <a:endParaRPr lang="tr-TR" sz="2400" dirty="0"/>
          </a:p>
          <a:p>
            <a:pPr lvl="1"/>
            <a:r>
              <a:rPr lang="tr-TR" sz="2400" b="1" dirty="0"/>
              <a:t>Kontrol tezgâhları</a:t>
            </a:r>
            <a:r>
              <a:rPr lang="tr-TR" sz="2400" dirty="0"/>
              <a:t> ve </a:t>
            </a:r>
            <a:r>
              <a:rPr lang="tr-TR" sz="2400" b="1" dirty="0"/>
              <a:t>fonksiyon test alanı</a:t>
            </a:r>
            <a:r>
              <a:rPr lang="tr-TR" sz="2400" dirty="0"/>
              <a:t> bulunmalıdır.</a:t>
            </a:r>
          </a:p>
          <a:p>
            <a:pPr lvl="1"/>
            <a:r>
              <a:rPr lang="tr-TR" sz="2400" b="1" dirty="0"/>
              <a:t>Tıbbi cihaz bakım ürünleri</a:t>
            </a:r>
            <a:r>
              <a:rPr lang="tr-TR" sz="2400" dirty="0"/>
              <a:t> (yağlayıcılar, test sıvıları, bakım solüsyonları) hazır bulundurulmalıdır.</a:t>
            </a:r>
          </a:p>
          <a:p>
            <a:pPr lvl="1"/>
            <a:r>
              <a:rPr lang="tr-TR" sz="2400" b="1" dirty="0"/>
              <a:t>Paketleme malzemeleri:</a:t>
            </a:r>
            <a:r>
              <a:rPr lang="tr-TR" sz="2400" dirty="0"/>
              <a:t> Sterilizasyon sargıları, poşetler, göstergeler vb.</a:t>
            </a:r>
          </a:p>
          <a:p>
            <a:pPr lvl="1"/>
            <a:r>
              <a:rPr lang="tr-TR" sz="2400" b="1" dirty="0"/>
              <a:t>Sterilizasyon cihazları:</a:t>
            </a:r>
            <a:endParaRPr lang="tr-TR" sz="2400" dirty="0"/>
          </a:p>
          <a:p>
            <a:pPr lvl="2"/>
            <a:r>
              <a:rPr lang="tr-TR" sz="2400" b="1" dirty="0"/>
              <a:t>Buhar sterilizatörleri (otoklavlar)</a:t>
            </a:r>
            <a:endParaRPr lang="tr-TR" sz="2400" dirty="0"/>
          </a:p>
          <a:p>
            <a:pPr lvl="2"/>
            <a:r>
              <a:rPr lang="tr-TR" sz="2400" b="1" dirty="0"/>
              <a:t>Düşük sıcaklık sterilizatörleri</a:t>
            </a:r>
            <a:r>
              <a:rPr lang="tr-TR" sz="2400" dirty="0"/>
              <a:t> (plazma, etilen oksit, formaldehit gibi)</a:t>
            </a:r>
          </a:p>
          <a:p>
            <a:br>
              <a:rPr lang="tr-TR" sz="2400" dirty="0"/>
            </a:br>
            <a:endParaRPr lang="tr-TR" sz="2400" dirty="0"/>
          </a:p>
          <a:p>
            <a:r>
              <a:rPr lang="tr-TR" sz="2400" b="1" dirty="0"/>
              <a:t>⚠️ Kritik Noktalar:</a:t>
            </a:r>
          </a:p>
          <a:p>
            <a:r>
              <a:rPr lang="tr-TR" sz="2400" dirty="0"/>
              <a:t>Temiz alan, </a:t>
            </a:r>
            <a:r>
              <a:rPr lang="tr-TR" sz="2400" b="1" dirty="0"/>
              <a:t>pozitif basınçlı</a:t>
            </a:r>
            <a:r>
              <a:rPr lang="tr-TR" sz="2400" dirty="0"/>
              <a:t> olmalıdır; böylece kirli alandan hava girişi engellenir.</a:t>
            </a:r>
          </a:p>
          <a:p>
            <a:r>
              <a:rPr lang="tr-TR" sz="2400" dirty="0"/>
              <a:t>Alan girişleri </a:t>
            </a:r>
            <a:r>
              <a:rPr lang="tr-TR" sz="2400" b="1" dirty="0"/>
              <a:t>personel hijyeni kontrolü</a:t>
            </a:r>
            <a:r>
              <a:rPr lang="tr-TR" sz="2400" dirty="0"/>
              <a:t> altındadır (örneğin el antisepsisi ve özel kıyafet değişimi).</a:t>
            </a:r>
          </a:p>
          <a:p>
            <a:r>
              <a:rPr lang="tr-TR" sz="2400" dirty="0"/>
              <a:t>Bu bölümde </a:t>
            </a:r>
            <a:r>
              <a:rPr lang="tr-TR" sz="2400" b="1" dirty="0"/>
              <a:t>setlerin etiketlenmesi ve izlenebilirlik kodlarının eklenmesi</a:t>
            </a:r>
            <a:r>
              <a:rPr lang="tr-TR" sz="2400" dirty="0"/>
              <a:t> de yapılır.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7238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289538" y="537269"/>
            <a:ext cx="1090246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Steril Malzeme Depolama Alanı – (Depo ve Teslim Bölümü)</a:t>
            </a:r>
          </a:p>
          <a:p>
            <a:r>
              <a:rPr lang="tr-TR" sz="2400" b="1" dirty="0"/>
              <a:t>Tanım:</a:t>
            </a:r>
            <a:br>
              <a:rPr lang="tr-TR" sz="2400" dirty="0"/>
            </a:br>
            <a:r>
              <a:rPr lang="tr-TR" sz="2400" dirty="0"/>
              <a:t>Steril malzeme depolama alanı, sterilizasyon işlemi tamamlanan tıbbi cihazların </a:t>
            </a:r>
            <a:r>
              <a:rPr lang="tr-TR" sz="2400" b="1" dirty="0"/>
              <a:t>sterilitesini koruyarak saklandığı</a:t>
            </a:r>
            <a:r>
              <a:rPr lang="tr-TR" sz="2400" dirty="0"/>
              <a:t> bölümdür.</a:t>
            </a:r>
            <a:br>
              <a:rPr lang="tr-TR" sz="2400" dirty="0"/>
            </a:br>
            <a:r>
              <a:rPr lang="tr-TR" sz="2400" dirty="0"/>
              <a:t>Bu alan, yalnızca </a:t>
            </a:r>
            <a:r>
              <a:rPr lang="tr-TR" sz="2400" b="1" dirty="0"/>
              <a:t>steril malzemelerin depolanması ve dağıtımı</a:t>
            </a:r>
            <a:r>
              <a:rPr lang="tr-TR" sz="2400" dirty="0"/>
              <a:t> amacıyla kullanılır ve </a:t>
            </a:r>
            <a:r>
              <a:rPr lang="tr-TR" sz="2400" b="1" dirty="0"/>
              <a:t>girişi sınırlandırılmıştır.</a:t>
            </a:r>
            <a:endParaRPr lang="tr-TR" sz="2400" dirty="0"/>
          </a:p>
          <a:p>
            <a:br>
              <a:rPr lang="tr-TR" sz="2400" dirty="0"/>
            </a:br>
            <a:r>
              <a:rPr lang="tr-TR" sz="2400" b="1" dirty="0"/>
              <a:t>Yerleşim ve Yapısal Özellikler:</a:t>
            </a:r>
          </a:p>
          <a:p>
            <a:pPr lvl="1"/>
            <a:r>
              <a:rPr lang="tr-TR" sz="2400" dirty="0"/>
              <a:t>Steril depolama alanı, </a:t>
            </a:r>
            <a:r>
              <a:rPr lang="tr-TR" sz="2400" b="1" dirty="0"/>
              <a:t>sterilizasyon bölümüne bitişik</a:t>
            </a:r>
            <a:r>
              <a:rPr lang="tr-TR" sz="2400" dirty="0"/>
              <a:t> olmalıdır.</a:t>
            </a:r>
            <a:br>
              <a:rPr lang="tr-TR" sz="2400" dirty="0"/>
            </a:br>
            <a:r>
              <a:rPr lang="tr-TR" sz="2400" dirty="0"/>
              <a:t>Böylece steril malzemeler, sterilizatörden çıktıktan sonra </a:t>
            </a:r>
            <a:r>
              <a:rPr lang="tr-TR" sz="2400" b="1" dirty="0"/>
              <a:t>doğrudan bu alana</a:t>
            </a:r>
            <a:r>
              <a:rPr lang="tr-TR" sz="2400" dirty="0"/>
              <a:t> aktarılır.</a:t>
            </a:r>
          </a:p>
          <a:p>
            <a:pPr lvl="1"/>
            <a:r>
              <a:rPr lang="tr-TR" sz="2400" dirty="0"/>
              <a:t>Alan, </a:t>
            </a:r>
            <a:r>
              <a:rPr lang="tr-TR" sz="2400" b="1" dirty="0"/>
              <a:t>fiziksel olarak diğer bölümlerden ayrılmış</a:t>
            </a:r>
            <a:r>
              <a:rPr lang="tr-TR" sz="2400" dirty="0"/>
              <a:t> olmalı ve sadece yetkili personel erişimine açık olmalıdır.</a:t>
            </a:r>
          </a:p>
          <a:p>
            <a:pPr lvl="1"/>
            <a:r>
              <a:rPr lang="tr-TR" sz="2400" b="1" dirty="0"/>
              <a:t>ISO Sınıf 8 temiz oda standardına</a:t>
            </a:r>
            <a:r>
              <a:rPr lang="tr-TR" sz="2400" dirty="0"/>
              <a:t> uygun olmalıdır; bu, partikül kontrolü ve hava kalitesi açısından steriliteyi korur.</a:t>
            </a:r>
          </a:p>
          <a:p>
            <a:pPr lvl="1"/>
            <a:r>
              <a:rPr lang="tr-TR" sz="2400" dirty="0"/>
              <a:t>Ortamın sıcaklığı genellikle </a:t>
            </a:r>
            <a:r>
              <a:rPr lang="tr-TR" sz="2400" b="1" dirty="0"/>
              <a:t>18–22 °C</a:t>
            </a:r>
            <a:r>
              <a:rPr lang="tr-TR" sz="2400" dirty="0"/>
              <a:t>, nem oranı ise </a:t>
            </a:r>
            <a:r>
              <a:rPr lang="tr-TR" sz="2400" b="1" dirty="0"/>
              <a:t>%35–70</a:t>
            </a:r>
            <a:r>
              <a:rPr lang="tr-TR" sz="2400" dirty="0"/>
              <a:t> aralığında tutulmalıdır</a:t>
            </a:r>
          </a:p>
        </p:txBody>
      </p:sp>
    </p:spTree>
    <p:extLst>
      <p:ext uri="{BB962C8B-B14F-4D97-AF65-F5344CB8AC3E}">
        <p14:creationId xmlns:p14="http://schemas.microsoft.com/office/powerpoint/2010/main" val="4061163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678A-6913-E0AC-4BF4-F1C56304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8FE6F53-A1E2-92F9-A82C-2075E921B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BBA5AE1-04F3-9B8B-F1C2-723BB07C22A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75363AF-E67E-F9D1-958B-2D001ACF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28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2AD8D3C-254A-B330-2C7E-C68BC66C9DA5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29359C7-32DB-44A2-27C8-D7C60F2C4C13}"/>
              </a:ext>
            </a:extLst>
          </p:cNvPr>
          <p:cNvSpPr txBox="1"/>
          <p:nvPr/>
        </p:nvSpPr>
        <p:spPr>
          <a:xfrm>
            <a:off x="1289538" y="991990"/>
            <a:ext cx="101727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/>
              <a:t>Depolama Alanının İşlevsel Düzeni:</a:t>
            </a:r>
          </a:p>
          <a:p>
            <a:endParaRPr lang="tr-TR" sz="3200" b="1" dirty="0"/>
          </a:p>
          <a:p>
            <a:r>
              <a:rPr lang="tr-TR" sz="2400" dirty="0"/>
              <a:t>Steril depolama alanı iki alt bölümden oluşmalıdır:</a:t>
            </a:r>
          </a:p>
          <a:p>
            <a:r>
              <a:rPr lang="tr-TR" sz="2400" b="1" dirty="0"/>
              <a:t>Depolama Alanı:</a:t>
            </a:r>
            <a:endParaRPr lang="tr-TR" sz="2400" dirty="0"/>
          </a:p>
          <a:p>
            <a:pPr lvl="1"/>
            <a:r>
              <a:rPr lang="tr-TR" sz="2400" dirty="0"/>
              <a:t>Steril malzemelerin raflarda düzenli biçimde saklandığı bölümdür.</a:t>
            </a:r>
          </a:p>
          <a:p>
            <a:pPr lvl="1"/>
            <a:r>
              <a:rPr lang="tr-TR" sz="2400" dirty="0"/>
              <a:t>Her malzeme üzerinde </a:t>
            </a:r>
            <a:r>
              <a:rPr lang="tr-TR" sz="2400" b="1" dirty="0"/>
              <a:t>sterilizasyon tarihi ve lot numarası</a:t>
            </a:r>
            <a:r>
              <a:rPr lang="tr-TR" sz="2400" dirty="0"/>
              <a:t> bulunmalıdır.</a:t>
            </a:r>
          </a:p>
          <a:p>
            <a:r>
              <a:rPr lang="tr-TR" sz="2400" b="1" dirty="0"/>
              <a:t>Teslim Alanı:</a:t>
            </a:r>
            <a:endParaRPr lang="tr-TR" sz="2400" dirty="0"/>
          </a:p>
          <a:p>
            <a:pPr lvl="1"/>
            <a:r>
              <a:rPr lang="tr-TR" sz="2400" dirty="0"/>
              <a:t>Steril setlerin kliniklere, ameliyathaneye veya ilgili servislere </a:t>
            </a:r>
            <a:r>
              <a:rPr lang="tr-TR" sz="2400" b="1" dirty="0"/>
              <a:t>dağıtımının yapıldığı</a:t>
            </a:r>
            <a:r>
              <a:rPr lang="tr-TR" sz="2400" dirty="0"/>
              <a:t> bölümdür.</a:t>
            </a:r>
          </a:p>
          <a:p>
            <a:pPr lvl="1"/>
            <a:r>
              <a:rPr lang="tr-TR" sz="2400" dirty="0"/>
              <a:t>Bu alanda, dış ortamla temas en aza indirilecek şekilde </a:t>
            </a:r>
            <a:r>
              <a:rPr lang="tr-TR" sz="2400" b="1" dirty="0"/>
              <a:t>kısa süreli geçiş alanı</a:t>
            </a:r>
            <a:r>
              <a:rPr lang="tr-TR" sz="2400" dirty="0"/>
              <a:t> bulunmalıdır.</a:t>
            </a:r>
          </a:p>
        </p:txBody>
      </p:sp>
    </p:spTree>
    <p:extLst>
      <p:ext uri="{BB962C8B-B14F-4D97-AF65-F5344CB8AC3E}">
        <p14:creationId xmlns:p14="http://schemas.microsoft.com/office/powerpoint/2010/main" val="56831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438CC-9682-8354-A945-2C6219D8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AB804B7-3BDC-3C3C-37EF-7572564CA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D96B4E1-9048-C0CA-08A2-7E0C20166B7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970B704-B360-93F3-BF94-7AA36872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29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1C1D9CD3-0EE5-D3D2-D8A2-00DD13A04813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DE7D2DC-F284-DE83-AA54-A1F6949C2064}"/>
              </a:ext>
            </a:extLst>
          </p:cNvPr>
          <p:cNvSpPr txBox="1"/>
          <p:nvPr/>
        </p:nvSpPr>
        <p:spPr>
          <a:xfrm>
            <a:off x="1163782" y="991990"/>
            <a:ext cx="108540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Raf Sistemleri ve Teknik Ölçüler:</a:t>
            </a:r>
          </a:p>
          <a:p>
            <a:pPr lvl="1"/>
            <a:r>
              <a:rPr lang="tr-TR" sz="2400" dirty="0"/>
              <a:t>Raflar: </a:t>
            </a:r>
            <a:r>
              <a:rPr lang="tr-TR" sz="2400" b="1" dirty="0"/>
              <a:t>Yerden 30 cm yukarıda</a:t>
            </a:r>
            <a:r>
              <a:rPr lang="tr-TR" sz="2400" dirty="0"/>
              <a:t>, </a:t>
            </a:r>
            <a:r>
              <a:rPr lang="tr-TR" sz="2400" b="1" dirty="0"/>
              <a:t>tavandan 50 cm aşağıda</a:t>
            </a:r>
            <a:r>
              <a:rPr lang="tr-TR" sz="2400" dirty="0"/>
              <a:t>, </a:t>
            </a:r>
            <a:r>
              <a:rPr lang="tr-TR" sz="2400" b="1" dirty="0"/>
              <a:t>duvardan 5 cm önde</a:t>
            </a:r>
            <a:r>
              <a:rPr lang="tr-TR" sz="2400" dirty="0"/>
              <a:t> konumlandırılmalıdır.</a:t>
            </a:r>
          </a:p>
          <a:p>
            <a:pPr lvl="1"/>
            <a:r>
              <a:rPr lang="tr-TR" sz="2400" dirty="0"/>
              <a:t>Raf derinliği: </a:t>
            </a:r>
            <a:r>
              <a:rPr lang="tr-TR" sz="2400" b="1" dirty="0"/>
              <a:t>Yaklaşık 37,5 cm</a:t>
            </a:r>
            <a:endParaRPr lang="tr-TR" sz="2400" dirty="0"/>
          </a:p>
          <a:p>
            <a:pPr lvl="1"/>
            <a:r>
              <a:rPr lang="tr-TR" sz="2400" dirty="0"/>
              <a:t>Raf aralıkları: </a:t>
            </a:r>
            <a:r>
              <a:rPr lang="tr-TR" sz="2400" b="1" dirty="0"/>
              <a:t>50 cm</a:t>
            </a:r>
            <a:r>
              <a:rPr lang="tr-TR" sz="2400" dirty="0"/>
              <a:t>’lik artışlarla ayarlanabilir olmalıdır.</a:t>
            </a:r>
          </a:p>
          <a:p>
            <a:pPr lvl="1"/>
            <a:r>
              <a:rPr lang="tr-TR" sz="2400" dirty="0"/>
              <a:t>Raf malzemesi: </a:t>
            </a:r>
            <a:r>
              <a:rPr lang="tr-TR" sz="2400" b="1" dirty="0"/>
              <a:t>Paslanmaz çelik veya toz boyalı alüminyum</a:t>
            </a:r>
            <a:r>
              <a:rPr lang="tr-TR" sz="2400" dirty="0"/>
              <a:t>, kolay temizlenebilir yapıda olmalıdır.</a:t>
            </a:r>
          </a:p>
          <a:p>
            <a:pPr lvl="1"/>
            <a:r>
              <a:rPr lang="tr-TR" sz="2400" dirty="0"/>
              <a:t>Hava sirkülasyonu: Raflar arasında yeterli boşluk bırakılarak sağlanmalıdır.</a:t>
            </a:r>
          </a:p>
          <a:p>
            <a:br>
              <a:rPr lang="tr-TR" sz="2400" dirty="0"/>
            </a:br>
            <a:endParaRPr lang="tr-TR" sz="2400" dirty="0"/>
          </a:p>
          <a:p>
            <a:r>
              <a:rPr lang="tr-TR" sz="2400" b="1" dirty="0"/>
              <a:t>Sterilitenin Korunması İçin Önlemler:</a:t>
            </a:r>
          </a:p>
          <a:p>
            <a:pPr lvl="1"/>
            <a:r>
              <a:rPr lang="tr-TR" sz="2400" dirty="0"/>
              <a:t>Raflara yerleştirilen malzemeler </a:t>
            </a:r>
            <a:r>
              <a:rPr lang="tr-TR" sz="2400" b="1" dirty="0"/>
              <a:t>duvara temas etmemelidir.</a:t>
            </a:r>
            <a:endParaRPr lang="tr-TR" sz="2400" dirty="0"/>
          </a:p>
          <a:p>
            <a:pPr lvl="1"/>
            <a:r>
              <a:rPr lang="tr-TR" sz="2400" dirty="0"/>
              <a:t>Depo içinde </a:t>
            </a:r>
            <a:r>
              <a:rPr lang="tr-TR" sz="2400" b="1" dirty="0"/>
              <a:t>gıda, sıvı veya kimyasal madde bulundurulmamalıdır.</a:t>
            </a:r>
            <a:endParaRPr lang="tr-TR" sz="2400" dirty="0"/>
          </a:p>
          <a:p>
            <a:pPr lvl="1"/>
            <a:r>
              <a:rPr lang="tr-TR" sz="2400" b="1" dirty="0"/>
              <a:t>Sık temizlik ve sıcaklık-nem takibi</a:t>
            </a:r>
            <a:r>
              <a:rPr lang="tr-TR" sz="2400" dirty="0"/>
              <a:t> düzenli olarak yapılmalıdır.</a:t>
            </a:r>
          </a:p>
          <a:p>
            <a:pPr lvl="1"/>
            <a:r>
              <a:rPr lang="tr-TR" sz="2400" dirty="0"/>
              <a:t>Malzeme devri “</a:t>
            </a:r>
            <a:r>
              <a:rPr lang="tr-TR" sz="2400" b="1" dirty="0"/>
              <a:t>ilk giren, ilk çıkar (FIFO)</a:t>
            </a:r>
            <a:r>
              <a:rPr lang="tr-TR" sz="2400" dirty="0"/>
              <a:t>” prensibine göre yürütülmelidir.</a:t>
            </a:r>
          </a:p>
        </p:txBody>
      </p:sp>
    </p:spTree>
    <p:extLst>
      <p:ext uri="{BB962C8B-B14F-4D97-AF65-F5344CB8AC3E}">
        <p14:creationId xmlns:p14="http://schemas.microsoft.com/office/powerpoint/2010/main" val="1329651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455387" y="521206"/>
            <a:ext cx="961505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El Yıkama Lavaboları ve Yerleşimi</a:t>
            </a:r>
          </a:p>
          <a:p>
            <a:endParaRPr lang="tr-TR" sz="2400" b="1" dirty="0"/>
          </a:p>
          <a:p>
            <a:r>
              <a:rPr lang="tr-TR" sz="2400" b="1" dirty="0"/>
              <a:t>El Hijyeninin Önemi:</a:t>
            </a:r>
            <a:br>
              <a:rPr lang="tr-TR" sz="2400" dirty="0"/>
            </a:br>
            <a:r>
              <a:rPr lang="tr-TR" sz="2400" dirty="0"/>
              <a:t>El hijyeni, sterilizasyon süreçlerinde </a:t>
            </a:r>
            <a:r>
              <a:rPr lang="tr-TR" sz="2400" b="1" dirty="0"/>
              <a:t>çapraz kontaminasyonu önlemenin</a:t>
            </a:r>
            <a:r>
              <a:rPr lang="tr-TR" sz="2400" dirty="0"/>
              <a:t> en temel adımıdır.</a:t>
            </a:r>
            <a:br>
              <a:rPr lang="tr-TR" sz="2400" dirty="0"/>
            </a:br>
            <a:r>
              <a:rPr lang="tr-TR" sz="2400" dirty="0"/>
              <a:t>MSÜ’de çalışan her personel, </a:t>
            </a:r>
            <a:r>
              <a:rPr lang="tr-TR" sz="2400" b="1" dirty="0"/>
              <a:t>her alan geçişinde</a:t>
            </a:r>
            <a:r>
              <a:rPr lang="tr-TR" sz="2400" dirty="0"/>
              <a:t> uygun el hijyenini sağlamakla yükümlüdür.</a:t>
            </a:r>
          </a:p>
          <a:p>
            <a:br>
              <a:rPr lang="tr-TR" sz="2400" dirty="0"/>
            </a:br>
            <a:endParaRPr lang="tr-TR" sz="2400" dirty="0"/>
          </a:p>
          <a:p>
            <a:r>
              <a:rPr lang="tr-TR" sz="2400" b="1" dirty="0"/>
              <a:t>Geçiş Noktaları ve El Hijyeni Noktaları:</a:t>
            </a:r>
          </a:p>
          <a:p>
            <a:r>
              <a:rPr lang="tr-TR" sz="2400" b="1" dirty="0"/>
              <a:t>Kirli, temiz ve steril alanlar</a:t>
            </a:r>
            <a:r>
              <a:rPr lang="tr-TR" sz="2400" dirty="0"/>
              <a:t> arasında yer alan </a:t>
            </a:r>
            <a:r>
              <a:rPr lang="tr-TR" sz="2400" b="1" dirty="0"/>
              <a:t>geçiş bölgelerinde</a:t>
            </a:r>
            <a:r>
              <a:rPr lang="tr-TR" sz="2400" dirty="0"/>
              <a:t>, el hijyenini sağlamaya yönelik özel düzenlemeler yapılmalıdır.</a:t>
            </a:r>
          </a:p>
          <a:p>
            <a:r>
              <a:rPr lang="tr-TR" sz="2400" dirty="0"/>
              <a:t>Bu noktalarda </a:t>
            </a:r>
            <a:r>
              <a:rPr lang="tr-TR" sz="2400" b="1" dirty="0"/>
              <a:t>el yıkama lavaboları</a:t>
            </a:r>
            <a:r>
              <a:rPr lang="tr-TR" sz="2400" dirty="0"/>
              <a:t> veya </a:t>
            </a:r>
            <a:r>
              <a:rPr lang="tr-TR" sz="2400" b="1" dirty="0"/>
              <a:t>alkollü el antiseptiği dispenserleri</a:t>
            </a:r>
            <a:r>
              <a:rPr lang="tr-TR" sz="2400" dirty="0"/>
              <a:t> bulunmalıdır.</a:t>
            </a:r>
          </a:p>
          <a:p>
            <a:r>
              <a:rPr lang="tr-TR" sz="2400" dirty="0"/>
              <a:t>Amaç, her alan değişiminde mikroorganizma taşınmasını engellemektir.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730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6026-8605-9D9B-2EC8-487ABEFA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8E2E44F8-A7F4-F213-34BC-1E88815E8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822D6E-D9FD-530A-EF3C-6CA82AEFAD7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7FA5B09-4850-207C-BC25-B5FDD418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31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B700AD81-052D-07BC-A820-395CD2074F7A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B06B8887-BF89-35AC-BFAD-B03F8A5A6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88253"/>
              </p:ext>
            </p:extLst>
          </p:nvPr>
        </p:nvGraphicFramePr>
        <p:xfrm>
          <a:off x="1455387" y="2106586"/>
          <a:ext cx="10016177" cy="1828800"/>
        </p:xfrm>
        <a:graphic>
          <a:graphicData uri="http://schemas.openxmlformats.org/drawingml/2006/table">
            <a:tbl>
              <a:tblPr/>
              <a:tblGrid>
                <a:gridCol w="2753679">
                  <a:extLst>
                    <a:ext uri="{9D8B030D-6E8A-4147-A177-3AD203B41FA5}">
                      <a16:colId xmlns:a16="http://schemas.microsoft.com/office/drawing/2014/main" val="3285067879"/>
                    </a:ext>
                  </a:extLst>
                </a:gridCol>
                <a:gridCol w="7262498">
                  <a:extLst>
                    <a:ext uri="{9D8B030D-6E8A-4147-A177-3AD203B41FA5}">
                      <a16:colId xmlns:a16="http://schemas.microsoft.com/office/drawing/2014/main" val="893219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Gereç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İşlev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112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Sıvı sabun ünitesi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Etkin el temizliği sağlar, katı sabun kullanılmamalıdır.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02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Kâğıt havlu dispenseri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Tek kullanımlık, kontaminasyonu önleyen kurutma sağlar.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42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Pedallı çöp kutusu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Atık bertarafında el temasını önler.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66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/>
                        <a:t>El antiseptiği dispenseri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Suya erişimin olmadığı durumlarda kullanılabilir.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864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915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F350E-4788-2967-7ADF-2C72A34F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081881D-6D28-BC0F-2356-A311BC6EC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DA23742-93DD-2EC4-1942-73B18B6CB69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ECD64B6-ACA1-3073-CF82-4E8FAC22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32</a:t>
            </a:fld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F90E3E32-C53B-6224-57EB-D52028216A10}"/>
              </a:ext>
            </a:extLst>
          </p:cNvPr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DD13969-992E-38C6-7AB2-076628AA6A8E}"/>
              </a:ext>
            </a:extLst>
          </p:cNvPr>
          <p:cNvSpPr txBox="1"/>
          <p:nvPr/>
        </p:nvSpPr>
        <p:spPr>
          <a:xfrm>
            <a:off x="1455387" y="521206"/>
            <a:ext cx="961505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b="1" dirty="0"/>
              <a:t>Yerleşim ve Erişim:</a:t>
            </a:r>
          </a:p>
          <a:p>
            <a:r>
              <a:rPr lang="tr-TR" sz="2400" dirty="0"/>
              <a:t>El yıkama lavaboları sadece geçiş noktalarında değil, </a:t>
            </a:r>
            <a:r>
              <a:rPr lang="tr-TR" sz="2400" b="1" dirty="0"/>
              <a:t>dinlenme, soyunma, ofis gibi destek alanlarında</a:t>
            </a:r>
            <a:r>
              <a:rPr lang="tr-TR" sz="2400" dirty="0"/>
              <a:t> da bulunmalıdır.</a:t>
            </a:r>
          </a:p>
          <a:p>
            <a:r>
              <a:rPr lang="tr-TR" sz="2400" dirty="0"/>
              <a:t>Lavabo konumları, personelin </a:t>
            </a:r>
            <a:r>
              <a:rPr lang="tr-TR" sz="2400" b="1" dirty="0"/>
              <a:t>doğal akış yönüyle uyumlu</a:t>
            </a:r>
            <a:r>
              <a:rPr lang="tr-TR" sz="2400" dirty="0"/>
              <a:t> şekilde planlanmalıdır (örneğin, kirli alandan çıkışta).</a:t>
            </a:r>
          </a:p>
          <a:p>
            <a:br>
              <a:rPr lang="tr-TR" sz="2400" dirty="0"/>
            </a:br>
            <a:endParaRPr lang="tr-TR" sz="2400" dirty="0"/>
          </a:p>
          <a:p>
            <a:r>
              <a:rPr lang="tr-TR" sz="2400" b="1" dirty="0"/>
              <a:t>⚙️ Teknik Özellikler:</a:t>
            </a:r>
          </a:p>
          <a:p>
            <a:r>
              <a:rPr lang="tr-TR" sz="2400" b="1" dirty="0"/>
              <a:t>Musluk tipi:</a:t>
            </a:r>
            <a:r>
              <a:rPr lang="tr-TR" sz="2400" dirty="0"/>
              <a:t> Kontaminasyon riskini ortadan kaldırmak için </a:t>
            </a:r>
            <a:r>
              <a:rPr lang="tr-TR" sz="2400" b="1" dirty="0"/>
              <a:t>cerrahi tip</a:t>
            </a:r>
            <a:r>
              <a:rPr lang="tr-TR" sz="2400" dirty="0"/>
              <a:t> (dirsek kontrollü) veya </a:t>
            </a:r>
            <a:r>
              <a:rPr lang="tr-TR" sz="2400" b="1" dirty="0"/>
              <a:t>fotoselli</a:t>
            </a:r>
            <a:r>
              <a:rPr lang="tr-TR" sz="2400" dirty="0"/>
              <a:t> musluklar tercih edilmelidir.</a:t>
            </a:r>
          </a:p>
          <a:p>
            <a:r>
              <a:rPr lang="tr-TR" sz="2400" b="1" dirty="0"/>
              <a:t>Yüzey malzemesi:</a:t>
            </a:r>
            <a:r>
              <a:rPr lang="tr-TR" sz="2400" dirty="0"/>
              <a:t> Lavabolar </a:t>
            </a:r>
            <a:r>
              <a:rPr lang="tr-TR" sz="2400" b="1" dirty="0"/>
              <a:t>paslanmaz çelik</a:t>
            </a:r>
            <a:r>
              <a:rPr lang="tr-TR" sz="2400" dirty="0"/>
              <a:t> veya </a:t>
            </a:r>
            <a:r>
              <a:rPr lang="tr-TR" sz="2400" b="1" dirty="0"/>
              <a:t>antibakteriyel seramik</a:t>
            </a:r>
            <a:r>
              <a:rPr lang="tr-TR" sz="2400" dirty="0"/>
              <a:t> olmalıdır.</a:t>
            </a:r>
          </a:p>
          <a:p>
            <a:r>
              <a:rPr lang="tr-TR" sz="2400" b="1" dirty="0"/>
              <a:t>Temizlik kolaylığı:</a:t>
            </a:r>
            <a:r>
              <a:rPr lang="tr-TR" sz="2400" dirty="0"/>
              <a:t> Köşesiz, pürüzsüz tasarım su birikimini önler.</a:t>
            </a:r>
          </a:p>
          <a:p>
            <a:br>
              <a:rPr lang="tr-TR" sz="2400" dirty="0"/>
            </a:br>
            <a:endParaRPr lang="tr-TR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043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384" y="2473478"/>
            <a:ext cx="5545491" cy="4148370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0E6EEE57-C8B2-289A-5CC3-98C60FD628C2}"/>
              </a:ext>
            </a:extLst>
          </p:cNvPr>
          <p:cNvSpPr txBox="1"/>
          <p:nvPr/>
        </p:nvSpPr>
        <p:spPr>
          <a:xfrm>
            <a:off x="1394613" y="604817"/>
            <a:ext cx="100677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/>
              <a:t>Sonuç:</a:t>
            </a:r>
          </a:p>
          <a:p>
            <a:r>
              <a:rPr lang="tr-TR" sz="1800" dirty="0"/>
              <a:t>El yıkama noktalarının doğru konumlandırılması ve uygun donanımla desteklenmesi,</a:t>
            </a:r>
          </a:p>
          <a:p>
            <a:r>
              <a:rPr lang="tr-TR" sz="1800" dirty="0"/>
              <a:t>mikroorganizma geçişini azaltır,</a:t>
            </a:r>
          </a:p>
          <a:p>
            <a:r>
              <a:rPr lang="tr-TR" sz="1800" dirty="0"/>
              <a:t>sterilizasyon zincirini korur,</a:t>
            </a:r>
          </a:p>
          <a:p>
            <a:r>
              <a:rPr lang="tr-TR" sz="1800" dirty="0"/>
              <a:t>personel güvenliği ve hasta güvenliği açısından </a:t>
            </a:r>
            <a:r>
              <a:rPr lang="tr-TR" sz="1800" b="1" dirty="0"/>
              <a:t>kritik bir kalite göstergesidir.</a:t>
            </a:r>
            <a:endParaRPr lang="tr-TR" sz="1800" dirty="0"/>
          </a:p>
        </p:txBody>
      </p:sp>
    </p:spTree>
    <p:extLst>
      <p:ext uri="{BB962C8B-B14F-4D97-AF65-F5344CB8AC3E}">
        <p14:creationId xmlns:p14="http://schemas.microsoft.com/office/powerpoint/2010/main" val="4252769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DONANIM-1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Zeminler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Zeminler; eklentisiz olacak şekilde birleştirilmiş yekpare yapıda, pürüzsüz, kolay</a:t>
            </a: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temizlenebilir, partikül oluşturmayan bir malzeme ile kaplanmalıdır.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Islak vakumlamaya ve yıkamaya uygun, ağırlığa, basınca, yırtılmaya ve darbeye</a:t>
            </a: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dayanıklı, PVC gibi zemin kaplamaları kullanılmalıdır. Seramik tercih edilmemelidir.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Seramik kullanılacaksa, en büyük ebatlı ve kırılmaya dayanıklı seramikler (&gt; 300x300 mm) tercih edilmeli, seramik araları için kaliteli ve dayanıklı dolgu malzemesi kullanılmalıdır.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Köşeler tercihen dayanıklı poliüretan malzeme ile yuvarlatılmalıdır.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Zemin rengi, tıbbi cihazların yere düşmesi durumunda kolay görülmesini sağlayacak bir renkte olmalıdır.</a:t>
            </a:r>
          </a:p>
        </p:txBody>
      </p:sp>
    </p:spTree>
    <p:extLst>
      <p:ext uri="{BB962C8B-B14F-4D97-AF65-F5344CB8AC3E}">
        <p14:creationId xmlns:p14="http://schemas.microsoft.com/office/powerpoint/2010/main" val="4127063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35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DONANIM-2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Çalışma alanlarının tavanları; yoğunlaşmayı, toz birikmesini, parçacık ve elyaf gibi muhtemel kirlilik kaynaklarını en aza indirecek şekilde planlanmalıdır.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Tavan malzemesi buhar ve neme dayanıklı, sızdırmaz ve kolay temizlenebilir olmalı, ahşap malzeme kullanılmamalıdır.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Küçük levhalardan yapılmış tavan malzemelerinden kaçınılmalı, bunun yerine daha büyük paneller tercih edilmelidir.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Aydınlatma ve benzeri tüm tesisat gömülerek tavan düz bir yüzey oluşturulacak şekilde inşa edilmelidir.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Tavanlarda MSÜ alanları arasında hava geçişi olmamalıdır. Bunun için tüm bölme duvarları çatıya kadar örüldükten sonra tavanlar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2608043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DONANIM-3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Duvarlar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Duvarlar; yıkanabilir malzeme ile kaplanmalı, periyodik temizlik için uygun olmalıdır.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Yüzeylerde pastel renkler tercih edilmeli, fazla yansımaya neden olacağı için beyaz renk seçilmemelidir.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Tekerlekli taşıma arabasının sürtmesi gibi duvarlara zarar verebilecek durumlar için bariyer önlemleri alınmalıdır.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Koridorlar bu amaçla taşıma arabalarının MSÜ içinde hareketine izin verecek genişlikte planlanmalıdır.</a:t>
            </a:r>
          </a:p>
        </p:txBody>
      </p:sp>
    </p:spTree>
    <p:extLst>
      <p:ext uri="{BB962C8B-B14F-4D97-AF65-F5344CB8AC3E}">
        <p14:creationId xmlns:p14="http://schemas.microsoft.com/office/powerpoint/2010/main" val="1019529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DONANIM-4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Pencereler ve kapılar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MSÜ de dış cephe duvarlarında açılabilir pencere olmamalıdır.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açılan kapılar yerine otomatik/yarı otomatik kapılar tercih edilmelidir.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Eğer kapı otomatik kapanır özellikli değilse, kendiliğinden kapanan mekanizmaya sahip olmalıdır.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Kapılar, yangın yönetmeliği ilkelerine göre yapılandırılmalıdır.</a:t>
            </a:r>
          </a:p>
          <a:p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Çalışanların kirli alandan temiz alana doğrudan geçişine izin verilmemelidir.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Kapıların genişliği transfer arabalarının girip çıkmasına izin verecek büyüklükte olmalıdır.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Kapıda diğer tarafın rahat görülebilmesi için görüş paneli olması tercih edilmelidir.</a:t>
            </a:r>
          </a:p>
        </p:txBody>
      </p:sp>
    </p:spTree>
    <p:extLst>
      <p:ext uri="{BB962C8B-B14F-4D97-AF65-F5344CB8AC3E}">
        <p14:creationId xmlns:p14="http://schemas.microsoft.com/office/powerpoint/2010/main" val="1168875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38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DONANIM-5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Havalandırma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MSÜ de merkezi iklimlendirme sistemi tercih edilir. İklimlendirme sistemi temiz ve steril malzeme depolama alanında ISO 14644-1 sınıf 8 standartlarını karşılamalıdır.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Havalandırma kesintisiz ve sürekli çalışmalıdır.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Alanlar arası hava akışı, steril alandan temiz alana, temiz alandan kirli alana doğru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olmalıdır. Bu amaçla, iklimlendirme sistemi steril depolama alanında pozitif basınç, temiz alanda nötr basınç ve kirli alanda negatif basınç oluşturacak şekilde yapılandırılmalıdır.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Havalandırma minimum 5 paskal maksimum 15 paskal basınç farkı sağlayacak şekilde tasarlanmalıdır.</a:t>
            </a:r>
          </a:p>
        </p:txBody>
      </p:sp>
    </p:spTree>
    <p:extLst>
      <p:ext uri="{BB962C8B-B14F-4D97-AF65-F5344CB8AC3E}">
        <p14:creationId xmlns:p14="http://schemas.microsoft.com/office/powerpoint/2010/main" val="36824369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39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DONANIM-6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Sıcaklık ve nem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MSÜ de çalışma alanlarındaki sıcaklık 18-25 °C arasında ve % 35-70 arasında bağıl nem olmalıdır. Sıcaklık kontrolü ve düzenlenmesi planlanırken cihazların oluşturacağı ısı ve nem dikkate alınmalıdır.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Sıcaklık ve nem günlük olarak takip edilmelidir.</a:t>
            </a:r>
          </a:p>
        </p:txBody>
      </p:sp>
    </p:spTree>
    <p:extLst>
      <p:ext uri="{BB962C8B-B14F-4D97-AF65-F5344CB8AC3E}">
        <p14:creationId xmlns:p14="http://schemas.microsoft.com/office/powerpoint/2010/main" val="2866227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40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DONANIM-7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Aydınlatma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MSÜ de aydınlatma optimal düzeyde olmalıdır.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Depolama alanları dışında mümkünse gün ışığı kullanılmalıdır.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Aydınlatmada belirtilen değerler ünitede çalışanların yaşı, yapılan işin hızı, özelliğine ve çalışma alanındaki yansıma düzeyine göre değişiklik gösterebilir.</a:t>
            </a:r>
          </a:p>
        </p:txBody>
      </p:sp>
    </p:spTree>
    <p:extLst>
      <p:ext uri="{BB962C8B-B14F-4D97-AF65-F5344CB8AC3E}">
        <p14:creationId xmlns:p14="http://schemas.microsoft.com/office/powerpoint/2010/main" val="394131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41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DONANIM-8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Gürültü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MSÜ de gürültü kontrol edilmeli ve ses yalıtımı sağlanmalıdır.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Duvarlar ve tavanlar ses yansıtmayan emici malzemelerden yapılmalıdır.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 ekosunu önlemek için mimari düzenlemeler yapılmalıdır.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Sterilizatörler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yıkayıcı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dezenfektörlerin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bulundukları mekanda ayrı bir bölme içerisine alınması (izolasyonu) gürültü düzeyini önemli ölçüde azaltır.</a:t>
            </a:r>
          </a:p>
        </p:txBody>
      </p:sp>
    </p:spTree>
    <p:extLst>
      <p:ext uri="{BB962C8B-B14F-4D97-AF65-F5344CB8AC3E}">
        <p14:creationId xmlns:p14="http://schemas.microsoft.com/office/powerpoint/2010/main" val="3499161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spcBef>
                <a:spcPts val="0"/>
              </a:spcBef>
              <a:buClr>
                <a:prstClr val="black"/>
              </a:buClr>
              <a:buSzPts val="2400"/>
              <a:buNone/>
            </a:pPr>
            <a:endParaRPr lang="tr-TR" sz="2400" b="1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buNone/>
            </a:pPr>
            <a:endParaRPr lang="tr-TR" sz="2400" dirty="0">
              <a:solidFill>
                <a:prstClr val="black"/>
              </a:solidFill>
              <a:latin typeface="Times New Roman"/>
            </a:endParaRPr>
          </a:p>
          <a:p>
            <a:pPr marL="0" indent="0" algn="just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42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1847273" y="991990"/>
            <a:ext cx="961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1727200" y="965756"/>
            <a:ext cx="94410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MERKEZİ STERİLİZASYON ÜNİTESİ TEKNİK VE MİMARİ DONANIM-9</a:t>
            </a:r>
          </a:p>
          <a:p>
            <a:endParaRPr lang="tr-T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Güvenlik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Mümkünse, erişim ve kontrol güvenliği için kapalı devre kamera kullanılmalıdır.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Üniteye girişler için güvenli ve kontrollü geçiş sistemi bulunmalı, MSÜ personeli haricinde yetkisiz erişim mümkün olmamalıdır.</a:t>
            </a:r>
          </a:p>
        </p:txBody>
      </p:sp>
    </p:spTree>
    <p:extLst>
      <p:ext uri="{BB962C8B-B14F-4D97-AF65-F5344CB8AC3E}">
        <p14:creationId xmlns:p14="http://schemas.microsoft.com/office/powerpoint/2010/main" val="512868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349336" y="1718269"/>
            <a:ext cx="3097036" cy="3755461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43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373985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BUGÜN NELER ÖĞRENDİK?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4734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pic>
        <p:nvPicPr>
          <p:cNvPr id="3" name="İçerik Yer Tutucusu 2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4013329" y="1813994"/>
            <a:ext cx="5084505" cy="3907875"/>
          </a:xfrm>
          <a:prstGeom prst="rect">
            <a:avLst/>
          </a:prstGeom>
        </p:spPr>
      </p:pic>
      <p:pic>
        <p:nvPicPr>
          <p:cNvPr id="7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44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40548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SORU VE ÖNERİLER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8870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Sterilizasyon ünitesinin özellikleri</a:t>
            </a:r>
          </a:p>
          <a:p>
            <a:pPr marL="0" indent="0" algn="just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Merkezi sterilizasyon ünitesinin teknik ve mimari donanımı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45</a:t>
            </a:fld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1" y="38535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ÖNERİLEN HAFTALIK ÇALIŞMALAR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047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383323"/>
            <a:ext cx="10533185" cy="47701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Zenciroğlu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(2024). Dezenfeksiyon Antisepsi Sterilizasyon Rehberi.</a:t>
            </a:r>
          </a:p>
          <a:p>
            <a:pPr marL="0" indent="0" algn="just">
              <a:buNone/>
            </a:pP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Altındiş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(2021). Hemşireler için Mikrobiyoloji. Ankara: </a:t>
            </a:r>
            <a:r>
              <a:rPr lang="tr-T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NobelTıp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Kitabevi.</a:t>
            </a: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46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1" y="28310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KAYNAKÇA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1356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İçerik Yer Tutucusu 3"/>
          <p:cNvSpPr>
            <a:spLocks noGrp="1"/>
          </p:cNvSpPr>
          <p:nvPr>
            <p:ph sz="half" idx="4294967295"/>
          </p:nvPr>
        </p:nvSpPr>
        <p:spPr>
          <a:xfrm>
            <a:off x="1289538" y="1420269"/>
            <a:ext cx="10533185" cy="477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Dezenfeksiyon</a:t>
            </a:r>
          </a:p>
          <a:p>
            <a:pPr marL="0" indent="0">
              <a:buNone/>
            </a:pP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47</a:t>
            </a:fld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0" y="295191"/>
            <a:ext cx="12191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0000"/>
              </a:buClr>
              <a:buSzPts val="2400"/>
            </a:pPr>
            <a:r>
              <a:rPr lang="tr-TR" sz="24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BİR SONRAKİ DERS HAKKINDA</a:t>
            </a:r>
            <a:endParaRPr lang="tr-TR"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7070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10710042" cy="53918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endParaRPr lang="tr-TR" dirty="0">
              <a:solidFill>
                <a:srgbClr val="002060"/>
              </a:solidFill>
              <a:ea typeface="Times New Roman"/>
              <a:cs typeface="Times New Roman"/>
              <a:sym typeface="Times New Roman"/>
            </a:endParaRPr>
          </a:p>
          <a:p>
            <a:pPr marL="0" indent="0" algn="ctr">
              <a:buNone/>
            </a:pP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Dr. </a:t>
            </a:r>
            <a:r>
              <a:rPr lang="tr-TR" dirty="0" err="1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Öğr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. Üyesi Sevinç Baba’nın Sterilizasyon ve Cerrahi Asepsi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Dersine ait sunumlar özel olduğu için burada yer alan  metin ve görsellerin,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, 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r>
              <a:rPr lang="tr-TR" b="1" i="1" u="sng" dirty="0">
                <a:solidFill>
                  <a:srgbClr val="FF0000"/>
                </a:solidFill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dirty="0">
                <a:solidFill>
                  <a:srgbClr val="002060"/>
                </a:solidFill>
                <a:ea typeface="Times New Roman"/>
                <a:cs typeface="Times New Roman"/>
                <a:sym typeface="Times New Roman"/>
              </a:rPr>
            </a:br>
            <a:endParaRPr lang="tr-TR" sz="2400" dirty="0"/>
          </a:p>
        </p:txBody>
      </p:sp>
      <p:pic>
        <p:nvPicPr>
          <p:cNvPr id="7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03811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88"/>
            <a:ext cx="12215446" cy="6871188"/>
          </a:xfrm>
          <a:prstGeom prst="rect">
            <a:avLst/>
          </a:prstGeom>
        </p:spPr>
      </p:pic>
      <p:sp>
        <p:nvSpPr>
          <p:cNvPr id="6" name="İçerik Yer Tutucusu 2"/>
          <p:cNvSpPr>
            <a:spLocks noGrp="1"/>
          </p:cNvSpPr>
          <p:nvPr>
            <p:ph idx="1"/>
          </p:nvPr>
        </p:nvSpPr>
        <p:spPr>
          <a:xfrm>
            <a:off x="1240220" y="1208690"/>
            <a:ext cx="6494080" cy="5391807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dirty="0"/>
              <a:t>Gençler cesaretimizi takviye ve idame eden sizlersiniz. Siz, almakta olduğunuz terbiye ve irfan ile insanlık ve medeniyetin, vatan sevgisinin, fikir hürriyetinin en kıymetli timsali olacaksınız. Yükselen yeni nesil, istikbal sizsiniz.</a:t>
            </a: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</a:pPr>
            <a:r>
              <a:rPr lang="tr-TR" b="1" dirty="0">
                <a:solidFill>
                  <a:srgbClr val="172652"/>
                </a:solidFill>
                <a:ea typeface="Times New Roman"/>
                <a:cs typeface="Times New Roman"/>
                <a:sym typeface="Times New Roman"/>
              </a:rPr>
              <a:t>                              Mustafa Kemal ATATÜRK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None/>
            </a:pPr>
            <a:endParaRPr lang="tr-TR" i="1" u="sng" dirty="0">
              <a:solidFill>
                <a:srgbClr val="172652"/>
              </a:solidFill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323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8421447" y="1542485"/>
            <a:ext cx="3570201" cy="462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23;g2ea15ffc163_0_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26678" y="104832"/>
            <a:ext cx="1465322" cy="8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49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19399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tr-TR" dirty="0"/>
            </a:b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Google Shape;323;g2ea15ffc163_0_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49254" y="365125"/>
            <a:ext cx="1761392" cy="1039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D401F-286E-468B-9BCD-6DE50C180B4C}" type="slidenum">
              <a:rPr lang="tr-TR" smtClean="0"/>
              <a:t>50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13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3237</Words>
  <Application>Microsoft Macintosh PowerPoint</Application>
  <PresentationFormat>Geniş ekran</PresentationFormat>
  <Paragraphs>498</Paragraphs>
  <Slides>50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Times New Roman</vt:lpstr>
      <vt:lpstr>Wingdings</vt:lpstr>
      <vt:lpstr>Office Teması</vt:lpstr>
      <vt:lpstr>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kaydemir</dc:creator>
  <cp:lastModifiedBy>Kıvanç Derya PEKER</cp:lastModifiedBy>
  <cp:revision>112</cp:revision>
  <dcterms:created xsi:type="dcterms:W3CDTF">2024-07-10T08:02:52Z</dcterms:created>
  <dcterms:modified xsi:type="dcterms:W3CDTF">2025-10-08T08:16:43Z</dcterms:modified>
</cp:coreProperties>
</file>