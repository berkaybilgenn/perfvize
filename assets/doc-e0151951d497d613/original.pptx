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sldIdLst>
    <p:sldId id="256" r:id="rId2"/>
    <p:sldId id="259" r:id="rId3"/>
    <p:sldId id="271" r:id="rId4"/>
    <p:sldId id="273" r:id="rId5"/>
    <p:sldId id="272" r:id="rId6"/>
    <p:sldId id="274" r:id="rId7"/>
    <p:sldId id="310" r:id="rId8"/>
    <p:sldId id="311" r:id="rId9"/>
    <p:sldId id="291" r:id="rId10"/>
    <p:sldId id="275" r:id="rId11"/>
    <p:sldId id="296" r:id="rId12"/>
    <p:sldId id="297" r:id="rId13"/>
    <p:sldId id="329" r:id="rId14"/>
    <p:sldId id="330" r:id="rId15"/>
    <p:sldId id="331" r:id="rId16"/>
    <p:sldId id="295" r:id="rId17"/>
    <p:sldId id="332" r:id="rId18"/>
    <p:sldId id="338" r:id="rId19"/>
    <p:sldId id="339" r:id="rId20"/>
    <p:sldId id="340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33" r:id="rId40"/>
    <p:sldId id="334" r:id="rId41"/>
    <p:sldId id="335" r:id="rId42"/>
    <p:sldId id="336" r:id="rId43"/>
    <p:sldId id="337" r:id="rId44"/>
    <p:sldId id="278" r:id="rId45"/>
    <p:sldId id="279" r:id="rId46"/>
    <p:sldId id="280" r:id="rId47"/>
    <p:sldId id="281" r:id="rId48"/>
    <p:sldId id="284" r:id="rId49"/>
    <p:sldId id="282" r:id="rId50"/>
    <p:sldId id="283" r:id="rId51"/>
    <p:sldId id="257" r:id="rId5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67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B2101-028C-4C7C-BD50-C9732890444B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13FAA-B49B-438C-9DA4-0021B633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36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25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26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42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13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93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75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42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0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95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0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39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1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9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69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107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1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2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34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6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3907-0054-4CE1-BA2E-6D8CEC36E5B7}" type="datetime1">
              <a:rPr lang="tr-TR" smtClean="0"/>
              <a:t>21.10.2024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786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316E5-22D1-424E-9E03-7FE4FCF4E762}" type="datetime1">
              <a:rPr lang="tr-TR" smtClean="0"/>
              <a:t>21.10.2024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954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F9A-8D36-43A8-ABA2-4C9C9E5C79EF}" type="datetime1">
              <a:rPr lang="tr-TR" smtClean="0"/>
              <a:t>21.10.2024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861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283676" y="320675"/>
            <a:ext cx="10556631" cy="1325563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tr-TR" dirty="0" smtClean="0"/>
              <a:t>Asıl başlık stili için tıklatın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283676" y="1646238"/>
            <a:ext cx="10556631" cy="435133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tr-TR" dirty="0" smtClean="0"/>
              <a:t>Asıl metin stillerini düzenle</a:t>
            </a:r>
          </a:p>
          <a:p>
            <a:pPr lvl="1"/>
            <a:r>
              <a:rPr lang="tr-TR" dirty="0" smtClean="0"/>
              <a:t>İkinci düzey</a:t>
            </a:r>
          </a:p>
          <a:p>
            <a:pPr lvl="2"/>
            <a:r>
              <a:rPr lang="tr-TR" dirty="0" smtClean="0"/>
              <a:t>Üçüncü düzey</a:t>
            </a:r>
          </a:p>
          <a:p>
            <a:pPr lvl="3"/>
            <a:r>
              <a:rPr lang="tr-TR" dirty="0" smtClean="0"/>
              <a:t>Dördüncü düzey</a:t>
            </a:r>
          </a:p>
          <a:p>
            <a:pPr lvl="4"/>
            <a:r>
              <a:rPr lang="tr-TR" dirty="0" smtClean="0"/>
              <a:t>Beşinci düzey</a:t>
            </a:r>
            <a:endParaRPr lang="tr-TR" dirty="0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>
          <a:xfrm>
            <a:off x="1295400" y="6356349"/>
            <a:ext cx="2743200" cy="365125"/>
          </a:xfrm>
        </p:spPr>
        <p:txBody>
          <a:bodyPr/>
          <a:lstStyle/>
          <a:p>
            <a:fld id="{C46BFB63-2AB2-4BA2-8CD9-A68D09A9B742}" type="datetime1">
              <a:rPr lang="tr-TR" smtClean="0"/>
              <a:t>21.10.2024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20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6E8C-C65E-4F63-AEE4-FAD8C582111C}" type="datetime1">
              <a:rPr lang="tr-TR" smtClean="0"/>
              <a:t>21.10.2024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995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4718-B27C-45EE-A76D-390338E2DE09}" type="datetime1">
              <a:rPr lang="tr-TR" smtClean="0"/>
              <a:t>21.10.2024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503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0E79-79FB-4C73-A853-D9D670F075EE}" type="datetime1">
              <a:rPr lang="tr-TR" smtClean="0"/>
              <a:t>21.10.2024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949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B1A0-33BC-4E80-A17D-D3AE4CBABFEA}" type="datetime1">
              <a:rPr lang="tr-TR" smtClean="0"/>
              <a:t>21.10.2024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11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5EE4-3681-4524-B732-0D6448CCBE17}" type="datetime1">
              <a:rPr lang="tr-TR" smtClean="0"/>
              <a:t>21.10.2024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362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96BB-783D-4D3E-99CD-AC33CF6608D3}" type="datetime1">
              <a:rPr lang="tr-TR" smtClean="0"/>
              <a:t>21.10.2024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8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9E9FA-750F-4658-A36B-A439B400F2F3}" type="datetime1">
              <a:rPr lang="tr-TR" smtClean="0"/>
              <a:t>21.10.2024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983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BD6CC-84C3-4375-AADE-3F6A6FFABFD1}" type="datetime1">
              <a:rPr lang="tr-TR" smtClean="0"/>
              <a:t>21.10.2024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869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dirty="0"/>
              <a:t/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 smtClean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3200" y="104832"/>
            <a:ext cx="1828800" cy="1184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173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1188084" y="1296670"/>
            <a:ext cx="1016571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Bölümün Adı			: </a:t>
            </a:r>
            <a:r>
              <a:rPr lang="tr-TR" sz="2400" b="1" dirty="0" err="1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Perfüzyon</a:t>
            </a:r>
            <a:endParaRPr lang="tr-TR" sz="2400" b="1" dirty="0" smtClean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 Kodu ve Adı		: PER247 Sterilizasyon ve Cerrahi Asepsi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Haftası		: 4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Günü ve Saati	: Pazartesi 15.00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 Kredi/AKTS Bilgileri	: 3/6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Sınav Şekli/ Not Dağılımı	: Test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</a:t>
            </a:r>
            <a:r>
              <a:rPr lang="tr-TR" sz="2400" b="1" dirty="0" err="1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		: Dr. </a:t>
            </a:r>
            <a:r>
              <a:rPr lang="tr-TR" sz="2400" b="1" dirty="0" err="1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Üyesi Sevinç Baba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E-posta ve Telefon		: sbaba@gelisim.edu.tr</a:t>
            </a:r>
          </a:p>
          <a:p>
            <a:r>
              <a:rPr lang="tr-TR" sz="2400" b="1" dirty="0" err="1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 Odası		: B Blok 015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Danışmanlık Bilgileri	: Pazartesi 14.00-15.00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GBS Linki			: 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https://gbs.gelisim.edu.tr/ders-detay-17-322-11089-1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ALMS Linki			: https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lms.gelisim.edu.tr/almsp/u/Home/Index</a:t>
            </a:r>
          </a:p>
          <a:p>
            <a:r>
              <a:rPr lang="tr-TR" sz="2400" b="1" dirty="0" smtClean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AVESİS Linki		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https://avesis.gelisim.edu.tr/sbaba</a:t>
            </a:r>
          </a:p>
        </p:txBody>
      </p:sp>
      <p:pic>
        <p:nvPicPr>
          <p:cNvPr id="8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8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İçerik Yer Tutucusu 8"/>
          <p:cNvSpPr>
            <a:spLocks noGrp="1"/>
          </p:cNvSpPr>
          <p:nvPr>
            <p:ph sz="half" idx="2"/>
          </p:nvPr>
        </p:nvSpPr>
        <p:spPr>
          <a:xfrm>
            <a:off x="1327618" y="1573967"/>
            <a:ext cx="5073182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hakkında genel bilgi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Asepsi-antisepsi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özellikleri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Malzeme yıkama ve hazırlama üniteleri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Sterilizasyonda güvenlik testleri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4"/>
          </p:nvPr>
        </p:nvSpPr>
        <p:spPr>
          <a:xfrm>
            <a:off x="6726836" y="1573967"/>
            <a:ext cx="5183188" cy="4615696"/>
          </a:xfrm>
        </p:spPr>
        <p:txBody>
          <a:bodyPr>
            <a:normAutofit/>
          </a:bodyPr>
          <a:lstStyle/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Setlerin kodlanması ve dokümantasyonu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Cerrahi malzemenin hazırlanması ve sterilizasyonu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Plastik malzemenin sterilizasyonu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 malzemenin depolanması ve korunması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</a:t>
            </a:fld>
            <a:endParaRPr lang="tr-TR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ikdörtgen 7"/>
          <p:cNvSpPr/>
          <p:nvPr/>
        </p:nvSpPr>
        <p:spPr>
          <a:xfrm>
            <a:off x="0" y="40802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14 HAFTALIK DERS </a:t>
            </a:r>
            <a:r>
              <a:rPr lang="tr-TR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KONULARI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885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kavramını öğrenir.</a:t>
            </a:r>
          </a:p>
          <a:p>
            <a:pPr marL="0" indent="0" algn="just"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seviyelerini tanımlar.</a:t>
            </a:r>
          </a:p>
          <a:p>
            <a:pPr marL="0" indent="0" algn="just">
              <a:buNone/>
            </a:pP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Dezenfektenlara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dirençli mikroorganizmaları açıklar.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28099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HAFTALIK </a:t>
            </a:r>
            <a:r>
              <a:rPr lang="tr-TR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ÖĞRENİM KAZANIMLARI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8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37398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ÖNCEKİ DERS HAKKINDA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2076545" y="1773382"/>
            <a:ext cx="7887096" cy="1133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Merkezi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teknik ve mimari donanımı</a:t>
            </a:r>
          </a:p>
        </p:txBody>
      </p:sp>
    </p:spTree>
    <p:extLst>
      <p:ext uri="{BB962C8B-B14F-4D97-AF65-F5344CB8AC3E}">
        <p14:creationId xmlns:p14="http://schemas.microsoft.com/office/powerpoint/2010/main" val="104289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6869723" y="2479964"/>
            <a:ext cx="4953000" cy="28817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35;g2ea15ffc163_0_29"/>
          <p:cNvPicPr preferRelativeResize="0"/>
          <p:nvPr/>
        </p:nvPicPr>
        <p:blipFill rotWithShape="1">
          <a:blip r:embed="rId3">
            <a:alphaModFix/>
          </a:blip>
          <a:srcRect l="26333" t="23998" r="20703" b="21593"/>
          <a:stretch/>
        </p:blipFill>
        <p:spPr>
          <a:xfrm>
            <a:off x="1593628" y="2622193"/>
            <a:ext cx="1731891" cy="17791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4;g2ea15ffc163_0_29"/>
          <p:cNvSpPr txBox="1"/>
          <p:nvPr/>
        </p:nvSpPr>
        <p:spPr>
          <a:xfrm>
            <a:off x="3233735" y="2622193"/>
            <a:ext cx="5856900" cy="3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tr-TR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.00-15.50</a:t>
            </a: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1.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16.00-16.50</a:t>
            </a: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2.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17.00-17.45/ 3.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</a:t>
            </a:fld>
            <a:endParaRPr lang="tr-TR"/>
          </a:p>
        </p:txBody>
      </p:sp>
      <p:sp>
        <p:nvSpPr>
          <p:cNvPr id="10" name="Dikdörtgen 9"/>
          <p:cNvSpPr/>
          <p:nvPr/>
        </p:nvSpPr>
        <p:spPr>
          <a:xfrm>
            <a:off x="66675" y="384093"/>
            <a:ext cx="121253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17265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GÜNLÜK AKIŞ</a:t>
            </a:r>
          </a:p>
        </p:txBody>
      </p:sp>
    </p:spTree>
    <p:extLst>
      <p:ext uri="{BB962C8B-B14F-4D97-AF65-F5344CB8AC3E}">
        <p14:creationId xmlns:p14="http://schemas.microsoft.com/office/powerpoint/2010/main" val="274098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Sporlu bakteriler dışındaki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mikroorganizmaların cansız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ortamdan elimine edilmesine</a:t>
            </a:r>
          </a:p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denir.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DEZENFEKSİYON</a:t>
            </a:r>
          </a:p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090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1706939" y="1275933"/>
            <a:ext cx="9321280" cy="4515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tr-TR" sz="105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Yüksek seviye dezenfeksiyon :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Tüm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vejetatif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bakteriler, virüsler ve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bakteri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sporları ile bakteri sporlarının bir kısmının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eliminasyonu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Orta </a:t>
            </a:r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seviye dezenfeksiyon :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Tüberküloz etkenleri ve diğer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vejetatif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bakterilerle virüs ve mantarların çoğunun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inaktive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edilmesi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Düşük </a:t>
            </a:r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seviye dezenfeksiyon :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Tüberküloz etkenleri ve zarfsız virüslere etkisiz olan, ancak bir kısım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vejetatif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mikroorganizmaları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inaktive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edebilen dezenfeksiyon seviyesi</a:t>
            </a:r>
          </a:p>
        </p:txBody>
      </p:sp>
    </p:spTree>
    <p:extLst>
      <p:ext uri="{BB962C8B-B14F-4D97-AF65-F5344CB8AC3E}">
        <p14:creationId xmlns:p14="http://schemas.microsoft.com/office/powerpoint/2010/main" val="57673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922939" y="604817"/>
            <a:ext cx="926638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Dezenfeksiyona Etki Eden </a:t>
            </a:r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Faktörler </a:t>
            </a:r>
          </a:p>
          <a:p>
            <a:endParaRPr lang="tr-TR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•Mikroorganizmaya bağlı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faktörler</a:t>
            </a: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Mikroorganizmanın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yapısı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Mikroorganizma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miktarı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Mikroorganizmanın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üreme periyodu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•Dezenfeksiyon işleminin ısısı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•Ortamın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pH’sı</a:t>
            </a: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Nisbi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nem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 suyun sertliği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•Organik maddelerin varlığı ve miktarı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•Dezenfektanın tipi ve konsantrasyonu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•Dezenfeksiyon uygulanan nesnenin yapısı 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•Dezenfektana maruz kalma süresi</a:t>
            </a:r>
          </a:p>
        </p:txBody>
      </p:sp>
    </p:spTree>
    <p:extLst>
      <p:ext uri="{BB962C8B-B14F-4D97-AF65-F5344CB8AC3E}">
        <p14:creationId xmlns:p14="http://schemas.microsoft.com/office/powerpoint/2010/main" val="129977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10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/>
          <p:cNvSpPr txBox="1"/>
          <p:nvPr/>
        </p:nvSpPr>
        <p:spPr>
          <a:xfrm>
            <a:off x="1812814" y="1414154"/>
            <a:ext cx="95409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Yüksek Düzey Dezenfeksiyon</a:t>
            </a:r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tr-TR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Deri ve mukoza bütünlüğünün bozulduğu yerlerde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kullanılan malzemelerin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dezenfeksiyonu bu grupta yer alır.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Bakteriyel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endosporlar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hariç mikroorganizmaların tümünü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dakikada öldüren dezenfektanlardır.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Temas süresi yeterli ise bakteri ve virüslerin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yanı sıra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sporlar üzerinde de etkilidirler.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Dezenfektan olarak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gluteraldehit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formaldehit, hidrojen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peroksit,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perasetik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asit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grupta yer alırlar.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86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Orta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Düzey Dezenfeksiyon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Steril vücut bölgelerine girmeyen, bütünlüğü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bozulmamış mukozalara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temas eden malzemelerin dezenfeksiyonu bu grupta yer alır.</a:t>
            </a: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Bakteri sporları hariç tüberküloz basili ve diğer mikroorganizmaları 10 dakikada etkileyen dezenfektanlardır.</a:t>
            </a: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Dezenfektan olarak klor bileşikleri, etil veya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isopropil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alkol,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fenol ve fenol bileşikleri,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iyodoforlar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grupta yer alır.</a:t>
            </a:r>
            <a:endParaRPr lang="tr-TR" sz="2400" b="1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865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12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628086" y="1818229"/>
            <a:ext cx="89592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Düşük Düzey </a:t>
            </a:r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Dezenfeksiyon:</a:t>
            </a:r>
          </a:p>
          <a:p>
            <a:endParaRPr lang="tr-TR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•Normal ve bütünlüğü bozulmamış deriye temas eden malzemelerin dezenfeksiyonu bu gruptadır. 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•Bakteri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endosporları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tüberküloz basiline etkili olmayan,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vejetatif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bakterilerin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çoğunu, bazı mantar ve virüsleri 10 dakikada öldüren dezenfektanlardır.</a:t>
            </a:r>
          </a:p>
        </p:txBody>
      </p:sp>
    </p:spTree>
    <p:extLst>
      <p:ext uri="{BB962C8B-B14F-4D97-AF65-F5344CB8AC3E}">
        <p14:creationId xmlns:p14="http://schemas.microsoft.com/office/powerpoint/2010/main" val="374918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670068" y="1038483"/>
            <a:ext cx="960984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Dezenfeksiyon, hasta bakım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alanlarındaki cansız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yüzeylere ve tıbbi cihazlara uygulanır. Bu amaçla kullanılan kimyasal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maddelere dezenfektan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adı verilir.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Dezenfektanlarda istenilen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özellikler;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Antimikrobiyal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spektrumu geniş hızlı ve kalıcı etkili olmalıdır.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Kullanıcıya ve hastaya zararsız olmalıdır.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Tıbbi cihazlar ve metal, plastik, kauçuk gibi yüzeylerle uyumlu olmalıdır.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Atıkları çevre dostu olmalıdır.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Sıcaklık ve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gibi çevresel faktörlerden etkilenmelidir.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Kan, balgam, dışkı gibi organik maddelerin varlığında bile aktivitesini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koruyabilmelidir.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Birlikte kullanıldığında sabun, deterjan gibi kimyasallar ile uyumlu olmalıdır. 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Kullanımı kolay olmalıdır.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Ekonomik olmalıdır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54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14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743959" y="1352929"/>
            <a:ext cx="960984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işleminde etki edilmesi hedeflenen mikroorganizma grupları son 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derece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önemlidir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Enfeksiyon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etkenleri dezenfeksiyon işlemine direnç özelliklerine göre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dirençliden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duyarlılığa doğru;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prionlar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bakteri sporları,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mikobakteriler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zarfsız virüsler,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mantarlar,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vejetatif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bakteriler ve zarflı virüsler şeklinde sıralanır. 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Bunun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yanında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biyofilm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içerisindeki mikroorganizmaların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diğerlerine göre dezenfeksiyona çok daha dirençli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olduğu unutulmamalıdır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875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631" y="1104803"/>
            <a:ext cx="7353937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05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 lnSpcReduction="10000"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r>
              <a:rPr lang="tr-T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Dezenfeksiyonu etkileyen </a:t>
            </a:r>
            <a:r>
              <a:rPr lang="tr-TR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faktörler-1</a:t>
            </a:r>
          </a:p>
          <a:p>
            <a:pPr marL="0" indent="0">
              <a:buNone/>
            </a:pPr>
            <a:endParaRPr lang="tr-TR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maddeler etki spektrumuna göre etkili oldukları </a:t>
            </a: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mikroorganizmaların </a:t>
            </a:r>
            <a:r>
              <a:rPr lang="tr-TR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inaktivasyonu</a:t>
            </a: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amacıyla </a:t>
            </a: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kullanılırlar.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Dezenfektanların </a:t>
            </a:r>
            <a:r>
              <a:rPr lang="tr-T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mikrobisidal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etkinliğini belirleyen temel faktörler yoğunluk ve </a:t>
            </a: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temas süresidir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tr-T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Birçok 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düşük yoğunlukta düşük ve orta düzey dezenfeksiyon </a:t>
            </a: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için, daha 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yüksek yoğunlukta ise YDD amacıyla kullanılabilir. Benzer şekilde kısa süreli </a:t>
            </a: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temas ile 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duyarlı mikroorganizma gruplarına etki gösteren bir ürünün, temas süresi </a:t>
            </a: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uzatıldığında etkili 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olduğu mikroorganizma spektrumu genişleyebilir.</a:t>
            </a:r>
            <a:endParaRPr lang="tr-TR" sz="2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16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474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 lnSpcReduction="10000"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r>
              <a:rPr lang="tr-T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Dezenfeksiyonu etkileyen </a:t>
            </a:r>
            <a:r>
              <a:rPr lang="tr-TR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faktörler-2</a:t>
            </a:r>
          </a:p>
          <a:p>
            <a:pPr marL="0" indent="0">
              <a:buNone/>
            </a:pPr>
            <a:endParaRPr lang="tr-TR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 üretici firmanın önerdiği konsantrasyonda kullanılmalı, temas </a:t>
            </a: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süresine dikkat 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edilmelidir.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Ortam ısısı ve </a:t>
            </a:r>
            <a:r>
              <a:rPr lang="tr-T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değeri etkiyi artırır yada azaltır.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Ortamda bulunan organik materyal, kir ve yağ, dezenfeksiyonu olumsuz etkiler.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Yüzeylerin özellikleri, yapıları, burada bulunan aktif maddeler ya da metal </a:t>
            </a:r>
            <a:r>
              <a:rPr lang="tr-T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iyonları dezenfektanın </a:t>
            </a:r>
            <a:r>
              <a:rPr lang="tr-T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cinsine göre dezenfeksiyon işlemini olumlu ya da olumsuz etkileyebilir.</a:t>
            </a:r>
            <a:endParaRPr lang="tr-T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561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" y="-3952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600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r>
              <a:rPr lang="tr-TR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Glutaraldehit</a:t>
            </a: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Glutaraldehit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yüksek düzey dezenfektan etkili doymuş bir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dialdehitdir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Düşük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pHdeğerlerinde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stabilitesiiyi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ancak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mikrobisidaletki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zayıftır.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Solüsyon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ancak alkali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pH’a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7.5-8.5) getirildiğinde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mikrobisidaletkisi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artarak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sporisidaletki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gösterir.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Farklı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formülasyonlar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aktivite stabilizasyonu sağlanmış ve kullanım süresi 28-30 güne kadar uzatılmıştır.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Materyal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uyumu oldukça iyidir.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Lensli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cihazlara, plastik ve silikon malzemelere zarar vermez. </a:t>
            </a:r>
          </a:p>
          <a:p>
            <a:pPr marL="0" indent="0">
              <a:buNone/>
            </a:pPr>
            <a:endParaRPr lang="tr-T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44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4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192687"/>
            <a:ext cx="10699262" cy="5308276"/>
          </a:xfrm>
        </p:spPr>
        <p:txBody>
          <a:bodyPr>
            <a:normAutofit fontScale="25000" lnSpcReduction="20000"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600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r>
              <a:rPr lang="tr-TR" sz="9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Glutaraldehit</a:t>
            </a:r>
            <a:endParaRPr lang="tr-TR" sz="96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9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Etkinlik</a:t>
            </a:r>
            <a:r>
              <a:rPr lang="tr-TR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tr-T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Glutaraldehit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suda </a:t>
            </a:r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çözünmüş solüsyonu ≥%2 </a:t>
            </a:r>
            <a:r>
              <a:rPr lang="tr-TR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konsantarasyonun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üstünde</a:t>
            </a:r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vejetatif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bakterileri </a:t>
            </a:r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dakika içinde öldürürken; </a:t>
            </a:r>
            <a:r>
              <a:rPr lang="tr-TR" sz="9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tr-TR" sz="9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tuberculosis</a:t>
            </a:r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mantarlar ve zarfsız virüslere oda ısısında 20 dakikada etki eder. </a:t>
            </a:r>
          </a:p>
          <a:p>
            <a:r>
              <a:rPr lang="tr-TR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Sporosidal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aktivite </a:t>
            </a:r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için daha uzun temas süreleri (&gt; 3 saat) gerekmektedir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tr-T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Uygulama: </a:t>
            </a:r>
            <a:endParaRPr lang="tr-T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Aldehit bazlı dezenfektanlar </a:t>
            </a:r>
            <a:r>
              <a:rPr lang="tr-TR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sabitleştirici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özelliktedir </a:t>
            </a:r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tıbbi cihazlar daldırılmadan önce üzerindeki biyolojik artıklar temizlenmiş olmalıdır. Aksi takdirde tıbbi cihaz üzerinde doku ve kanın sabitlenmesine sebep olarak </a:t>
            </a:r>
            <a:r>
              <a:rPr lang="tr-TR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biyofilm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oluşumuna </a:t>
            </a:r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neden olur. </a:t>
            </a:r>
          </a:p>
          <a:p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 üzerindeki dezenfektan kalıntılarının neden olduğu </a:t>
            </a:r>
            <a:r>
              <a:rPr lang="tr-TR" sz="9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toksik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alerjik reaksiyonlara </a:t>
            </a:r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bağlı komplikasyonlar gelişebilir. Kullanım sonrası tüm tıbbi cihazlar çok 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iyi </a:t>
            </a:r>
            <a:r>
              <a:rPr lang="tr-T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durulanmalıdır</a:t>
            </a:r>
            <a:r>
              <a:rPr lang="tr-TR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tr-TR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6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6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44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Dezenfektanlar-2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7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192687"/>
            <a:ext cx="10699262" cy="5308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Ortofitalaldehit</a:t>
            </a: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Geniş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aralığında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3-9) stabil olma özelliğine sahiptir.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Kullanım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öncesi aktive edilmesi gerekli değildir.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Mükemmel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malzeme uyumu gösterir.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İyi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temizlenmemiş üzerinde biyolojik artık kalmış olan tıbbi cihazlarda renk değişikliğine yol açar.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Biyolojik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artıkların tıbbi cihaz üzerinde sabitlenmesine yol açar ve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biyofilm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oluşumuna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neden olur.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Gözler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 solunum yolları mukozası üzerinde ciddi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irritasyon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yapmaz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maruziyet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sonrasında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monitorizasyon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gerekli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değildir, rahatsız edici kokusu yoktur. Kanserojen değildir. </a:t>
            </a: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600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6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6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20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44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Dezenfektanlar-3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03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76218" y="1754333"/>
            <a:ext cx="10612582" cy="4732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Ortofitalaldehit</a:t>
            </a: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Etkinlik: </a:t>
            </a: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Ortofitalaldehit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(OPA), doğrudan nükleik asitlere etki eder, hücresel bileşenlerin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alkilasyonu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mikroorganizmaları öldürür. 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Tüm mikroorganizmalara etkili olup,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mikobakterilere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etkisi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glutaraldehitten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daha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iyidir. </a:t>
            </a:r>
          </a:p>
          <a:p>
            <a:pPr marL="0" indent="0">
              <a:buNone/>
            </a:pPr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Uygulama: </a:t>
            </a: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OPA solüsyonu YDD süresi, elde kullanımda 12 dakika, ısı kontrolü yapılabilen otomatik makine ile kullanımda 25°C’de 5 dakikadır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44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Dezenfektanlar-4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9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76218" y="1754333"/>
            <a:ext cx="10612582" cy="4732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Klor ve klor bileşikleri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Klor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klor bileşikleri yüksek derecede oksitleyici özelliğe sahip olup farklı yapılarına rağmen benzer kimyasal reaksiyonlar gösterirler.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Hızlı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etkili, düşük maliyetli, geniş spektrumlu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antimikrobiyal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aktiviteye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(bakteri sporları dahil) sahip ve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toksik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kalıntı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bırakmayan dezenfektanlardır.</a:t>
            </a:r>
          </a:p>
          <a:p>
            <a:pPr marL="0" indent="0">
              <a:buNone/>
            </a:pPr>
            <a:endParaRPr lang="tr-TR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22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44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Dezenfektanlar-5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41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76218" y="1754333"/>
            <a:ext cx="10612582" cy="4732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Klor ve klor bileşikleri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Etkinlik: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Hücre içi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enzimatik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reaksiyonların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inhibisyonu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proteinlerin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denatürasyonu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nükleik asitlerin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inaktivasyonu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ile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mikroorganizmaları öldürür. 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Yoğunluk ve temas süresine göre etkinlikleri değişir ve yüksek, orta veya düşük düzeyde dezenfeksiyon sağlarlar. 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Etkinlik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ile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ters orantılıdır,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düştükçe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 artar.</a:t>
            </a: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Uygulama: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Hipoklorit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temas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inhalasyon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maruziyetideri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göz ve akciğerlerin mukozalarında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irritasyona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neden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olabilir. </a:t>
            </a: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Hipoklorit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kullanılan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alanlar iyi havalandırılmalı, uygun KKE kullanılmalıdır. </a:t>
            </a:r>
            <a:endParaRPr lang="tr-TR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44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Dezenfektanlar-6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52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76218" y="1754333"/>
            <a:ext cx="10612582" cy="47321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Klor ve klor bileşikleri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dirty="0"/>
          </a:p>
          <a:p>
            <a:r>
              <a:rPr lang="tr-TR" dirty="0"/>
              <a:t>Tüm dezenfektanlarda olduğu gibi temas süresi önemlidir. Çamaşır suları çoğunlukla 1/100 oranında sulandırılarak (500 </a:t>
            </a:r>
            <a:r>
              <a:rPr lang="tr-TR" dirty="0" err="1"/>
              <a:t>ppm</a:t>
            </a:r>
            <a:r>
              <a:rPr lang="tr-TR" dirty="0"/>
              <a:t>) genel dezenfektan olarak kullanılır. </a:t>
            </a:r>
          </a:p>
          <a:p>
            <a:r>
              <a:rPr lang="tr-TR" dirty="0" smtClean="0"/>
              <a:t>Kan</a:t>
            </a:r>
            <a:r>
              <a:rPr lang="tr-TR" dirty="0"/>
              <a:t>, serum gibi organik materyalin döküldüğü yerler kağıt veya bezle temizlendikten sonra, 1/10 (5000 </a:t>
            </a:r>
            <a:r>
              <a:rPr lang="tr-TR" dirty="0" err="1"/>
              <a:t>ppm</a:t>
            </a:r>
            <a:r>
              <a:rPr lang="tr-TR" dirty="0"/>
              <a:t>) oranında sulandırılmış çamaşır suyu kullanılarak dezenfeksiyonu yapılır.</a:t>
            </a:r>
          </a:p>
          <a:p>
            <a:r>
              <a:rPr lang="tr-TR" dirty="0" smtClean="0"/>
              <a:t>Klor </a:t>
            </a:r>
            <a:r>
              <a:rPr lang="tr-TR" dirty="0"/>
              <a:t>bileşikleri, tuz ruhu gibi asitler ve amonyakla karıştırıldığında </a:t>
            </a:r>
            <a:r>
              <a:rPr lang="tr-TR" dirty="0" err="1" smtClean="0"/>
              <a:t>toksik</a:t>
            </a:r>
            <a:r>
              <a:rPr lang="tr-TR" dirty="0" smtClean="0"/>
              <a:t> kimyasal </a:t>
            </a:r>
            <a:r>
              <a:rPr lang="tr-TR" dirty="0"/>
              <a:t>bileşiklere yol açtığından kesinlikle birlikte kullanılmamalıdır. </a:t>
            </a:r>
          </a:p>
          <a:p>
            <a:r>
              <a:rPr lang="tr-TR" dirty="0" smtClean="0"/>
              <a:t>Amonyak </a:t>
            </a:r>
            <a:r>
              <a:rPr lang="tr-TR" dirty="0"/>
              <a:t>oluşumu nedeniyle idrar döküntülerinin temizliğinde klor çözeltisi kullanılması sakıncalıdır. </a:t>
            </a:r>
          </a:p>
          <a:p>
            <a:r>
              <a:rPr lang="tr-TR" dirty="0" smtClean="0"/>
              <a:t>Yüzeylerin </a:t>
            </a:r>
            <a:r>
              <a:rPr lang="tr-TR" dirty="0"/>
              <a:t>dezenfeksiyonu temizlik ve durulama işleminden sonra yapılmalıdır.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24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44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Dezenfektanlar-7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52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445360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Klor ve klor bileşikleri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Tüm dezenfektanlarda olduğu gibi temas süresi önemlidir. Çamaşır suları çoğunlukla 1/100 oranında sulandırılarak (500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ppm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genel dezenfektan olarak kullanılır.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serum gibi organik materyalin döküldüğü yerler kağıt veya bezle temizlendikten sonra, 1/10 (5000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ppm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oranında sulandırılmış çamaşır suyu kullanılarak dezenfeksiyonu yapılır.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Klor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bileşikleri, tuz ruhu gibi asitler ve amonyakla karıştırıldığında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toksik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kimyasal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bileşiklere yol açtığından kesinlikle birlikte kullanılmamalıdır.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Amonyak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oluşumu nedeniyle idrar döküntülerinin temizliğinde klor çözeltisi kullanılması sakıncalıdır.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Yüzeylerin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dezenfeksiyonu temizlik ve durulama işleminden sonra yapılmalıdır.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44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Dezenfektanlar-8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45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76218" y="1754333"/>
            <a:ext cx="10612582" cy="4732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Klor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dioksit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İlk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olarak su dezenfeksiyonunda kullanılmıştır.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İçme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suyu dezenfeksiyonu, atık suların arıtılması ve balçık kontrolü için kullanılmaktadır. </a:t>
            </a:r>
          </a:p>
          <a:p>
            <a:r>
              <a:rPr lang="nn-NO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Geniş </a:t>
            </a:r>
            <a:r>
              <a:rPr lang="nn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pHaralığında (pH: 6-10) aktivite gösterir. </a:t>
            </a: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Korozif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tahriş edici özellikleri vardır.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26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44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Dezenfektanlar-9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81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458442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Klor dioksit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Etkinlik: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 spektrumu geniştir. Sıvı formu YDD etkinliğine sahiptir. Gaz formu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sıvı formuna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göre çok daha etkilidir. Kullanım için sunulan konsantrasyonları ile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dakikada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YDD elde edilir;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sporosidal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aktivite için 10 dakika temas süresi gereklidir.</a:t>
            </a:r>
          </a:p>
          <a:p>
            <a:pPr marL="0" indent="0">
              <a:lnSpc>
                <a:spcPct val="100000"/>
              </a:lnSpc>
              <a:buNone/>
            </a:pPr>
            <a:endParaRPr lang="tr-T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Uygulama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Klor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dioksidin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bazı bileşikleri günümüzde tıbbi cihaz ve yer yüzey dezenfeksiyonu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için kullanılmaktadır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Dayanıksız olduğundan kullanım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sırasında üretilmelidir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Klor dioksit diğer klor birleşikleri gibi organik maddelerden ve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ışıktan etkilenir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Işık almayan kapalı kaplarda tutulmalıdır.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Dezenfektanlar-10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28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140505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tr-T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Süperokside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 </a:t>
            </a:r>
          </a:p>
          <a:p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Dayanıksız bir ürün olduğundan genellikle uygulama yerinde üretilir ve bir defalık kullanılır.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Organik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madde varlığında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inaktive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olur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Çevreye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 insan sağlığına zararlı etkisi yoktur.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583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Dezenfektanlar-11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379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140505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Süperokside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 </a:t>
            </a: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Etkinlik: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Antimikrobiyal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etkinliği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birçok bakteri, virüs, mantar,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mikobakteri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bakteri sporları için test edilmiştir. 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Organik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madde bulunmayan ortamda 5 dakikada patojen mikroorganizmaların tamamını yok ettiği gösterilmiştir. </a:t>
            </a: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Biyofilm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oluşumunun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önlenmesi ve mevcut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biyofilm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tabakasının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parçalanmasında da etkilidir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Uygulama: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Isıya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duyarlı tıbbi cihazların, endoskopların, sert yüzeylerin, hemodiyaliz ekipmanlarının ve su sistemlerinin dezenfeksiyonunda kullanılır. </a:t>
            </a: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Biyofilm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üzerine etkin olması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nedeniyle diş ünitelerinin su sistemlerinin ve filtrelerin dezenfeksiyonunda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kullanılır.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29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Dezenfektanlar-12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57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652247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Hidrojen peroksit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Hidrojen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peroksit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mikrobisidal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etkisi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güçlü bir dezenfektandır. Su ve oksijene ayrışarak zararsız moleküllere dönüşür. Bu sırada açığa çıkan hidroksil radikalleri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mikrobisidal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etkiyi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oluşturur.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Düşük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yoğunluklardaki kullanım çözeltilerinin dayanıklılığı çok azdır ve hızla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inaktive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olur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30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Dezenfektanlar-13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05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270611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Hidrojen 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peroksit</a:t>
            </a: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Etkinlik: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Hidrojen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peroksitin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mikrobisidal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etkisi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hücre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membranı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DNA ve proteinlerini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denatüre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eden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serbest radikallere bağlıdır. Hidrojen peroksit sıvı formda düşük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konsantrasyonlarda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bakterisidal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fungisidal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etkilidir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Sporisidal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oluşturan yüksek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konsantrasyonlarda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korozif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çok güçlüdür. Gaz formdaki hidrojen peroksit çok düşük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konsantrasyonlarda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 0.1 mg/litre)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virüsidal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bakterisidal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fungisidal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mikobakterisidal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sporisidal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etkilidir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Uygulama: </a:t>
            </a:r>
            <a:endParaRPr lang="tr-T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Hidrojen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peroksitin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3’lük çözeltisi düşük düzey dezenfektan olarak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yüzeylerde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efektif ve kalıcı bir dezenfeksiyon sağlar. Yumuşak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kontakt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lenslerin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ventilatörlerin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endoskopların dezenfeksiyonunda % 7.5’lik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çözeltisi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yüksek düzey dezenfektan olarak kullanılır. 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31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Dezenfektanlar-14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47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270611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Perasetik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asit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Perasetik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asit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asetik asit, su, oksijen, hidrojen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peroksite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dönüşür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kalıntı bırakmaz.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Organik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kirlerin varlığında etkinliği devam eder.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Düşük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sıcaklıklarda aktivitesini korur.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Paslanmaz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çelik, bakır, pirinç ve bronz gibi birçok metale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korozif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etkilidir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düşük yoğunluklarda dayanıklı değildir, hızla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inaktive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olur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32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Dezenfektanlar-15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10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270611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Perasetik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asit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Etkinlik: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Parasetik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asit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(PA) tüm mikroorganizmalara hızlı etkilidir. 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Diğer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oksidan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etkili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kimyasallara benzer şekilde serbest hidroksil radikalleri ile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membran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lipitlerine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DNA’ya ve diğer temel hücre bileşenlerine yıkıcı etki gösterir ve mikroorganizmaları öldürür.</a:t>
            </a:r>
          </a:p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Uygulama: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Otomatize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endoskop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dezenfektörlerinde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kullanılmaya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uygun ürünler kullanıma sunulmuştur. 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Metallere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korozif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nedeniyle kullanılacak tıbbi cihazın yapısı göz önünde bulundurulmalıdır. 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 olmaması nedeniyle etkinliği kısa sürede kaybolur, bu nedenle çözeltilerin önerilen kullanım sürelerine uygun aralıklarla değiştirilmesi gereklidir.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33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Dezenfektanlar-16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2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270611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Alkoller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izopropilalkol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antimikrobiyal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etkileri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güçlü alkol türevleridir.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Sudaki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%60-80 oranındaki çözeltileri en etkindir.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Yüzeylerin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termometre,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steteskop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gibi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cihazların dezenfeksiyonu için kullanılan orta ve düşük düzey dezenfeksiyon sağlayan bileşiklerdir.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Geniş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olmamak kaydıyla sert ve düz yüzeyler alkolle silinerek dezenfekte edilebilirler.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Geniş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yüzeylerin temizliğinden kaçınılmalıdır.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Etil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alkolün %60-80 konsantrasyonları hepatit A virüsü ve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polyovirüs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dışındaki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zarflı ve zarfsız virüslere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virüsidal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etkilidir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İzopropil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alkol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zarflı virüslere etkili zarfsız virüslere etkili değildir. 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34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Dezenfektanlar-17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38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270611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Alkoller</a:t>
            </a:r>
          </a:p>
          <a:p>
            <a:pPr marL="0" indent="0">
              <a:buNone/>
            </a:pPr>
            <a:r>
              <a:rPr lang="tr-TR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Etkinlik: </a:t>
            </a:r>
            <a:endParaRPr lang="tr-TR" sz="2400" b="1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4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Mikrobisidal</a:t>
            </a:r>
            <a:r>
              <a:rPr lang="tr-T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etki </a:t>
            </a:r>
            <a:r>
              <a:rPr lang="tr-TR" sz="2400" dirty="0">
                <a:solidFill>
                  <a:srgbClr val="000000"/>
                </a:solidFill>
                <a:latin typeface="Calibri" panose="020F0502020204030204" pitchFamily="34" charset="0"/>
              </a:rPr>
              <a:t>proteinlerin </a:t>
            </a:r>
            <a:r>
              <a:rPr lang="tr-TR" sz="24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denatürasyonuna</a:t>
            </a:r>
            <a:r>
              <a:rPr lang="tr-T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bağlıdır</a:t>
            </a:r>
            <a:r>
              <a:rPr lang="tr-TR" sz="2400" dirty="0">
                <a:solidFill>
                  <a:srgbClr val="000000"/>
                </a:solidFill>
                <a:latin typeface="Calibri" panose="020F0502020204030204" pitchFamily="34" charset="0"/>
              </a:rPr>
              <a:t>. Bakteri, mantar, zarflı </a:t>
            </a:r>
            <a:r>
              <a:rPr lang="tr-T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virüs </a:t>
            </a:r>
            <a:r>
              <a:rPr lang="tr-TR" sz="2400" dirty="0">
                <a:solidFill>
                  <a:srgbClr val="000000"/>
                </a:solidFill>
                <a:latin typeface="Calibri" panose="020F0502020204030204" pitchFamily="34" charset="0"/>
              </a:rPr>
              <a:t>ve </a:t>
            </a:r>
            <a:r>
              <a:rPr lang="tr-TR" sz="24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mikobakterilere</a:t>
            </a:r>
            <a:r>
              <a:rPr lang="tr-T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etkilidir</a:t>
            </a:r>
            <a:r>
              <a:rPr lang="tr-TR" sz="2400" dirty="0">
                <a:solidFill>
                  <a:srgbClr val="000000"/>
                </a:solidFill>
                <a:latin typeface="Calibri" panose="020F0502020204030204" pitchFamily="34" charset="0"/>
              </a:rPr>
              <a:t>. Zarfsız virüslere etkisi yoktur. </a:t>
            </a:r>
            <a:r>
              <a:rPr lang="tr-TR" sz="24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Sporisidal</a:t>
            </a:r>
            <a:r>
              <a:rPr lang="tr-T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değildir</a:t>
            </a:r>
            <a:r>
              <a:rPr lang="tr-TR" sz="24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tr-TR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Uygulama: </a:t>
            </a:r>
            <a:endParaRPr lang="tr-TR" sz="2400" b="1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El </a:t>
            </a:r>
            <a:r>
              <a:rPr lang="tr-TR" sz="2400" dirty="0">
                <a:solidFill>
                  <a:srgbClr val="000000"/>
                </a:solidFill>
                <a:latin typeface="Calibri" panose="020F0502020204030204" pitchFamily="34" charset="0"/>
              </a:rPr>
              <a:t>hijyeni ve cilt antisepsisinde yaygın olarak kullanılmaktadır. Tespit </a:t>
            </a:r>
            <a:r>
              <a:rPr lang="tr-T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edici </a:t>
            </a:r>
            <a:r>
              <a:rPr lang="tr-TR" sz="2400" dirty="0">
                <a:solidFill>
                  <a:srgbClr val="000000"/>
                </a:solidFill>
                <a:latin typeface="Calibri" panose="020F0502020204030204" pitchFamily="34" charset="0"/>
              </a:rPr>
              <a:t>özellikleri nedeni ile iyi temizlik yapılmadan kullanılmaları durumunda organik </a:t>
            </a:r>
            <a:r>
              <a:rPr lang="tr-T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kirleri </a:t>
            </a:r>
            <a:r>
              <a:rPr lang="tr-TR" sz="2400" dirty="0">
                <a:solidFill>
                  <a:srgbClr val="000000"/>
                </a:solidFill>
                <a:latin typeface="Calibri" panose="020F0502020204030204" pitchFamily="34" charset="0"/>
              </a:rPr>
              <a:t>tespit eder. Hızla buharlaştığından tıbbi cihazlar alkol içine 10 dakika süreyle </a:t>
            </a:r>
            <a:r>
              <a:rPr lang="tr-TR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batırarak </a:t>
            </a:r>
            <a:r>
              <a:rPr lang="tr-TR" sz="2400" dirty="0">
                <a:solidFill>
                  <a:srgbClr val="000000"/>
                </a:solidFill>
                <a:latin typeface="Calibri" panose="020F0502020204030204" pitchFamily="34" charset="0"/>
              </a:rPr>
              <a:t>etkin bir dezenfeksiyon sağlanabilir. 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35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Dezenfektanlar-18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75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270611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Dörtlü (</a:t>
            </a:r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kuaterner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amonyum bileşikleri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Dörtlü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amonyum bileşikleri yaygın kullanılan düşük düzey dezenfektanlardır.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etkinin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yanısıra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temizleyici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etkisi de olması nedeniyle dörtlü amonyum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bileşikleri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yer yüzey dezenfeksiyonunda tercih edilen ürünlerdir.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sertliğinden olumsuz etkilenirler; ayrıca pamuk ve selüloz tarafından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absorbe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edildiklerinden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pamuklu bez ve kağıt ile silme şeklinde uygulamada etkinlikleri azalır. </a:t>
            </a:r>
          </a:p>
          <a:p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Anyonik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deterjanlar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sabun ile geçimsizdirler.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 negatif bakteriler dörtlü amonyum bileşiklerine kolayca direnç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kazanabilirler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Bekletilen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çözeltiler içinde canlılıklarını sürdürebilmekte hatta çoğalabilmektedir. </a:t>
            </a:r>
          </a:p>
          <a:p>
            <a:pPr marL="0" indent="0">
              <a:buNone/>
            </a:pPr>
            <a:endParaRPr lang="tr-T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36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Dezenfektanlar-19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59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270611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Dörtlü (</a:t>
            </a:r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kuaterner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amonyum bileşikleri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Etkinlik: </a:t>
            </a: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Etki mekanizması hücre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membranı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hasarı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protein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denatürasyonu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enzim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inaktivasyonuna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bağlıdır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Hastane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dezenfektanı olarak tanımlanır. 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Sporlara ve zarfsız virüslere etkili değildir.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Tüberküloz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basiline etkileri zayıftır. </a:t>
            </a:r>
          </a:p>
          <a:p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Zarflı virüs, bakteri ve mantarlara etkilidir.</a:t>
            </a:r>
          </a:p>
          <a:p>
            <a:pPr marL="0" indent="0">
              <a:buNone/>
            </a:pPr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Uygulama: </a:t>
            </a:r>
            <a:endParaRPr lang="tr-TR" sz="24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Kapı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duvar, zemin, mobilya vb. kritik olmayan yüzeylerin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dezenfeksiyonu amacıyla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kullanılır. Kritik olmayan tıbbi cihazların (tansiyon aleti manşonu, </a:t>
            </a:r>
            <a:r>
              <a:rPr lang="tr-T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steteskop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cilt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termometresi) dezenfeksiyonunda kullanılmaya uygundur.</a:t>
            </a:r>
            <a:endParaRPr lang="tr-T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37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Dezenfektanlar-20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48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270611"/>
            <a:ext cx="10612582" cy="47321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Polimerik</a:t>
            </a:r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guanidin</a:t>
            </a:r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Polihekzametilen</a:t>
            </a:r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biguanid</a:t>
            </a:r>
            <a:r>
              <a:rPr lang="tr-TR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Sınırlı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sayıda yapılan çalışmalarla birçok mikroorganizmaya etkili olduğu saptanmış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guanidin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türevi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bileşiktir. </a:t>
            </a:r>
          </a:p>
          <a:p>
            <a:r>
              <a:rPr lang="tr-TR" sz="24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Bacillus</a:t>
            </a:r>
            <a:r>
              <a:rPr lang="tr-TR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subtilis</a:t>
            </a:r>
            <a:r>
              <a:rPr lang="tr-TR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sporlarına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karşı çok düşük konsantrasyonlarda </a:t>
            </a:r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sporisidal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etkilidir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tr-TR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Toksik</a:t>
            </a:r>
            <a:r>
              <a:rPr lang="tr-TR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etkisi </a:t>
            </a:r>
            <a:r>
              <a:rPr lang="tr-T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bildirilmemiştir. </a:t>
            </a:r>
          </a:p>
          <a:p>
            <a:r>
              <a:rPr lang="sv-SE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 </a:t>
            </a:r>
            <a:r>
              <a:rPr lang="sv-SE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 ve hem de antiseptik olarak kullanılmaktadır. </a:t>
            </a: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38</a:t>
            </a:fld>
            <a:endParaRPr lang="tr-TR" dirty="0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289538" y="678840"/>
            <a:ext cx="2600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Dezenfektanlar-21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4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şeritlerinin 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kullanımı-1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Glutaraldehit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OPA, hidrojen peroksit ve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perasetik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asit gibi yüksek düzey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için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kullanılan solüsyonların minimum etkin konsantrasyonunu (MEK)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değerlendirmek için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şeritleri kullanılır. </a:t>
            </a:r>
            <a:endParaRPr lang="tr-T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MSÜ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lerde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bazı durumlarda farklı konsantrasyonlarda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hidrojen peroksit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perasetik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asit, yıkama basamağında ön işlem amacıyla kullanılabilmektedir.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amaçla kullanıldıklarında sık kirlenip gün içinde birkaç kez değiştirildiğinden ve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yüksek düzey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amaçlanmadığından MEK testi yapılmasına gerek yoktur.</a:t>
            </a:r>
            <a:endParaRPr lang="tr-T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249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şeritlerinin 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kullanımı-2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etkin konsantrasyonu (MEK) saptamak için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ölçerler kullanılmaz.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şeritleri ürüne özeldir.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 yapılış sıklığı, solüsyonun kullanım sıklığına göre belirlenir.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Örn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Günlük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kullanılan çözeltilerde 30 kullanımda bir test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Bir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günden daha uzun süre kullanılan çözeltilerde, her gün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kullanıma başlamadan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önce bir test, her 10 kullanımdan sonra bir test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 süresi dolan solüsyon test yapılmadan bertaraf edilir ve yeni solüsyon hazırlanır.</a:t>
            </a:r>
            <a:endParaRPr lang="tr-T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40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78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47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kullanımında hasta ve sağlık çalışanı 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güvenliği-1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Dezenfektanlar, zararlı, tahriş edici, yakıcı veya aşındırıcı olabilen kimyasal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maddelerdir. Bazı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kişiler dezenfektanlara karşı daha duyarlı veya alerjik olabilir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Göz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burun,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ağız,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gastrointestinal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 mukozası ile teması, buharlarının solunması ya da deriden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emilimi yoluyla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 döküntüleri,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kontakt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dermatit veya nadiren solunum güçlüğüne (astım)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neden olabilirler. Bu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bireyler, çalışan sağlığı birimi tarafından sağlık riskleri ve uygun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eylem açısından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değerlendirilir; ünite/kurum sorumluları bilgilendirilir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Sağlık kurumlarında dezenfektanlar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seçilirken öncelikle risk değerlendirmesi yapılır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Çalışanlar, dezenfektanların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kullanımı, zarar verici etkileri, ve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biyogüvenlik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konularında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bilgilendirilir ve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eğitilir.</a:t>
            </a:r>
            <a:endParaRPr lang="tr-TR" sz="2400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079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47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kullanımında hasta ve sağlık çalışanı 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güvenliği-2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 üretici firmanın önerisi doğrultusunda hazırlanır ve kullanılır. Ayrıca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üreticilerinin talimatları da göz önüne alınır. Gerekirse üretici firmadan,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kullanılan dezenfektanın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söz konusu tıbbi cihaz için uygun olup olmadığı konusunda görüş alınır.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Çalışanların işlem sırasında KKD (eldiven, önlük, solunum ve göz koruması)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kullanması sağlanır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solüsyonları taze olarak, uygun kaplarda, doğru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konsantrasyonlarda hazırlanır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son kullanma tarihi dikkate alınarak kullanılır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Hazırlanan solüsyonlar, buhar teması riskini azaltmak için kapalı bir kapta tutulur.</a:t>
            </a:r>
            <a:endParaRPr lang="tr-TR" sz="2400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42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841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47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kullanımında hasta ve sağlık çalışanı </a:t>
            </a:r>
            <a:r>
              <a:rPr lang="tr-T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güvenliği-3</a:t>
            </a:r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Çalışma alanına yakın bir yerde beden ve göz yıkama istasyonu veya acil göz yıkama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kiti bulundurulur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havalandırılabilir bir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alanda kullanılır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Maruziyet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yaşandığında, çalışanlar ve maruz kalan diğer kişiler önerilen yönergelere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göre izlenir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 solüsyonlar, birbiriyle karıştırılmaz ve/veya deterjan eklenmez.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 aşındırıcı olabilir, kumaşlara, metallere ve plastiklere zarar verebilir.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 üreticinin tavsiyelerine ve yerel kılavuza uygun olarak imha edilir. 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Böylece ekosisteme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etkileri en aza indirilmiş olur.</a:t>
            </a:r>
          </a:p>
          <a:p>
            <a:pPr marL="0" indent="0">
              <a:buNone/>
            </a:pPr>
            <a:endParaRPr lang="tr-TR" sz="2400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534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349336" y="1718269"/>
            <a:ext cx="3097036" cy="3755461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44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BUGÜN NELER ÖĞRENDİK?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947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013329" y="1813994"/>
            <a:ext cx="5084505" cy="3907875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40548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SORU VE ÖNERİLER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887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pPr marL="0" indent="0" algn="just"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düzeyler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marL="0" indent="0" algn="just">
              <a:buNone/>
            </a:pP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Dezenfektanlar ve kullanımları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46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1" y="38535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ÖNERİLEN HAFTALIK ÇALIŞMALAR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804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Zenciroğlu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D. (2024). Dezenfeksiyon Antisepsi Sterilizasyon Rehberi.</a:t>
            </a:r>
          </a:p>
          <a:p>
            <a:pPr marL="0" indent="0" algn="just">
              <a:buNone/>
            </a:pP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Altındiş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(2021). Hemşireler için Mikrobiyoloji. Ankara: </a:t>
            </a: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NobelTıp</a:t>
            </a:r>
            <a:r>
              <a:rPr lang="tr-T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Kitabevi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1" y="28310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KAYNAKÇA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135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420269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BİR SONRAKİ DERS HAKKINDA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707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10710042" cy="53918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tr-TR" dirty="0" smtClean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r>
              <a:rPr lang="tr-TR" dirty="0" smtClean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Dr. </a:t>
            </a:r>
            <a:r>
              <a:rPr lang="tr-TR" dirty="0" err="1" smtClean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Öğr</a:t>
            </a:r>
            <a:r>
              <a:rPr lang="tr-TR" dirty="0" smtClean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. Üyesi Sevinç Baba’nın Sterilizasyon ve Cerrahi Asepsi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/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/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Dersine ait sunumlar </a:t>
            </a:r>
            <a:r>
              <a:rPr lang="tr-TR" dirty="0" smtClean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özel 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olduğu için burada yer alan  metin ve görsellerin,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 öğretim üyesinden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izin alınmaksızın sosyal medya ya da farklı alanlarda kullanılması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i="1" u="sng" dirty="0">
                <a:solidFill>
                  <a:srgbClr val="FF0000"/>
                </a:solidFill>
                <a:ea typeface="Times New Roman"/>
                <a:cs typeface="Times New Roman"/>
                <a:sym typeface="Times New Roman"/>
              </a:rPr>
              <a:t>6698 Sayılı Kanun 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ile güvence altına alınan kişisel verilerin ve özel hayatın korunmasına yönelik düzenlemelere aykırıdır.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endParaRPr lang="tr-TR" sz="2400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038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6494080" cy="5391807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 smtClean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 smtClean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dirty="0"/>
              <a:t>"Genç fikirli demek, doğruyu gören ve anlayan gerçek fikirli demektir."</a:t>
            </a: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b="1" dirty="0">
                <a:solidFill>
                  <a:srgbClr val="172652"/>
                </a:solidFill>
                <a:ea typeface="Times New Roman"/>
                <a:cs typeface="Times New Roman"/>
                <a:sym typeface="Times New Roman"/>
              </a:rPr>
              <a:t>                              Mustafa Kemal ATATÜRK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 smtClean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323;g2ea15ffc163_0_229" descr="kişi, şahıs, insan yüzü, giyim, askeri üniforma içeren bir resim&#10;&#10;Açıklama otomatik olarak oluşturuldu"/>
          <p:cNvPicPr preferRelativeResize="0"/>
          <p:nvPr/>
        </p:nvPicPr>
        <p:blipFill rotWithShape="1">
          <a:blip r:embed="rId3">
            <a:alphaModFix/>
          </a:blip>
          <a:srcRect l="16533"/>
          <a:stretch/>
        </p:blipFill>
        <p:spPr>
          <a:xfrm>
            <a:off x="8421447" y="1542485"/>
            <a:ext cx="3570201" cy="462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193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9254" y="365125"/>
            <a:ext cx="1761392" cy="10397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013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2701</Words>
  <Application>Microsoft Office PowerPoint</Application>
  <PresentationFormat>Geniş ekran</PresentationFormat>
  <Paragraphs>402</Paragraphs>
  <Slides>51</Slides>
  <Notes>20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51</vt:i4>
      </vt:variant>
    </vt:vector>
  </HeadingPairs>
  <TitlesOfParts>
    <vt:vector size="58" baseType="lpstr">
      <vt:lpstr>Arial</vt:lpstr>
      <vt:lpstr>Calibri</vt:lpstr>
      <vt:lpstr>Calibri Light</vt:lpstr>
      <vt:lpstr>Courier New</vt:lpstr>
      <vt:lpstr>Times New Roman</vt:lpstr>
      <vt:lpstr>Wingdings</vt:lpstr>
      <vt:lpstr>Office Teması</vt:lpstr>
      <vt:lpstr>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kaydemir</dc:creator>
  <cp:lastModifiedBy>Sevinç BABA</cp:lastModifiedBy>
  <cp:revision>141</cp:revision>
  <dcterms:created xsi:type="dcterms:W3CDTF">2024-07-10T08:02:52Z</dcterms:created>
  <dcterms:modified xsi:type="dcterms:W3CDTF">2024-10-21T11:42:04Z</dcterms:modified>
</cp:coreProperties>
</file>