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2"/>
  </p:notesMasterIdLst>
  <p:sldIdLst>
    <p:sldId id="256" r:id="rId2"/>
    <p:sldId id="259" r:id="rId3"/>
    <p:sldId id="271" r:id="rId4"/>
    <p:sldId id="273" r:id="rId5"/>
    <p:sldId id="272" r:id="rId6"/>
    <p:sldId id="274" r:id="rId7"/>
    <p:sldId id="310" r:id="rId8"/>
    <p:sldId id="402" r:id="rId9"/>
    <p:sldId id="390" r:id="rId10"/>
    <p:sldId id="403" r:id="rId11"/>
    <p:sldId id="404" r:id="rId12"/>
    <p:sldId id="405" r:id="rId13"/>
    <p:sldId id="406" r:id="rId14"/>
    <p:sldId id="407" r:id="rId15"/>
    <p:sldId id="408" r:id="rId16"/>
    <p:sldId id="409" r:id="rId17"/>
    <p:sldId id="410" r:id="rId18"/>
    <p:sldId id="411" r:id="rId19"/>
    <p:sldId id="412" r:id="rId20"/>
    <p:sldId id="413" r:id="rId21"/>
    <p:sldId id="414" r:id="rId22"/>
    <p:sldId id="415" r:id="rId23"/>
    <p:sldId id="360" r:id="rId24"/>
    <p:sldId id="416" r:id="rId25"/>
    <p:sldId id="417" r:id="rId26"/>
    <p:sldId id="418" r:id="rId27"/>
    <p:sldId id="419" r:id="rId28"/>
    <p:sldId id="420" r:id="rId29"/>
    <p:sldId id="421" r:id="rId30"/>
    <p:sldId id="422" r:id="rId31"/>
    <p:sldId id="423" r:id="rId32"/>
    <p:sldId id="424" r:id="rId33"/>
    <p:sldId id="425" r:id="rId34"/>
    <p:sldId id="426" r:id="rId35"/>
    <p:sldId id="427" r:id="rId36"/>
    <p:sldId id="428" r:id="rId37"/>
    <p:sldId id="429" r:id="rId38"/>
    <p:sldId id="430" r:id="rId39"/>
    <p:sldId id="431" r:id="rId40"/>
    <p:sldId id="432" r:id="rId41"/>
    <p:sldId id="433" r:id="rId42"/>
    <p:sldId id="434" r:id="rId43"/>
    <p:sldId id="278" r:id="rId44"/>
    <p:sldId id="279" r:id="rId45"/>
    <p:sldId id="280" r:id="rId46"/>
    <p:sldId id="281" r:id="rId47"/>
    <p:sldId id="284" r:id="rId48"/>
    <p:sldId id="282" r:id="rId49"/>
    <p:sldId id="283" r:id="rId50"/>
    <p:sldId id="257" r:id="rId51"/>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26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58"/>
    <p:restoredTop sz="94637"/>
  </p:normalViewPr>
  <p:slideViewPr>
    <p:cSldViewPr snapToGrid="0">
      <p:cViewPr varScale="1">
        <p:scale>
          <a:sx n="108" d="100"/>
          <a:sy n="108" d="100"/>
        </p:scale>
        <p:origin x="76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6B2101-028C-4C7C-BD50-C9732890444B}" type="datetimeFigureOut">
              <a:rPr lang="en-US" smtClean="0"/>
              <a:t>11/5/25</a:t>
            </a:fld>
            <a:endParaRPr lang="en-US"/>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013FAA-B49B-438C-9DA4-0021B6332064}" type="slidenum">
              <a:rPr lang="en-US" smtClean="0"/>
              <a:t>‹#›</a:t>
            </a:fld>
            <a:endParaRPr lang="en-US"/>
          </a:p>
        </p:txBody>
      </p:sp>
    </p:spTree>
    <p:extLst>
      <p:ext uri="{BB962C8B-B14F-4D97-AF65-F5344CB8AC3E}">
        <p14:creationId xmlns:p14="http://schemas.microsoft.com/office/powerpoint/2010/main" val="2826919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p:cNvSpPr>
            <a:spLocks noGrp="1"/>
          </p:cNvSpPr>
          <p:nvPr>
            <p:ph type="dt" sz="half" idx="10"/>
          </p:nvPr>
        </p:nvSpPr>
        <p:spPr/>
        <p:txBody>
          <a:bodyPr/>
          <a:lstStyle/>
          <a:p>
            <a:fld id="{658A3907-0054-4CE1-BA2E-6D8CEC36E5B7}" type="datetime1">
              <a:rPr lang="tr-TR" smtClean="0"/>
              <a:t>5.11.2025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125D401F-286E-468B-9BCD-6DE50C180B4C}" type="slidenum">
              <a:rPr lang="tr-TR" smtClean="0"/>
              <a:t>‹#›</a:t>
            </a:fld>
            <a:endParaRPr lang="tr-TR"/>
          </a:p>
        </p:txBody>
      </p:sp>
    </p:spTree>
    <p:extLst>
      <p:ext uri="{BB962C8B-B14F-4D97-AF65-F5344CB8AC3E}">
        <p14:creationId xmlns:p14="http://schemas.microsoft.com/office/powerpoint/2010/main" val="1687861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9E2316E5-22D1-424E-9E03-7FE4FCF4E762}" type="datetime1">
              <a:rPr lang="tr-TR" smtClean="0"/>
              <a:t>5.11.2025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125D401F-286E-468B-9BCD-6DE50C180B4C}" type="slidenum">
              <a:rPr lang="tr-TR" smtClean="0"/>
              <a:t>‹#›</a:t>
            </a:fld>
            <a:endParaRPr lang="tr-TR"/>
          </a:p>
        </p:txBody>
      </p:sp>
    </p:spTree>
    <p:extLst>
      <p:ext uri="{BB962C8B-B14F-4D97-AF65-F5344CB8AC3E}">
        <p14:creationId xmlns:p14="http://schemas.microsoft.com/office/powerpoint/2010/main" val="4159549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831850" y="1709738"/>
            <a:ext cx="105156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a:t>
            </a:r>
          </a:p>
        </p:txBody>
      </p:sp>
      <p:sp>
        <p:nvSpPr>
          <p:cNvPr id="4" name="Veri Yer Tutucusu 3"/>
          <p:cNvSpPr>
            <a:spLocks noGrp="1"/>
          </p:cNvSpPr>
          <p:nvPr>
            <p:ph type="dt" sz="half" idx="10"/>
          </p:nvPr>
        </p:nvSpPr>
        <p:spPr/>
        <p:txBody>
          <a:bodyPr/>
          <a:lstStyle/>
          <a:p>
            <a:fld id="{11153F9A-8D36-43A8-ABA2-4C9C9E5C79EF}" type="datetime1">
              <a:rPr lang="tr-TR" smtClean="0"/>
              <a:t>5.11.2025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125D401F-286E-468B-9BCD-6DE50C180B4C}" type="slidenum">
              <a:rPr lang="tr-TR" smtClean="0"/>
              <a:t>‹#›</a:t>
            </a:fld>
            <a:endParaRPr lang="tr-TR"/>
          </a:p>
        </p:txBody>
      </p:sp>
    </p:spTree>
    <p:extLst>
      <p:ext uri="{BB962C8B-B14F-4D97-AF65-F5344CB8AC3E}">
        <p14:creationId xmlns:p14="http://schemas.microsoft.com/office/powerpoint/2010/main" val="2198613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ki İçerik">
    <p:spTree>
      <p:nvGrpSpPr>
        <p:cNvPr id="1" name=""/>
        <p:cNvGrpSpPr/>
        <p:nvPr/>
      </p:nvGrpSpPr>
      <p:grpSpPr>
        <a:xfrm>
          <a:off x="0" y="0"/>
          <a:ext cx="0" cy="0"/>
          <a:chOff x="0" y="0"/>
          <a:chExt cx="0" cy="0"/>
        </a:xfrm>
      </p:grpSpPr>
      <p:sp>
        <p:nvSpPr>
          <p:cNvPr id="2" name="Unvan 1"/>
          <p:cNvSpPr>
            <a:spLocks noGrp="1"/>
          </p:cNvSpPr>
          <p:nvPr>
            <p:ph type="title"/>
          </p:nvPr>
        </p:nvSpPr>
        <p:spPr>
          <a:xfrm>
            <a:off x="1283676" y="320675"/>
            <a:ext cx="10556631" cy="1325563"/>
          </a:xfrm>
        </p:spPr>
        <p:txBody>
          <a:bodyPr>
            <a:normAutofit/>
          </a:bodyPr>
          <a:lstStyle>
            <a:lvl1pPr>
              <a:defRPr sz="2400">
                <a:latin typeface="Times New Roman" panose="02020603050405020304" pitchFamily="18" charset="0"/>
                <a:cs typeface="Times New Roman" panose="02020603050405020304" pitchFamily="18" charset="0"/>
              </a:defRPr>
            </a:lvl1pPr>
          </a:lstStyle>
          <a:p>
            <a:r>
              <a:rPr lang="tr-TR" dirty="0"/>
              <a:t>Asıl başlık stili için tıklatın</a:t>
            </a:r>
          </a:p>
        </p:txBody>
      </p:sp>
      <p:sp>
        <p:nvSpPr>
          <p:cNvPr id="3" name="İçerik Yer Tutucusu 2"/>
          <p:cNvSpPr>
            <a:spLocks noGrp="1"/>
          </p:cNvSpPr>
          <p:nvPr>
            <p:ph sz="half" idx="1"/>
          </p:nvPr>
        </p:nvSpPr>
        <p:spPr>
          <a:xfrm>
            <a:off x="1283676" y="1646238"/>
            <a:ext cx="10556631" cy="4351338"/>
          </a:xfrm>
        </p:spPr>
        <p:txBody>
          <a:bodyPr>
            <a:normAutofit/>
          </a:bodyPr>
          <a:lstStyle>
            <a:lvl1pPr marL="0" indent="0">
              <a:buNone/>
              <a:defRPr sz="2400">
                <a:latin typeface="Times New Roman" panose="02020603050405020304" pitchFamily="18" charset="0"/>
                <a:cs typeface="Times New Roman" panose="02020603050405020304" pitchFamily="18" charset="0"/>
              </a:defRPr>
            </a:lvl1pPr>
            <a:lvl2pPr>
              <a:defRPr sz="2400">
                <a:latin typeface="Times New Roman" panose="02020603050405020304" pitchFamily="18" charset="0"/>
                <a:cs typeface="Times New Roman" panose="02020603050405020304" pitchFamily="18" charset="0"/>
              </a:defRPr>
            </a:lvl2pPr>
            <a:lvl3pPr>
              <a:defRPr sz="2400">
                <a:latin typeface="Times New Roman" panose="02020603050405020304" pitchFamily="18" charset="0"/>
                <a:cs typeface="Times New Roman" panose="02020603050405020304" pitchFamily="18" charset="0"/>
              </a:defRPr>
            </a:lvl3pPr>
            <a:lvl4pPr>
              <a:defRPr sz="2400">
                <a:latin typeface="Times New Roman" panose="02020603050405020304" pitchFamily="18" charset="0"/>
                <a:cs typeface="Times New Roman" panose="02020603050405020304" pitchFamily="18" charset="0"/>
              </a:defRPr>
            </a:lvl4pPr>
            <a:lvl5pPr>
              <a:defRPr sz="2400">
                <a:latin typeface="Times New Roman" panose="02020603050405020304" pitchFamily="18" charset="0"/>
                <a:cs typeface="Times New Roman" panose="02020603050405020304" pitchFamily="18" charset="0"/>
              </a:defRPr>
            </a:lvl5pPr>
          </a:lstStyle>
          <a:p>
            <a:pPr lvl="0"/>
            <a:r>
              <a:rPr lang="tr-TR" dirty="0"/>
              <a:t>Asıl metin stillerini düzenle</a:t>
            </a:r>
          </a:p>
          <a:p>
            <a:pPr lvl="1"/>
            <a:r>
              <a:rPr lang="tr-TR" dirty="0"/>
              <a:t>İkinci düzey</a:t>
            </a:r>
          </a:p>
          <a:p>
            <a:pPr lvl="2"/>
            <a:r>
              <a:rPr lang="tr-TR" dirty="0"/>
              <a:t>Üçüncü düzey</a:t>
            </a:r>
          </a:p>
          <a:p>
            <a:pPr lvl="3"/>
            <a:r>
              <a:rPr lang="tr-TR" dirty="0"/>
              <a:t>Dördüncü düzey</a:t>
            </a:r>
          </a:p>
          <a:p>
            <a:pPr lvl="4"/>
            <a:r>
              <a:rPr lang="tr-TR" dirty="0"/>
              <a:t>Beşinci düzey</a:t>
            </a:r>
          </a:p>
        </p:txBody>
      </p:sp>
      <p:sp>
        <p:nvSpPr>
          <p:cNvPr id="5" name="Veri Yer Tutucusu 4"/>
          <p:cNvSpPr>
            <a:spLocks noGrp="1"/>
          </p:cNvSpPr>
          <p:nvPr>
            <p:ph type="dt" sz="half" idx="10"/>
          </p:nvPr>
        </p:nvSpPr>
        <p:spPr>
          <a:xfrm>
            <a:off x="1295400" y="6356349"/>
            <a:ext cx="2743200" cy="365125"/>
          </a:xfrm>
        </p:spPr>
        <p:txBody>
          <a:bodyPr/>
          <a:lstStyle/>
          <a:p>
            <a:fld id="{C46BFB63-2AB2-4BA2-8CD9-A68D09A9B742}" type="datetime1">
              <a:rPr lang="tr-TR" smtClean="0"/>
              <a:t>5.11.2025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125D401F-286E-468B-9BCD-6DE50C180B4C}" type="slidenum">
              <a:rPr lang="tr-TR" smtClean="0"/>
              <a:t>‹#›</a:t>
            </a:fld>
            <a:endParaRPr lang="tr-TR"/>
          </a:p>
        </p:txBody>
      </p:sp>
    </p:spTree>
    <p:extLst>
      <p:ext uri="{BB962C8B-B14F-4D97-AF65-F5344CB8AC3E}">
        <p14:creationId xmlns:p14="http://schemas.microsoft.com/office/powerpoint/2010/main" val="4269201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839788" y="365125"/>
            <a:ext cx="10515600" cy="1325563"/>
          </a:xfrm>
        </p:spPr>
        <p:txBody>
          <a:bodyPr/>
          <a:lstStyle/>
          <a:p>
            <a:r>
              <a:rPr lang="tr-TR"/>
              <a:t>Asıl başlık stili için tıklatın</a:t>
            </a: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İçerik Yer Tutucusu 3"/>
          <p:cNvSpPr>
            <a:spLocks noGrp="1"/>
          </p:cNvSpPr>
          <p:nvPr>
            <p:ph sz="half" idx="2"/>
          </p:nvPr>
        </p:nvSpPr>
        <p:spPr>
          <a:xfrm>
            <a:off x="839788" y="2505075"/>
            <a:ext cx="5157787"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İçerik Yer Tutucusu 5"/>
          <p:cNvSpPr>
            <a:spLocks noGrp="1"/>
          </p:cNvSpPr>
          <p:nvPr>
            <p:ph sz="quarter" idx="4"/>
          </p:nvPr>
        </p:nvSpPr>
        <p:spPr>
          <a:xfrm>
            <a:off x="6172200" y="2505075"/>
            <a:ext cx="5183188"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CFB46E8C-C65E-4F63-AEE4-FAD8C582111C}" type="datetime1">
              <a:rPr lang="tr-TR" smtClean="0"/>
              <a:t>5.11.2025</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125D401F-286E-468B-9BCD-6DE50C180B4C}" type="slidenum">
              <a:rPr lang="tr-TR" smtClean="0"/>
              <a:t>‹#›</a:t>
            </a:fld>
            <a:endParaRPr lang="tr-TR"/>
          </a:p>
        </p:txBody>
      </p:sp>
    </p:spTree>
    <p:extLst>
      <p:ext uri="{BB962C8B-B14F-4D97-AF65-F5344CB8AC3E}">
        <p14:creationId xmlns:p14="http://schemas.microsoft.com/office/powerpoint/2010/main" val="1779952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D0B04718-B27C-45EE-A76D-390338E2DE09}" type="datetime1">
              <a:rPr lang="tr-TR" smtClean="0"/>
              <a:t>5.11.2025</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125D401F-286E-468B-9BCD-6DE50C180B4C}" type="slidenum">
              <a:rPr lang="tr-TR" smtClean="0"/>
              <a:t>‹#›</a:t>
            </a:fld>
            <a:endParaRPr lang="tr-TR"/>
          </a:p>
        </p:txBody>
      </p:sp>
    </p:spTree>
    <p:extLst>
      <p:ext uri="{BB962C8B-B14F-4D97-AF65-F5344CB8AC3E}">
        <p14:creationId xmlns:p14="http://schemas.microsoft.com/office/powerpoint/2010/main" val="885030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E6210E79-79FB-4C73-A853-D9D670F075EE}" type="datetime1">
              <a:rPr lang="tr-TR" smtClean="0"/>
              <a:t>5.11.2025</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125D401F-286E-468B-9BCD-6DE50C180B4C}" type="slidenum">
              <a:rPr lang="tr-TR" smtClean="0"/>
              <a:t>‹#›</a:t>
            </a:fld>
            <a:endParaRPr lang="tr-TR"/>
          </a:p>
        </p:txBody>
      </p:sp>
    </p:spTree>
    <p:extLst>
      <p:ext uri="{BB962C8B-B14F-4D97-AF65-F5344CB8AC3E}">
        <p14:creationId xmlns:p14="http://schemas.microsoft.com/office/powerpoint/2010/main" val="619498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Veri Yer Tutucusu 4"/>
          <p:cNvSpPr>
            <a:spLocks noGrp="1"/>
          </p:cNvSpPr>
          <p:nvPr>
            <p:ph type="dt" sz="half" idx="10"/>
          </p:nvPr>
        </p:nvSpPr>
        <p:spPr/>
        <p:txBody>
          <a:bodyPr/>
          <a:lstStyle/>
          <a:p>
            <a:fld id="{1D46B1A0-33BC-4E80-A17D-D3AE4CBABFEA}" type="datetime1">
              <a:rPr lang="tr-TR" smtClean="0"/>
              <a:t>5.11.2025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125D401F-286E-468B-9BCD-6DE50C180B4C}" type="slidenum">
              <a:rPr lang="tr-TR" smtClean="0"/>
              <a:t>‹#›</a:t>
            </a:fld>
            <a:endParaRPr lang="tr-TR"/>
          </a:p>
        </p:txBody>
      </p:sp>
    </p:spTree>
    <p:extLst>
      <p:ext uri="{BB962C8B-B14F-4D97-AF65-F5344CB8AC3E}">
        <p14:creationId xmlns:p14="http://schemas.microsoft.com/office/powerpoint/2010/main" val="3918114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Veri Yer Tutucusu 4"/>
          <p:cNvSpPr>
            <a:spLocks noGrp="1"/>
          </p:cNvSpPr>
          <p:nvPr>
            <p:ph type="dt" sz="half" idx="10"/>
          </p:nvPr>
        </p:nvSpPr>
        <p:spPr/>
        <p:txBody>
          <a:bodyPr/>
          <a:lstStyle/>
          <a:p>
            <a:fld id="{7AF95EE4-3681-4524-B732-0D6448CCBE17}" type="datetime1">
              <a:rPr lang="tr-TR" smtClean="0"/>
              <a:t>5.11.2025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125D401F-286E-468B-9BCD-6DE50C180B4C}" type="slidenum">
              <a:rPr lang="tr-TR" smtClean="0"/>
              <a:t>‹#›</a:t>
            </a:fld>
            <a:endParaRPr lang="tr-TR"/>
          </a:p>
        </p:txBody>
      </p:sp>
    </p:spTree>
    <p:extLst>
      <p:ext uri="{BB962C8B-B14F-4D97-AF65-F5344CB8AC3E}">
        <p14:creationId xmlns:p14="http://schemas.microsoft.com/office/powerpoint/2010/main" val="3333626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A36D96BB-783D-4D3E-99CD-AC33CF6608D3}" type="datetime1">
              <a:rPr lang="tr-TR" smtClean="0"/>
              <a:t>5.11.2025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125D401F-286E-468B-9BCD-6DE50C180B4C}" type="slidenum">
              <a:rPr lang="tr-TR" smtClean="0"/>
              <a:t>‹#›</a:t>
            </a:fld>
            <a:endParaRPr lang="tr-TR"/>
          </a:p>
        </p:txBody>
      </p:sp>
    </p:spTree>
    <p:extLst>
      <p:ext uri="{BB962C8B-B14F-4D97-AF65-F5344CB8AC3E}">
        <p14:creationId xmlns:p14="http://schemas.microsoft.com/office/powerpoint/2010/main" val="1200389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F859E9FA-750F-4658-A36B-A439B400F2F3}" type="datetime1">
              <a:rPr lang="tr-TR" smtClean="0"/>
              <a:t>5.11.2025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125D401F-286E-468B-9BCD-6DE50C180B4C}" type="slidenum">
              <a:rPr lang="tr-TR" smtClean="0"/>
              <a:t>‹#›</a:t>
            </a:fld>
            <a:endParaRPr lang="tr-TR"/>
          </a:p>
        </p:txBody>
      </p:sp>
    </p:spTree>
    <p:extLst>
      <p:ext uri="{BB962C8B-B14F-4D97-AF65-F5344CB8AC3E}">
        <p14:creationId xmlns:p14="http://schemas.microsoft.com/office/powerpoint/2010/main" val="2419834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EBD6CC-84C3-4375-AADE-3F6A6FFABFD1}" type="datetime1">
              <a:rPr lang="tr-TR" smtClean="0"/>
              <a:t>5.11.2025</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5D401F-286E-468B-9BCD-6DE50C180B4C}" type="slidenum">
              <a:rPr lang="tr-TR" smtClean="0"/>
              <a:t>‹#›</a:t>
            </a:fld>
            <a:endParaRPr lang="tr-TR"/>
          </a:p>
        </p:txBody>
      </p:sp>
    </p:spTree>
    <p:extLst>
      <p:ext uri="{BB962C8B-B14F-4D97-AF65-F5344CB8AC3E}">
        <p14:creationId xmlns:p14="http://schemas.microsoft.com/office/powerpoint/2010/main" val="13286914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normAutofit fontScale="90000"/>
          </a:bodyPr>
          <a:lstStyle/>
          <a:p>
            <a:br>
              <a:rPr lang="tr-TR" dirty="0"/>
            </a:br>
            <a:br>
              <a:rPr lang="tr-TR" dirty="0"/>
            </a:br>
            <a:endParaRPr lang="tr-TR" dirty="0"/>
          </a:p>
        </p:txBody>
      </p:sp>
      <p:sp>
        <p:nvSpPr>
          <p:cNvPr id="3" name="Alt Başlık 2"/>
          <p:cNvSpPr>
            <a:spLocks noGrp="1"/>
          </p:cNvSpPr>
          <p:nvPr>
            <p:ph type="subTitle" idx="1"/>
          </p:nvPr>
        </p:nvSpPr>
        <p:spPr/>
        <p:txBody>
          <a:bodyPr/>
          <a:lstStyle/>
          <a:p>
            <a:endParaRPr lang="tr-TR" dirty="0"/>
          </a:p>
          <a:p>
            <a:endParaRPr lang="tr-TR" dirty="0"/>
          </a:p>
        </p:txBody>
      </p:sp>
      <p:pic>
        <p:nvPicPr>
          <p:cNvPr id="4" name="Resim 3"/>
          <p:cNvPicPr>
            <a:picLocks noChangeAspect="1"/>
          </p:cNvPicPr>
          <p:nvPr/>
        </p:nvPicPr>
        <p:blipFill>
          <a:blip r:embed="rId2"/>
          <a:stretch>
            <a:fillRect/>
          </a:stretch>
        </p:blipFill>
        <p:spPr>
          <a:xfrm>
            <a:off x="0" y="0"/>
            <a:ext cx="12192000" cy="6858000"/>
          </a:xfrm>
          <a:prstGeom prst="rect">
            <a:avLst/>
          </a:prstGeom>
        </p:spPr>
      </p:pic>
      <p:pic>
        <p:nvPicPr>
          <p:cNvPr id="5" name="Google Shape;323;g2ea15ffc163_0_213"/>
          <p:cNvPicPr preferRelativeResize="0"/>
          <p:nvPr/>
        </p:nvPicPr>
        <p:blipFill rotWithShape="1">
          <a:blip r:embed="rId3">
            <a:alphaModFix/>
          </a:blip>
          <a:srcRect/>
          <a:stretch/>
        </p:blipFill>
        <p:spPr>
          <a:xfrm>
            <a:off x="10363200" y="104832"/>
            <a:ext cx="1828800" cy="1184706"/>
          </a:xfrm>
          <a:prstGeom prst="rect">
            <a:avLst/>
          </a:prstGeom>
          <a:noFill/>
          <a:ln>
            <a:noFill/>
          </a:ln>
        </p:spPr>
      </p:pic>
    </p:spTree>
    <p:extLst>
      <p:ext uri="{BB962C8B-B14F-4D97-AF65-F5344CB8AC3E}">
        <p14:creationId xmlns:p14="http://schemas.microsoft.com/office/powerpoint/2010/main" val="1271731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7" name="Metin kutusu 6"/>
          <p:cNvSpPr txBox="1"/>
          <p:nvPr/>
        </p:nvSpPr>
        <p:spPr>
          <a:xfrm>
            <a:off x="1188084" y="1296670"/>
            <a:ext cx="10165715" cy="5262979"/>
          </a:xfrm>
          <a:prstGeom prst="rect">
            <a:avLst/>
          </a:prstGeom>
          <a:noFill/>
        </p:spPr>
        <p:txBody>
          <a:bodyPr wrap="square" rtlCol="0">
            <a:spAutoFit/>
          </a:bodyPr>
          <a:lstStyle/>
          <a:p>
            <a:r>
              <a:rPr lang="tr-TR" sz="2400" b="1" dirty="0">
                <a:solidFill>
                  <a:srgbClr val="2E324B"/>
                </a:solidFill>
                <a:latin typeface="Times New Roman" panose="02020603050405020304" pitchFamily="18" charset="0"/>
                <a:cs typeface="Times New Roman" panose="02020603050405020304" pitchFamily="18" charset="0"/>
              </a:rPr>
              <a:t>Bölümün Adı			: </a:t>
            </a:r>
            <a:r>
              <a:rPr lang="tr-TR" sz="2400" b="1" dirty="0" err="1">
                <a:solidFill>
                  <a:srgbClr val="2E324B"/>
                </a:solidFill>
                <a:latin typeface="Times New Roman" panose="02020603050405020304" pitchFamily="18" charset="0"/>
                <a:cs typeface="Times New Roman" panose="02020603050405020304" pitchFamily="18" charset="0"/>
              </a:rPr>
              <a:t>Perfüzyon</a:t>
            </a:r>
            <a:endParaRPr lang="tr-TR" sz="2400" b="1" dirty="0">
              <a:solidFill>
                <a:srgbClr val="2E324B"/>
              </a:solidFill>
              <a:latin typeface="Times New Roman" panose="02020603050405020304" pitchFamily="18" charset="0"/>
              <a:cs typeface="Times New Roman" panose="02020603050405020304" pitchFamily="18" charset="0"/>
            </a:endParaRPr>
          </a:p>
          <a:p>
            <a:r>
              <a:rPr lang="tr-TR" sz="2400" b="1" dirty="0">
                <a:solidFill>
                  <a:srgbClr val="2E324B"/>
                </a:solidFill>
                <a:latin typeface="Times New Roman" panose="02020603050405020304" pitchFamily="18" charset="0"/>
                <a:cs typeface="Times New Roman" panose="02020603050405020304" pitchFamily="18" charset="0"/>
              </a:rPr>
              <a:t>Dersi Kodu ve Adı		: PER247 Sterilizasyon ve Cerrahi Asepsi</a:t>
            </a:r>
          </a:p>
          <a:p>
            <a:r>
              <a:rPr lang="tr-TR" sz="2400" b="1" dirty="0">
                <a:solidFill>
                  <a:srgbClr val="2E324B"/>
                </a:solidFill>
                <a:latin typeface="Times New Roman" panose="02020603050405020304" pitchFamily="18" charset="0"/>
                <a:cs typeface="Times New Roman" panose="02020603050405020304" pitchFamily="18" charset="0"/>
              </a:rPr>
              <a:t>Dersin Haftası		: 8</a:t>
            </a:r>
          </a:p>
          <a:p>
            <a:r>
              <a:rPr lang="tr-TR" sz="2400" b="1" dirty="0">
                <a:solidFill>
                  <a:srgbClr val="2E324B"/>
                </a:solidFill>
                <a:latin typeface="Times New Roman" panose="02020603050405020304" pitchFamily="18" charset="0"/>
                <a:cs typeface="Times New Roman" panose="02020603050405020304" pitchFamily="18" charset="0"/>
              </a:rPr>
              <a:t>Dersin Günü ve Saati	: Pazartesi 15.00</a:t>
            </a:r>
          </a:p>
          <a:p>
            <a:r>
              <a:rPr lang="tr-TR" sz="2400" b="1" dirty="0">
                <a:solidFill>
                  <a:srgbClr val="2E324B"/>
                </a:solidFill>
                <a:latin typeface="Times New Roman" panose="02020603050405020304" pitchFamily="18" charset="0"/>
                <a:cs typeface="Times New Roman" panose="02020603050405020304" pitchFamily="18" charset="0"/>
              </a:rPr>
              <a:t>Ders Kredi/AKTS Bilgileri	: 3/6</a:t>
            </a:r>
          </a:p>
          <a:p>
            <a:r>
              <a:rPr lang="tr-TR" sz="2400" b="1" dirty="0">
                <a:solidFill>
                  <a:srgbClr val="2E324B"/>
                </a:solidFill>
                <a:latin typeface="Times New Roman" panose="02020603050405020304" pitchFamily="18" charset="0"/>
                <a:cs typeface="Times New Roman" panose="02020603050405020304" pitchFamily="18" charset="0"/>
              </a:rPr>
              <a:t>Sınav Şekli/ Not Dağılımı	: Test</a:t>
            </a:r>
          </a:p>
          <a:p>
            <a:r>
              <a:rPr lang="tr-TR" sz="2400" b="1" dirty="0">
                <a:solidFill>
                  <a:srgbClr val="2E324B"/>
                </a:solidFill>
                <a:latin typeface="Times New Roman" panose="02020603050405020304" pitchFamily="18" charset="0"/>
                <a:cs typeface="Times New Roman" panose="02020603050405020304" pitchFamily="18" charset="0"/>
              </a:rPr>
              <a:t>Dersin </a:t>
            </a:r>
            <a:r>
              <a:rPr lang="tr-TR" sz="2400" b="1" dirty="0" err="1">
                <a:solidFill>
                  <a:srgbClr val="2E324B"/>
                </a:solidFill>
                <a:latin typeface="Times New Roman" panose="02020603050405020304" pitchFamily="18" charset="0"/>
                <a:cs typeface="Times New Roman" panose="02020603050405020304" pitchFamily="18" charset="0"/>
              </a:rPr>
              <a:t>Öğr</a:t>
            </a:r>
            <a:r>
              <a:rPr lang="tr-TR" sz="2400" b="1" dirty="0">
                <a:solidFill>
                  <a:srgbClr val="2E324B"/>
                </a:solidFill>
                <a:latin typeface="Times New Roman" panose="02020603050405020304" pitchFamily="18" charset="0"/>
                <a:cs typeface="Times New Roman" panose="02020603050405020304" pitchFamily="18" charset="0"/>
              </a:rPr>
              <a:t>. Elemanı		: Dr. </a:t>
            </a:r>
            <a:r>
              <a:rPr lang="tr-TR" sz="2400" b="1" dirty="0" err="1">
                <a:solidFill>
                  <a:srgbClr val="2E324B"/>
                </a:solidFill>
                <a:latin typeface="Times New Roman" panose="02020603050405020304" pitchFamily="18" charset="0"/>
                <a:cs typeface="Times New Roman" panose="02020603050405020304" pitchFamily="18" charset="0"/>
              </a:rPr>
              <a:t>Öğr</a:t>
            </a:r>
            <a:r>
              <a:rPr lang="tr-TR" sz="2400" b="1" dirty="0">
                <a:solidFill>
                  <a:srgbClr val="2E324B"/>
                </a:solidFill>
                <a:latin typeface="Times New Roman" panose="02020603050405020304" pitchFamily="18" charset="0"/>
                <a:cs typeface="Times New Roman" panose="02020603050405020304" pitchFamily="18" charset="0"/>
              </a:rPr>
              <a:t>. Üyesi Sevinç Baba</a:t>
            </a:r>
          </a:p>
          <a:p>
            <a:r>
              <a:rPr lang="tr-TR" sz="2400" b="1" dirty="0">
                <a:solidFill>
                  <a:srgbClr val="2E324B"/>
                </a:solidFill>
                <a:latin typeface="Times New Roman" panose="02020603050405020304" pitchFamily="18" charset="0"/>
                <a:cs typeface="Times New Roman" panose="02020603050405020304" pitchFamily="18" charset="0"/>
              </a:rPr>
              <a:t>E-posta ve Telefon		: sbaba@gelisim.edu.tr</a:t>
            </a:r>
          </a:p>
          <a:p>
            <a:r>
              <a:rPr lang="tr-TR" sz="2400" b="1" dirty="0" err="1">
                <a:solidFill>
                  <a:srgbClr val="2E324B"/>
                </a:solidFill>
                <a:latin typeface="Times New Roman" panose="02020603050405020304" pitchFamily="18" charset="0"/>
                <a:cs typeface="Times New Roman" panose="02020603050405020304" pitchFamily="18" charset="0"/>
              </a:rPr>
              <a:t>Öğr</a:t>
            </a:r>
            <a:r>
              <a:rPr lang="tr-TR" sz="2400" b="1" dirty="0">
                <a:solidFill>
                  <a:srgbClr val="2E324B"/>
                </a:solidFill>
                <a:latin typeface="Times New Roman" panose="02020603050405020304" pitchFamily="18" charset="0"/>
                <a:cs typeface="Times New Roman" panose="02020603050405020304" pitchFamily="18" charset="0"/>
              </a:rPr>
              <a:t>. Elemanı Odası		: B Blok 015</a:t>
            </a:r>
          </a:p>
          <a:p>
            <a:r>
              <a:rPr lang="tr-TR" sz="2400" b="1" dirty="0">
                <a:solidFill>
                  <a:srgbClr val="2E324B"/>
                </a:solidFill>
                <a:latin typeface="Times New Roman" panose="02020603050405020304" pitchFamily="18" charset="0"/>
                <a:cs typeface="Times New Roman" panose="02020603050405020304" pitchFamily="18" charset="0"/>
              </a:rPr>
              <a:t>Danışmanlık Bilgileri	: Pazartesi 14.00-15.00</a:t>
            </a:r>
          </a:p>
          <a:p>
            <a:r>
              <a:rPr lang="tr-TR" sz="2400" b="1" dirty="0">
                <a:solidFill>
                  <a:srgbClr val="2E324B"/>
                </a:solidFill>
                <a:latin typeface="Times New Roman" panose="02020603050405020304" pitchFamily="18" charset="0"/>
                <a:cs typeface="Times New Roman" panose="02020603050405020304" pitchFamily="18" charset="0"/>
              </a:rPr>
              <a:t>GBS Linki			: https://gbs.gelisim.edu.tr/ders-detay-17-322-11089-1</a:t>
            </a:r>
          </a:p>
          <a:p>
            <a:r>
              <a:rPr lang="tr-TR" sz="2400" b="1" dirty="0">
                <a:solidFill>
                  <a:srgbClr val="2E324B"/>
                </a:solidFill>
                <a:latin typeface="Times New Roman" panose="02020603050405020304" pitchFamily="18" charset="0"/>
                <a:cs typeface="Times New Roman" panose="02020603050405020304" pitchFamily="18" charset="0"/>
              </a:rPr>
              <a:t>ALMS Linki			: https://lms.gelisim.edu.tr/almsp/u/Home/Index</a:t>
            </a:r>
          </a:p>
          <a:p>
            <a:r>
              <a:rPr lang="tr-TR" sz="2400" b="1" dirty="0">
                <a:solidFill>
                  <a:srgbClr val="2E324B"/>
                </a:solidFill>
                <a:latin typeface="Times New Roman" panose="02020603050405020304" pitchFamily="18" charset="0"/>
                <a:cs typeface="Times New Roman" panose="02020603050405020304" pitchFamily="18" charset="0"/>
              </a:rPr>
              <a:t>AVESİS Linki		: https://avesis.gelisim.edu.tr/sbaba</a:t>
            </a:r>
          </a:p>
        </p:txBody>
      </p:sp>
      <p:pic>
        <p:nvPicPr>
          <p:cNvPr id="8"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2</a:t>
            </a:fld>
            <a:endParaRPr lang="tr-TR"/>
          </a:p>
        </p:txBody>
      </p:sp>
    </p:spTree>
    <p:extLst>
      <p:ext uri="{BB962C8B-B14F-4D97-AF65-F5344CB8AC3E}">
        <p14:creationId xmlns:p14="http://schemas.microsoft.com/office/powerpoint/2010/main" val="137784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İçerik Yer Tutucusu 8"/>
          <p:cNvSpPr>
            <a:spLocks noGrp="1"/>
          </p:cNvSpPr>
          <p:nvPr>
            <p:ph sz="half" idx="2"/>
          </p:nvPr>
        </p:nvSpPr>
        <p:spPr>
          <a:xfrm>
            <a:off x="1327618" y="1573967"/>
            <a:ext cx="5073182" cy="4615696"/>
          </a:xfrm>
        </p:spPr>
        <p:txBody>
          <a:bodyPr>
            <a:normAutofit/>
          </a:bodyPr>
          <a:lstStyle/>
          <a:p>
            <a:r>
              <a:rPr lang="tr-TR" sz="2400" dirty="0">
                <a:latin typeface="Times New Roman" panose="02020603050405020304" pitchFamily="18" charset="0"/>
                <a:cs typeface="Times New Roman" panose="02020603050405020304" pitchFamily="18" charset="0"/>
              </a:rPr>
              <a:t>Sterilizasyon hakkında genel bilgi</a:t>
            </a:r>
            <a:r>
              <a:rPr lang="en-US" sz="2400" dirty="0">
                <a:latin typeface="Times New Roman" panose="02020603050405020304" pitchFamily="18" charset="0"/>
                <a:cs typeface="Times New Roman" panose="02020603050405020304" pitchFamily="18" charset="0"/>
              </a:rPr>
              <a:t>	</a:t>
            </a:r>
            <a:endParaRPr lang="tr-TR" sz="2400" dirty="0">
              <a:latin typeface="Times New Roman" panose="02020603050405020304" pitchFamily="18" charset="0"/>
              <a:cs typeface="Times New Roman" panose="02020603050405020304" pitchFamily="18" charset="0"/>
            </a:endParaRPr>
          </a:p>
          <a:p>
            <a:r>
              <a:rPr lang="tr-TR" sz="2400" dirty="0">
                <a:latin typeface="Times New Roman" panose="02020603050405020304" pitchFamily="18" charset="0"/>
                <a:cs typeface="Times New Roman" panose="02020603050405020304" pitchFamily="18" charset="0"/>
              </a:rPr>
              <a:t>Asepsi-antisepsi</a:t>
            </a:r>
          </a:p>
          <a:p>
            <a:r>
              <a:rPr lang="tr-TR" sz="2400" dirty="0">
                <a:latin typeface="Times New Roman" panose="02020603050405020304" pitchFamily="18" charset="0"/>
                <a:cs typeface="Times New Roman" panose="02020603050405020304" pitchFamily="18" charset="0"/>
              </a:rPr>
              <a:t>Sterilizasyon ünitesinin özellikleri</a:t>
            </a:r>
          </a:p>
          <a:p>
            <a:r>
              <a:rPr lang="tr-TR" sz="2400" dirty="0">
                <a:latin typeface="Times New Roman" panose="02020603050405020304" pitchFamily="18" charset="0"/>
                <a:cs typeface="Times New Roman" panose="02020603050405020304" pitchFamily="18" charset="0"/>
              </a:rPr>
              <a:t>Dezenfeksiyon</a:t>
            </a:r>
          </a:p>
          <a:p>
            <a:r>
              <a:rPr lang="tr-TR" sz="2400" dirty="0" err="1">
                <a:latin typeface="Times New Roman" panose="02020603050405020304" pitchFamily="18" charset="0"/>
                <a:cs typeface="Times New Roman" panose="02020603050405020304" pitchFamily="18" charset="0"/>
              </a:rPr>
              <a:t>Sterilizatörler</a:t>
            </a:r>
            <a:endParaRPr lang="tr-TR" sz="2400" dirty="0">
              <a:latin typeface="Times New Roman" panose="02020603050405020304" pitchFamily="18" charset="0"/>
              <a:cs typeface="Times New Roman" panose="02020603050405020304" pitchFamily="18" charset="0"/>
            </a:endParaRPr>
          </a:p>
          <a:p>
            <a:r>
              <a:rPr lang="tr-TR" sz="2400" dirty="0">
                <a:latin typeface="Times New Roman" panose="02020603050405020304" pitchFamily="18" charset="0"/>
                <a:cs typeface="Times New Roman" panose="02020603050405020304" pitchFamily="18" charset="0"/>
              </a:rPr>
              <a:t>Malzeme yıkama ve hazırlama üniteleri</a:t>
            </a:r>
            <a:r>
              <a:rPr lang="en-US" sz="2400" dirty="0">
                <a:latin typeface="Times New Roman" panose="02020603050405020304" pitchFamily="18" charset="0"/>
                <a:cs typeface="Times New Roman" panose="02020603050405020304" pitchFamily="18" charset="0"/>
              </a:rPr>
              <a:t>	</a:t>
            </a:r>
            <a:endParaRPr lang="tr-TR" sz="2400" dirty="0">
              <a:latin typeface="Times New Roman" panose="02020603050405020304" pitchFamily="18" charset="0"/>
              <a:cs typeface="Times New Roman" panose="02020603050405020304" pitchFamily="18" charset="0"/>
            </a:endParaRPr>
          </a:p>
          <a:p>
            <a:r>
              <a:rPr lang="tr-TR" sz="2400" dirty="0">
                <a:latin typeface="Times New Roman" panose="02020603050405020304" pitchFamily="18" charset="0"/>
                <a:cs typeface="Times New Roman" panose="02020603050405020304" pitchFamily="18" charset="0"/>
              </a:rPr>
              <a:t>Sterilizasyonda güvenlik testleri</a:t>
            </a:r>
            <a:endParaRPr lang="en-US" sz="2400" dirty="0">
              <a:latin typeface="Times New Roman" panose="02020603050405020304" pitchFamily="18" charset="0"/>
              <a:cs typeface="Times New Roman" panose="02020603050405020304" pitchFamily="18" charset="0"/>
            </a:endParaRPr>
          </a:p>
        </p:txBody>
      </p:sp>
      <p:sp>
        <p:nvSpPr>
          <p:cNvPr id="11" name="İçerik Yer Tutucusu 10"/>
          <p:cNvSpPr>
            <a:spLocks noGrp="1"/>
          </p:cNvSpPr>
          <p:nvPr>
            <p:ph sz="quarter" idx="4"/>
          </p:nvPr>
        </p:nvSpPr>
        <p:spPr>
          <a:xfrm>
            <a:off x="6726836" y="1573967"/>
            <a:ext cx="5183188" cy="4615696"/>
          </a:xfrm>
        </p:spPr>
        <p:txBody>
          <a:bodyPr>
            <a:normAutofit/>
          </a:bodyPr>
          <a:lstStyle/>
          <a:p>
            <a:r>
              <a:rPr lang="tr-TR" sz="2400" dirty="0">
                <a:latin typeface="Times New Roman" panose="02020603050405020304" pitchFamily="18" charset="0"/>
                <a:cs typeface="Times New Roman" panose="02020603050405020304" pitchFamily="18" charset="0"/>
              </a:rPr>
              <a:t>Setlerin kodlanması ve dokümantasyonu</a:t>
            </a:r>
            <a:r>
              <a:rPr lang="en-US" sz="2400" dirty="0">
                <a:latin typeface="Times New Roman" panose="02020603050405020304" pitchFamily="18" charset="0"/>
                <a:cs typeface="Times New Roman" panose="02020603050405020304" pitchFamily="18" charset="0"/>
              </a:rPr>
              <a:t>	</a:t>
            </a:r>
            <a:endParaRPr lang="tr-TR" sz="2400" dirty="0">
              <a:latin typeface="Times New Roman" panose="02020603050405020304" pitchFamily="18" charset="0"/>
              <a:cs typeface="Times New Roman" panose="02020603050405020304" pitchFamily="18" charset="0"/>
            </a:endParaRPr>
          </a:p>
          <a:p>
            <a:r>
              <a:rPr lang="tr-TR" sz="2400" dirty="0">
                <a:latin typeface="Times New Roman" panose="02020603050405020304" pitchFamily="18" charset="0"/>
                <a:cs typeface="Times New Roman" panose="02020603050405020304" pitchFamily="18" charset="0"/>
              </a:rPr>
              <a:t>Cerrahi malzemenin hazırlanması ve sterilizasyonu</a:t>
            </a:r>
          </a:p>
          <a:p>
            <a:r>
              <a:rPr lang="tr-TR" sz="2400" dirty="0">
                <a:latin typeface="Times New Roman" panose="02020603050405020304" pitchFamily="18" charset="0"/>
                <a:cs typeface="Times New Roman" panose="02020603050405020304" pitchFamily="18" charset="0"/>
              </a:rPr>
              <a:t>Plastik malzemenin sterilizasyonu</a:t>
            </a:r>
          </a:p>
          <a:p>
            <a:r>
              <a:rPr lang="tr-TR" sz="2400" dirty="0">
                <a:latin typeface="Times New Roman" panose="02020603050405020304" pitchFamily="18" charset="0"/>
                <a:cs typeface="Times New Roman" panose="02020603050405020304" pitchFamily="18" charset="0"/>
              </a:rPr>
              <a:t>Steril malzemenin depolanması ve korunması</a:t>
            </a:r>
            <a:r>
              <a:rPr lang="en-US" sz="2400" dirty="0">
                <a:latin typeface="Times New Roman" panose="02020603050405020304" pitchFamily="18" charset="0"/>
                <a:cs typeface="Times New Roman" panose="02020603050405020304" pitchFamily="18" charset="0"/>
              </a:rPr>
              <a:t>	</a:t>
            </a:r>
            <a:endParaRPr lang="tr-TR" sz="2400" dirty="0">
              <a:latin typeface="Times New Roman" panose="02020603050405020304" pitchFamily="18" charset="0"/>
              <a:cs typeface="Times New Roman" panose="02020603050405020304" pitchFamily="18" charset="0"/>
            </a:endParaRPr>
          </a:p>
          <a:p>
            <a:r>
              <a:rPr lang="tr-TR" sz="2400" dirty="0">
                <a:latin typeface="Times New Roman" panose="02020603050405020304" pitchFamily="18" charset="0"/>
                <a:cs typeface="Times New Roman" panose="02020603050405020304" pitchFamily="18" charset="0"/>
              </a:rPr>
              <a:t>Genel Tekrar</a:t>
            </a:r>
          </a:p>
          <a:p>
            <a:r>
              <a:rPr lang="tr-TR" sz="2400" dirty="0">
                <a:latin typeface="Times New Roman" panose="02020603050405020304" pitchFamily="18" charset="0"/>
                <a:cs typeface="Times New Roman" panose="02020603050405020304" pitchFamily="18" charset="0"/>
              </a:rPr>
              <a:t>Genel Tekrar</a:t>
            </a:r>
            <a:r>
              <a:rPr lang="it-IT"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
        <p:nvSpPr>
          <p:cNvPr id="2" name="Slayt Numarası Yer Tutucusu 1"/>
          <p:cNvSpPr>
            <a:spLocks noGrp="1"/>
          </p:cNvSpPr>
          <p:nvPr>
            <p:ph type="sldNum" sz="quarter" idx="12"/>
          </p:nvPr>
        </p:nvSpPr>
        <p:spPr/>
        <p:txBody>
          <a:bodyPr/>
          <a:lstStyle/>
          <a:p>
            <a:fld id="{125D401F-286E-468B-9BCD-6DE50C180B4C}" type="slidenum">
              <a:rPr lang="tr-TR" smtClean="0"/>
              <a:t>3</a:t>
            </a:fld>
            <a:endParaRPr lang="tr-TR"/>
          </a:p>
        </p:txBody>
      </p:sp>
      <p:pic>
        <p:nvPicPr>
          <p:cNvPr id="7" name="Google Shape;323;g2ea15ffc163_0_213"/>
          <p:cNvPicPr preferRelativeResize="0"/>
          <p:nvPr/>
        </p:nvPicPr>
        <p:blipFill rotWithShape="1">
          <a:blip r:embed="rId2">
            <a:alphaModFix/>
          </a:blip>
          <a:srcRect/>
          <a:stretch/>
        </p:blipFill>
        <p:spPr>
          <a:xfrm>
            <a:off x="10726678" y="104832"/>
            <a:ext cx="1465322" cy="860924"/>
          </a:xfrm>
          <a:prstGeom prst="rect">
            <a:avLst/>
          </a:prstGeom>
          <a:noFill/>
          <a:ln>
            <a:noFill/>
          </a:ln>
        </p:spPr>
      </p:pic>
      <p:sp>
        <p:nvSpPr>
          <p:cNvPr id="8" name="Dikdörtgen 7"/>
          <p:cNvSpPr/>
          <p:nvPr/>
        </p:nvSpPr>
        <p:spPr>
          <a:xfrm>
            <a:off x="0" y="408024"/>
            <a:ext cx="12192000" cy="461665"/>
          </a:xfrm>
          <a:prstGeom prst="rect">
            <a:avLst/>
          </a:prstGeom>
        </p:spPr>
        <p:txBody>
          <a:bodyPr wrap="square">
            <a:spAutoFit/>
          </a:bodyPr>
          <a:lstStyle/>
          <a:p>
            <a:pPr lvl="0" algn="ctr">
              <a:buClr>
                <a:srgbClr val="000000"/>
              </a:buClr>
              <a:buSzPts val="2400"/>
            </a:pPr>
            <a:r>
              <a:rPr lang="tr-TR" sz="2400" b="1" dirty="0">
                <a:solidFill>
                  <a:srgbClr val="002060"/>
                </a:solidFill>
                <a:latin typeface="Times New Roman" panose="02020603050405020304" pitchFamily="18" charset="0"/>
                <a:ea typeface="Times New Roman"/>
                <a:cs typeface="Times New Roman" panose="02020603050405020304" pitchFamily="18" charset="0"/>
                <a:sym typeface="Times New Roman"/>
              </a:rPr>
              <a:t>14 HAFTALIK DERS KONULARI </a:t>
            </a:r>
            <a:endParaRPr lang="tr-TR" sz="24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858850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rmAutofit/>
          </a:bodyPr>
          <a:lstStyle/>
          <a:p>
            <a:pPr marL="0" indent="0" algn="just">
              <a:buNone/>
            </a:pPr>
            <a:r>
              <a:rPr lang="tr-TR" sz="2400" dirty="0">
                <a:latin typeface="Times New Roman" panose="02020603050405020304" pitchFamily="18" charset="0"/>
                <a:cs typeface="Times New Roman" panose="02020603050405020304" pitchFamily="18" charset="0"/>
              </a:rPr>
              <a:t>Malzeme yıkama ve hazırlama ünitelerini tanır. </a:t>
            </a:r>
          </a:p>
        </p:txBody>
      </p:sp>
      <p:pic>
        <p:nvPicPr>
          <p:cNvPr id="8"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4</a:t>
            </a:fld>
            <a:endParaRPr lang="tr-TR"/>
          </a:p>
        </p:txBody>
      </p:sp>
      <p:sp>
        <p:nvSpPr>
          <p:cNvPr id="9" name="Dikdörtgen 8"/>
          <p:cNvSpPr/>
          <p:nvPr/>
        </p:nvSpPr>
        <p:spPr>
          <a:xfrm>
            <a:off x="0" y="280994"/>
            <a:ext cx="12192000" cy="461665"/>
          </a:xfrm>
          <a:prstGeom prst="rect">
            <a:avLst/>
          </a:prstGeom>
        </p:spPr>
        <p:txBody>
          <a:bodyPr wrap="square">
            <a:spAutoFit/>
          </a:bodyPr>
          <a:lstStyle/>
          <a:p>
            <a:pPr algn="ctr"/>
            <a:r>
              <a:rPr lang="tr-TR" sz="2400" b="1" dirty="0">
                <a:solidFill>
                  <a:srgbClr val="002060"/>
                </a:solidFill>
                <a:latin typeface="Times New Roman" panose="02020603050405020304" pitchFamily="18" charset="0"/>
                <a:ea typeface="Times New Roman"/>
                <a:cs typeface="Times New Roman" panose="02020603050405020304" pitchFamily="18" charset="0"/>
                <a:sym typeface="Times New Roman"/>
              </a:rPr>
              <a:t>HAFTALIK ÖĞRENİM KAZANIMLARI</a:t>
            </a:r>
            <a:endParaRPr lang="tr-T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328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pic>
        <p:nvPicPr>
          <p:cNvPr id="8"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5</a:t>
            </a:fld>
            <a:endParaRPr lang="tr-TR"/>
          </a:p>
        </p:txBody>
      </p:sp>
      <p:sp>
        <p:nvSpPr>
          <p:cNvPr id="9" name="Dikdörtgen 8"/>
          <p:cNvSpPr/>
          <p:nvPr/>
        </p:nvSpPr>
        <p:spPr>
          <a:xfrm>
            <a:off x="0" y="373985"/>
            <a:ext cx="12192000" cy="461665"/>
          </a:xfrm>
          <a:prstGeom prst="rect">
            <a:avLst/>
          </a:prstGeom>
        </p:spPr>
        <p:txBody>
          <a:bodyPr wrap="square">
            <a:spAutoFit/>
          </a:bodyPr>
          <a:lstStyle/>
          <a:p>
            <a:pPr lvl="0" algn="ctr">
              <a:buClr>
                <a:srgbClr val="000000"/>
              </a:buClr>
              <a:buSzPts val="2400"/>
            </a:pPr>
            <a:r>
              <a:rPr lang="tr-TR" sz="2400" b="1" dirty="0">
                <a:solidFill>
                  <a:srgbClr val="002060"/>
                </a:solidFill>
                <a:latin typeface="Times New Roman" panose="02020603050405020304" pitchFamily="18" charset="0"/>
                <a:ea typeface="Times New Roman"/>
                <a:cs typeface="Times New Roman" panose="02020603050405020304" pitchFamily="18" charset="0"/>
                <a:sym typeface="Times New Roman"/>
              </a:rPr>
              <a:t>ÖNCEKİ DERS HAKKINDA </a:t>
            </a:r>
            <a:endParaRPr lang="tr-TR" sz="24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4" name="Metin kutusu 3"/>
          <p:cNvSpPr txBox="1"/>
          <p:nvPr/>
        </p:nvSpPr>
        <p:spPr>
          <a:xfrm>
            <a:off x="2484474" y="1908036"/>
            <a:ext cx="3542958" cy="1754326"/>
          </a:xfrm>
          <a:prstGeom prst="rect">
            <a:avLst/>
          </a:prstGeom>
          <a:noFill/>
        </p:spPr>
        <p:txBody>
          <a:bodyPr wrap="none" rtlCol="0">
            <a:spAutoFit/>
          </a:bodyPr>
          <a:lstStyle/>
          <a:p>
            <a:pPr marL="342900" indent="-342900" algn="just">
              <a:lnSpc>
                <a:spcPct val="150000"/>
              </a:lnSpc>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Sterilizasyon yöntemleri</a:t>
            </a:r>
          </a:p>
          <a:p>
            <a:pPr marL="342900" indent="-342900" algn="just">
              <a:lnSpc>
                <a:spcPct val="150000"/>
              </a:lnSpc>
              <a:buFont typeface="Wingdings" panose="05000000000000000000" pitchFamily="2" charset="2"/>
              <a:buChar char="ü"/>
            </a:pPr>
            <a:r>
              <a:rPr lang="tr-TR" sz="2400" dirty="0" err="1">
                <a:latin typeface="Times New Roman" panose="02020603050405020304" pitchFamily="18" charset="0"/>
                <a:cs typeface="Times New Roman" panose="02020603050405020304" pitchFamily="18" charset="0"/>
              </a:rPr>
              <a:t>Sterilizatörler</a:t>
            </a:r>
            <a:endParaRPr lang="tr-TR" sz="2400" dirty="0">
              <a:latin typeface="Times New Roman" panose="02020603050405020304" pitchFamily="18" charset="0"/>
              <a:cs typeface="Times New Roman" panose="02020603050405020304" pitchFamily="18" charset="0"/>
            </a:endParaRPr>
          </a:p>
          <a:p>
            <a:pPr algn="just">
              <a:lnSpc>
                <a:spcPct val="150000"/>
              </a:lnSpc>
            </a:pPr>
            <a:endParaRPr lang="tr-T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2899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6869723" y="2479964"/>
            <a:ext cx="4953000" cy="2881746"/>
          </a:xfrm>
        </p:spPr>
        <p:txBody>
          <a:bodyPr>
            <a:normAutofit/>
          </a:bodyPr>
          <a:lstStyle/>
          <a:p>
            <a:pPr marL="0" indent="0" algn="just">
              <a:buNone/>
            </a:pPr>
            <a:endParaRPr lang="tr-TR" sz="2400" dirty="0">
              <a:latin typeface="Times New Roman" panose="02020603050405020304" pitchFamily="18" charset="0"/>
              <a:cs typeface="Times New Roman" panose="02020603050405020304" pitchFamily="18" charset="0"/>
            </a:endParaRPr>
          </a:p>
          <a:p>
            <a:pPr marL="0" indent="0" algn="just">
              <a:buNone/>
            </a:pPr>
            <a:endParaRPr lang="tr-TR" sz="2400">
              <a:latin typeface="Times New Roman" panose="02020603050405020304" pitchFamily="18" charset="0"/>
              <a:cs typeface="Times New Roman" panose="02020603050405020304" pitchFamily="18" charset="0"/>
            </a:endParaRPr>
          </a:p>
          <a:p>
            <a:pPr marL="0" indent="0" algn="just">
              <a:buNone/>
            </a:pPr>
            <a:endParaRPr lang="tr-TR" sz="2400" dirty="0">
              <a:latin typeface="Times New Roman" panose="02020603050405020304" pitchFamily="18" charset="0"/>
              <a:cs typeface="Times New Roman" panose="02020603050405020304" pitchFamily="18" charset="0"/>
            </a:endParaRPr>
          </a:p>
        </p:txBody>
      </p:sp>
      <p:pic>
        <p:nvPicPr>
          <p:cNvPr id="7" name="Google Shape;135;g2ea15ffc163_0_29"/>
          <p:cNvPicPr preferRelativeResize="0"/>
          <p:nvPr/>
        </p:nvPicPr>
        <p:blipFill rotWithShape="1">
          <a:blip r:embed="rId3">
            <a:alphaModFix/>
          </a:blip>
          <a:srcRect l="26333" t="23998" r="20703" b="21593"/>
          <a:stretch/>
        </p:blipFill>
        <p:spPr>
          <a:xfrm>
            <a:off x="1593628" y="2622193"/>
            <a:ext cx="1731891" cy="1779126"/>
          </a:xfrm>
          <a:prstGeom prst="rect">
            <a:avLst/>
          </a:prstGeom>
          <a:noFill/>
          <a:ln>
            <a:noFill/>
          </a:ln>
        </p:spPr>
      </p:pic>
      <p:sp>
        <p:nvSpPr>
          <p:cNvPr id="8" name="Google Shape;134;g2ea15ffc163_0_29"/>
          <p:cNvSpPr txBox="1"/>
          <p:nvPr/>
        </p:nvSpPr>
        <p:spPr>
          <a:xfrm>
            <a:off x="3233735" y="2622193"/>
            <a:ext cx="5856900" cy="3171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tr-TR" sz="2400" dirty="0">
                <a:solidFill>
                  <a:schemeClr val="dk1"/>
                </a:solidFill>
                <a:latin typeface="Times New Roman"/>
                <a:ea typeface="Times New Roman"/>
                <a:cs typeface="Times New Roman"/>
                <a:sym typeface="Times New Roman"/>
              </a:rPr>
              <a:t>15</a:t>
            </a:r>
            <a:r>
              <a:rPr lang="tr-TR" sz="2400" b="0" i="0" u="none" strike="noStrike" cap="none" dirty="0">
                <a:solidFill>
                  <a:schemeClr val="dk1"/>
                </a:solidFill>
                <a:latin typeface="Times New Roman"/>
                <a:ea typeface="Times New Roman"/>
                <a:cs typeface="Times New Roman"/>
                <a:sym typeface="Times New Roman"/>
              </a:rPr>
              <a:t>.00-15.50/ 1. DERS</a:t>
            </a:r>
            <a:endParaRPr sz="24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r>
              <a:rPr lang="tr-TR" sz="2400" b="0" i="0" u="none" strike="noStrike" cap="none" dirty="0">
                <a:solidFill>
                  <a:schemeClr val="dk1"/>
                </a:solidFill>
                <a:latin typeface="Times New Roman"/>
                <a:ea typeface="Times New Roman"/>
                <a:cs typeface="Times New Roman"/>
                <a:sym typeface="Times New Roman"/>
              </a:rPr>
              <a:t>16.00-16.50/ 2. DERS</a:t>
            </a:r>
            <a:endParaRPr sz="24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r>
              <a:rPr lang="tr-TR" sz="2400" b="0" i="0" u="none" strike="noStrike" cap="none" dirty="0">
                <a:solidFill>
                  <a:schemeClr val="dk1"/>
                </a:solidFill>
                <a:latin typeface="Times New Roman"/>
                <a:ea typeface="Times New Roman"/>
                <a:cs typeface="Times New Roman"/>
                <a:sym typeface="Times New Roman"/>
              </a:rPr>
              <a:t>17.00-17.45/ 3. DERS</a:t>
            </a:r>
            <a:endParaRPr sz="24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dirty="0">
              <a:solidFill>
                <a:schemeClr val="dk1"/>
              </a:solidFill>
              <a:latin typeface="Times New Roman"/>
              <a:ea typeface="Times New Roman"/>
              <a:cs typeface="Times New Roman"/>
              <a:sym typeface="Times New Roman"/>
            </a:endParaRPr>
          </a:p>
        </p:txBody>
      </p:sp>
      <p:pic>
        <p:nvPicPr>
          <p:cNvPr id="9" name="Google Shape;323;g2ea15ffc163_0_213"/>
          <p:cNvPicPr preferRelativeResize="0"/>
          <p:nvPr/>
        </p:nvPicPr>
        <p:blipFill rotWithShape="1">
          <a:blip r:embed="rId4">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6</a:t>
            </a:fld>
            <a:endParaRPr lang="tr-TR"/>
          </a:p>
        </p:txBody>
      </p:sp>
      <p:sp>
        <p:nvSpPr>
          <p:cNvPr id="10" name="Dikdörtgen 9"/>
          <p:cNvSpPr/>
          <p:nvPr/>
        </p:nvSpPr>
        <p:spPr>
          <a:xfrm>
            <a:off x="66675" y="384093"/>
            <a:ext cx="12125325" cy="461665"/>
          </a:xfrm>
          <a:prstGeom prst="rect">
            <a:avLst/>
          </a:prstGeom>
        </p:spPr>
        <p:txBody>
          <a:bodyPr wrap="square">
            <a:spAutoFit/>
          </a:bodyPr>
          <a:lstStyle/>
          <a:p>
            <a:pPr lvl="0" algn="ctr">
              <a:buClr>
                <a:srgbClr val="000000"/>
              </a:buClr>
              <a:buSzPts val="2400"/>
            </a:pPr>
            <a:r>
              <a:rPr lang="tr-TR" sz="2400" b="1" dirty="0">
                <a:solidFill>
                  <a:srgbClr val="172652"/>
                </a:solidFill>
                <a:latin typeface="Times New Roman" panose="02020603050405020304" pitchFamily="18" charset="0"/>
                <a:ea typeface="Times New Roman"/>
                <a:cs typeface="Times New Roman" panose="02020603050405020304" pitchFamily="18" charset="0"/>
                <a:sym typeface="Times New Roman"/>
              </a:rPr>
              <a:t>GÜNLÜK AKIŞ</a:t>
            </a:r>
          </a:p>
        </p:txBody>
      </p:sp>
    </p:spTree>
    <p:extLst>
      <p:ext uri="{BB962C8B-B14F-4D97-AF65-F5344CB8AC3E}">
        <p14:creationId xmlns:p14="http://schemas.microsoft.com/office/powerpoint/2010/main" val="2740985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0302" y="965756"/>
            <a:ext cx="10533185" cy="4770194"/>
          </a:xfrm>
        </p:spPr>
        <p:txBody>
          <a:bodyPr>
            <a:noAutofit/>
          </a:bodyPr>
          <a:lstStyle/>
          <a:p>
            <a:pPr lvl="0" algn="just">
              <a:lnSpc>
                <a:spcPct val="150000"/>
              </a:lnSpc>
              <a:spcBef>
                <a:spcPts val="0"/>
              </a:spcBef>
              <a:buClr>
                <a:prstClr val="black"/>
              </a:buClr>
              <a:buSzPts val="2400"/>
            </a:pPr>
            <a:r>
              <a:rPr lang="tr-TR" sz="2400" b="1" dirty="0" err="1">
                <a:solidFill>
                  <a:prstClr val="black"/>
                </a:solidFill>
                <a:latin typeface="Times New Roman"/>
                <a:ea typeface="Times New Roman"/>
                <a:cs typeface="Times New Roman"/>
                <a:sym typeface="Times New Roman"/>
              </a:rPr>
              <a:t>Validasyon</a:t>
            </a:r>
            <a:endParaRPr lang="tr-TR" sz="2400" b="1" dirty="0">
              <a:solidFill>
                <a:prstClr val="black"/>
              </a:solidFill>
              <a:latin typeface="Times New Roman"/>
              <a:ea typeface="Times New Roman"/>
              <a:cs typeface="Times New Roman"/>
              <a:sym typeface="Times New Roman"/>
            </a:endParaRPr>
          </a:p>
          <a:p>
            <a:pPr lvl="0" algn="just">
              <a:lnSpc>
                <a:spcPct val="150000"/>
              </a:lnSpc>
              <a:spcBef>
                <a:spcPts val="0"/>
              </a:spcBef>
              <a:buClr>
                <a:prstClr val="black"/>
              </a:buClr>
              <a:buSzPts val="2400"/>
            </a:pPr>
            <a:r>
              <a:rPr lang="tr-TR" sz="2400" b="1" dirty="0">
                <a:solidFill>
                  <a:prstClr val="black"/>
                </a:solidFill>
                <a:latin typeface="Times New Roman"/>
                <a:ea typeface="Times New Roman"/>
                <a:cs typeface="Times New Roman"/>
                <a:sym typeface="Times New Roman"/>
              </a:rPr>
              <a:t>Sterilizasyonun rutin izlenmesi</a:t>
            </a:r>
            <a:endPar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endParaRP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7</a:t>
            </a:fld>
            <a:endParaRPr lang="tr-TR"/>
          </a:p>
        </p:txBody>
      </p:sp>
      <p:sp>
        <p:nvSpPr>
          <p:cNvPr id="8" name="Dikdörtgen 7"/>
          <p:cNvSpPr/>
          <p:nvPr/>
        </p:nvSpPr>
        <p:spPr>
          <a:xfrm>
            <a:off x="0" y="373985"/>
            <a:ext cx="12191999" cy="461665"/>
          </a:xfrm>
          <a:prstGeom prst="rect">
            <a:avLst/>
          </a:prstGeom>
        </p:spPr>
        <p:txBody>
          <a:bodyPr wrap="square">
            <a:spAutoFit/>
          </a:bodyPr>
          <a:lstStyle/>
          <a:p>
            <a:pPr lvl="0" algn="ctr">
              <a:buClr>
                <a:srgbClr val="000000"/>
              </a:buClr>
              <a:buSzPts val="2400"/>
            </a:pPr>
            <a:r>
              <a:rPr lang="tr-TR" sz="2400" dirty="0">
                <a:solidFill>
                  <a:srgbClr val="0070C0"/>
                </a:solidFill>
                <a:latin typeface="Times New Roman" panose="02020603050405020304" pitchFamily="18" charset="0"/>
                <a:cs typeface="Times New Roman" panose="02020603050405020304" pitchFamily="18" charset="0"/>
              </a:rPr>
              <a:t>STERİLİZASYONDA GÜVENLİK TESTLERİ</a:t>
            </a:r>
          </a:p>
        </p:txBody>
      </p:sp>
    </p:spTree>
    <p:extLst>
      <p:ext uri="{BB962C8B-B14F-4D97-AF65-F5344CB8AC3E}">
        <p14:creationId xmlns:p14="http://schemas.microsoft.com/office/powerpoint/2010/main" val="970903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0302" y="965756"/>
            <a:ext cx="10533185" cy="4770194"/>
          </a:xfrm>
        </p:spPr>
        <p:txBody>
          <a:bodyPr>
            <a:noAutofit/>
          </a:bodyPr>
          <a:lstStyle/>
          <a:p>
            <a:r>
              <a:rPr lang="tr-TR" sz="2400" b="1" dirty="0"/>
              <a:t>Validasyon</a:t>
            </a:r>
            <a:r>
              <a:rPr lang="tr-TR" sz="2400" dirty="0"/>
              <a:t>, belirli bir hizmet veya ürün kalitesini sağlayan çalışmaların belirli şartlarda tutarlılıkla yerine getirildiğini kanıtlayan, belgeleyen çalışmaların bütünüdür.</a:t>
            </a:r>
          </a:p>
          <a:p>
            <a:endParaRPr lang="tr-TR" sz="2400" dirty="0"/>
          </a:p>
          <a:p>
            <a:r>
              <a:rPr lang="tr-TR" sz="2400" dirty="0"/>
              <a:t>Kullanılan yöntemin doğru ve kesin olarak sürekli bir şekilde bekleneni gerçekleştirdiğinin kanıtlanması için yapılması gereken işlemleri kapsar.</a:t>
            </a:r>
            <a:br>
              <a:rPr lang="tr-TR" sz="2400" dirty="0"/>
            </a:br>
            <a:endParaRPr lang="tr-TR" sz="2400" dirty="0"/>
          </a:p>
          <a:p>
            <a:endParaRPr lang="tr-TR" sz="2400" dirty="0"/>
          </a:p>
          <a:p>
            <a:r>
              <a:rPr lang="tr-TR" sz="2400" dirty="0"/>
              <a:t>Ürünlerin geliştirilmesi, üretimi ve yeniden işleme için temel proseslerin ve makinelerin sistematik olarak gözden geçirilmesi, önerilen yöntemler kullanıldığında tekrarlanabilir sonuçlar alınacağından ve istenen kalitenin sağlanacağından emin olunması için yapılan işlemlerdir.</a:t>
            </a:r>
            <a:endPar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endParaRP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8</a:t>
            </a:fld>
            <a:endParaRPr lang="tr-TR"/>
          </a:p>
        </p:txBody>
      </p:sp>
      <p:sp>
        <p:nvSpPr>
          <p:cNvPr id="8" name="Dikdörtgen 7"/>
          <p:cNvSpPr/>
          <p:nvPr/>
        </p:nvSpPr>
        <p:spPr>
          <a:xfrm>
            <a:off x="0" y="373985"/>
            <a:ext cx="12191999" cy="461665"/>
          </a:xfrm>
          <a:prstGeom prst="rect">
            <a:avLst/>
          </a:prstGeom>
        </p:spPr>
        <p:txBody>
          <a:bodyPr wrap="square">
            <a:spAutoFit/>
          </a:bodyPr>
          <a:lstStyle/>
          <a:p>
            <a:pPr lvl="0" algn="ctr">
              <a:buClr>
                <a:srgbClr val="000000"/>
              </a:buClr>
              <a:buSzPts val="2400"/>
            </a:pPr>
            <a:r>
              <a:rPr lang="tr-TR" sz="2400" dirty="0">
                <a:solidFill>
                  <a:srgbClr val="0070C0"/>
                </a:solidFill>
                <a:latin typeface="Times New Roman" panose="02020603050405020304" pitchFamily="18" charset="0"/>
                <a:cs typeface="Times New Roman" panose="02020603050405020304" pitchFamily="18" charset="0"/>
              </a:rPr>
              <a:t>VALİDASYON</a:t>
            </a:r>
            <a:endParaRPr lang="tr-TR" sz="2400" b="1" dirty="0">
              <a:solidFill>
                <a:srgbClr val="0070C0"/>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738860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0302" y="965756"/>
            <a:ext cx="10533185" cy="4770194"/>
          </a:xfrm>
        </p:spPr>
        <p:txBody>
          <a:bodyPr>
            <a:noAutofit/>
          </a:bodyPr>
          <a:lstStyle/>
          <a:p>
            <a:r>
              <a:rPr lang="tr-TR" sz="2400" b="1" dirty="0"/>
              <a:t>Valide edilmiş yöntemle çalışıldığında</a:t>
            </a:r>
            <a:r>
              <a:rPr lang="tr-TR" sz="2400" dirty="0"/>
              <a:t>, yapılan işlemin </a:t>
            </a:r>
            <a:r>
              <a:rPr lang="tr-TR" sz="2400" b="1" dirty="0"/>
              <a:t>kesin, doğru, özgün, tutarlı, geçerli ve güvenilir</a:t>
            </a:r>
            <a:r>
              <a:rPr lang="tr-TR" sz="2400" dirty="0"/>
              <a:t> olduğu garanti edilmiş olur.</a:t>
            </a:r>
          </a:p>
          <a:p>
            <a:endParaRPr lang="tr-TR" sz="2400" dirty="0"/>
          </a:p>
          <a:p>
            <a:r>
              <a:rPr lang="tr-TR" sz="2400" dirty="0"/>
              <a:t>Sterilizasyon süreci sonunda ulaşılması istenen hedef **“Sterilite Güvence Düzeyi (</a:t>
            </a:r>
            <a:r>
              <a:rPr lang="tr-TR" sz="2400" dirty="0" err="1"/>
              <a:t>Sterility</a:t>
            </a:r>
            <a:r>
              <a:rPr lang="tr-TR" sz="2400" dirty="0"/>
              <a:t> </a:t>
            </a:r>
            <a:r>
              <a:rPr lang="tr-TR" sz="2400" dirty="0" err="1"/>
              <a:t>Assurance</a:t>
            </a:r>
            <a:r>
              <a:rPr lang="tr-TR" sz="2400" dirty="0"/>
              <a:t> Level – SAL)”**</a:t>
            </a:r>
            <a:r>
              <a:rPr lang="tr-TR" sz="2400" dirty="0" err="1"/>
              <a:t>dir</a:t>
            </a:r>
            <a:r>
              <a:rPr lang="tr-TR" sz="2400" dirty="0"/>
              <a:t>.</a:t>
            </a:r>
          </a:p>
          <a:p>
            <a:endParaRPr lang="tr-TR" sz="2400" dirty="0"/>
          </a:p>
          <a:p>
            <a:r>
              <a:rPr lang="tr-TR" sz="2400" dirty="0"/>
              <a:t>Yani steril edilen malzeme üzerinde </a:t>
            </a:r>
            <a:r>
              <a:rPr lang="tr-TR" sz="2400" b="1" dirty="0"/>
              <a:t>canlı mikroorganizma kalma olasılığının 10⁻⁶’dan daha az</a:t>
            </a:r>
            <a:r>
              <a:rPr lang="tr-TR" sz="2400" dirty="0"/>
              <a:t> olması istenir.</a:t>
            </a:r>
            <a:endPar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endParaRP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9</a:t>
            </a:fld>
            <a:endParaRPr lang="tr-TR"/>
          </a:p>
        </p:txBody>
      </p:sp>
      <p:sp>
        <p:nvSpPr>
          <p:cNvPr id="8" name="Dikdörtgen 7"/>
          <p:cNvSpPr/>
          <p:nvPr/>
        </p:nvSpPr>
        <p:spPr>
          <a:xfrm>
            <a:off x="0" y="373985"/>
            <a:ext cx="12191999" cy="461665"/>
          </a:xfrm>
          <a:prstGeom prst="rect">
            <a:avLst/>
          </a:prstGeom>
        </p:spPr>
        <p:txBody>
          <a:bodyPr wrap="square">
            <a:spAutoFit/>
          </a:bodyPr>
          <a:lstStyle/>
          <a:p>
            <a:pPr lvl="0" algn="ctr">
              <a:buClr>
                <a:srgbClr val="000000"/>
              </a:buClr>
              <a:buSzPts val="2400"/>
            </a:pPr>
            <a:r>
              <a:rPr lang="tr-TR" sz="2400" dirty="0">
                <a:solidFill>
                  <a:srgbClr val="0070C0"/>
                </a:solidFill>
                <a:latin typeface="Times New Roman" panose="02020603050405020304" pitchFamily="18" charset="0"/>
                <a:cs typeface="Times New Roman" panose="02020603050405020304" pitchFamily="18" charset="0"/>
              </a:rPr>
              <a:t>VALİDASYON</a:t>
            </a:r>
            <a:endParaRPr lang="tr-TR" sz="2400" b="1" dirty="0">
              <a:solidFill>
                <a:srgbClr val="0070C0"/>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167471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0302" y="965756"/>
            <a:ext cx="10533185" cy="4770194"/>
          </a:xfrm>
        </p:spPr>
        <p:txBody>
          <a:bodyPr>
            <a:noAutofit/>
          </a:bodyPr>
          <a:lstStyle/>
          <a:p>
            <a:pPr marL="0" indent="0">
              <a:buNone/>
            </a:pPr>
            <a:r>
              <a:rPr lang="tr-TR" sz="2400" dirty="0">
                <a:latin typeface="Times New Roman" panose="02020603050405020304" pitchFamily="18" charset="0"/>
                <a:cs typeface="Times New Roman" panose="02020603050405020304" pitchFamily="18" charset="0"/>
              </a:rPr>
              <a:t>Hedefin gerçekleşebilmesi için şu basamakların kontrol altında tutulması zorunludur:</a:t>
            </a:r>
          </a:p>
          <a:p>
            <a:pPr marL="0" indent="0">
              <a:buNone/>
            </a:pPr>
            <a:r>
              <a:rPr lang="tr-TR" sz="2400" dirty="0">
                <a:latin typeface="Times New Roman" panose="02020603050405020304" pitchFamily="18" charset="0"/>
                <a:cs typeface="Times New Roman" panose="02020603050405020304" pitchFamily="18" charset="0"/>
              </a:rPr>
              <a:t>● Malzemedeki mikrobiyolojik yük,</a:t>
            </a:r>
          </a:p>
          <a:p>
            <a:pPr marL="0" indent="0">
              <a:buNone/>
            </a:pPr>
            <a:r>
              <a:rPr lang="tr-TR" sz="2400" dirty="0">
                <a:latin typeface="Times New Roman" panose="02020603050405020304" pitchFamily="18" charset="0"/>
                <a:cs typeface="Times New Roman" panose="02020603050405020304" pitchFamily="18" charset="0"/>
              </a:rPr>
              <a:t>● Yıkama ve dezenfeksiyon süreci,</a:t>
            </a:r>
          </a:p>
          <a:p>
            <a:pPr marL="0" indent="0">
              <a:buNone/>
            </a:pPr>
            <a:r>
              <a:rPr lang="tr-TR" sz="2400" dirty="0">
                <a:latin typeface="Times New Roman" panose="02020603050405020304" pitchFamily="18" charset="0"/>
                <a:cs typeface="Times New Roman" panose="02020603050405020304" pitchFamily="18" charset="0"/>
              </a:rPr>
              <a:t>● Malzemenin hazırlandığı, paketlendiği çevre,</a:t>
            </a:r>
          </a:p>
          <a:p>
            <a:pPr marL="0" indent="0">
              <a:buNone/>
            </a:pPr>
            <a:r>
              <a:rPr lang="tr-TR" sz="2400" dirty="0">
                <a:latin typeface="Times New Roman" panose="02020603050405020304" pitchFamily="18" charset="0"/>
                <a:cs typeface="Times New Roman" panose="02020603050405020304" pitchFamily="18" charset="0"/>
              </a:rPr>
              <a:t>● Kullanılan ekipman ve yöntem,</a:t>
            </a:r>
          </a:p>
          <a:p>
            <a:pPr marL="0" indent="0">
              <a:buNone/>
            </a:pPr>
            <a:r>
              <a:rPr lang="tr-TR" sz="2400" dirty="0">
                <a:latin typeface="Times New Roman" panose="02020603050405020304" pitchFamily="18" charset="0"/>
                <a:cs typeface="Times New Roman" panose="02020603050405020304" pitchFamily="18" charset="0"/>
              </a:rPr>
              <a:t>● Personel ve hijyen,</a:t>
            </a:r>
          </a:p>
          <a:p>
            <a:pPr marL="0" indent="0">
              <a:buNone/>
            </a:pPr>
            <a:r>
              <a:rPr lang="tr-TR" sz="2400" dirty="0">
                <a:latin typeface="Times New Roman" panose="02020603050405020304" pitchFamily="18" charset="0"/>
                <a:cs typeface="Times New Roman" panose="02020603050405020304" pitchFamily="18" charset="0"/>
              </a:rPr>
              <a:t>● Paketleme materyali ve yöntemi ,</a:t>
            </a:r>
          </a:p>
          <a:p>
            <a:pPr marL="0" indent="0">
              <a:buNone/>
            </a:pPr>
            <a:r>
              <a:rPr lang="tr-TR" sz="2400" dirty="0">
                <a:latin typeface="Times New Roman" panose="02020603050405020304" pitchFamily="18" charset="0"/>
                <a:cs typeface="Times New Roman" panose="02020603050405020304" pitchFamily="18" charset="0"/>
              </a:rPr>
              <a:t>● Steril depolama.</a:t>
            </a:r>
            <a:endPar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endParaRP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10</a:t>
            </a:fld>
            <a:endParaRPr lang="tr-TR"/>
          </a:p>
        </p:txBody>
      </p:sp>
      <p:sp>
        <p:nvSpPr>
          <p:cNvPr id="8" name="Dikdörtgen 7"/>
          <p:cNvSpPr/>
          <p:nvPr/>
        </p:nvSpPr>
        <p:spPr>
          <a:xfrm>
            <a:off x="0" y="373985"/>
            <a:ext cx="12191999" cy="461665"/>
          </a:xfrm>
          <a:prstGeom prst="rect">
            <a:avLst/>
          </a:prstGeom>
        </p:spPr>
        <p:txBody>
          <a:bodyPr wrap="square">
            <a:spAutoFit/>
          </a:bodyPr>
          <a:lstStyle/>
          <a:p>
            <a:pPr lvl="0" algn="ctr">
              <a:buClr>
                <a:srgbClr val="000000"/>
              </a:buClr>
              <a:buSzPts val="2400"/>
            </a:pPr>
            <a:r>
              <a:rPr lang="tr-TR" sz="2400" dirty="0">
                <a:solidFill>
                  <a:srgbClr val="0070C0"/>
                </a:solidFill>
                <a:latin typeface="Times New Roman" panose="02020603050405020304" pitchFamily="18" charset="0"/>
                <a:cs typeface="Times New Roman" panose="02020603050405020304" pitchFamily="18" charset="0"/>
              </a:rPr>
              <a:t>VALİDASYON</a:t>
            </a:r>
            <a:endParaRPr lang="tr-TR" sz="2400" b="1" dirty="0">
              <a:solidFill>
                <a:srgbClr val="0070C0"/>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867731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0302" y="965756"/>
            <a:ext cx="10533185" cy="4770194"/>
          </a:xfrm>
        </p:spPr>
        <p:txBody>
          <a:bodyPr>
            <a:noAutofit/>
          </a:bodyPr>
          <a:lstStyle/>
          <a:p>
            <a:pPr marL="0" indent="0">
              <a:lnSpc>
                <a:spcPct val="150000"/>
              </a:lnSpc>
              <a:buNone/>
            </a:pPr>
            <a:r>
              <a:rPr lang="tr-TR" sz="2400" dirty="0">
                <a:latin typeface="Times New Roman" panose="02020603050405020304" pitchFamily="18" charset="0"/>
                <a:cs typeface="Times New Roman" panose="02020603050405020304" pitchFamily="18" charset="0"/>
              </a:rPr>
              <a:t>TS EN ISO 14937 “Sağlık Hizmeti Ürünlerinin Sterilizasyonu sterilize edici ajanın genel </a:t>
            </a:r>
            <a:r>
              <a:rPr lang="tr-TR" sz="2400" dirty="0" err="1">
                <a:latin typeface="Times New Roman" panose="02020603050405020304" pitchFamily="18" charset="0"/>
                <a:cs typeface="Times New Roman" panose="02020603050405020304" pitchFamily="18" charset="0"/>
              </a:rPr>
              <a:t>karakterizasyonu</a:t>
            </a:r>
            <a:r>
              <a:rPr lang="tr-TR" sz="2400" dirty="0">
                <a:latin typeface="Times New Roman" panose="02020603050405020304" pitchFamily="18" charset="0"/>
                <a:cs typeface="Times New Roman" panose="02020603050405020304" pitchFamily="18" charset="0"/>
              </a:rPr>
              <a:t> ve sterilizasyon işleminin geliştirilmesi, </a:t>
            </a:r>
            <a:r>
              <a:rPr lang="tr-TR" sz="2400" dirty="0" err="1">
                <a:latin typeface="Times New Roman" panose="02020603050405020304" pitchFamily="18" charset="0"/>
                <a:cs typeface="Times New Roman" panose="02020603050405020304" pitchFamily="18" charset="0"/>
              </a:rPr>
              <a:t>validasyonu</a:t>
            </a:r>
            <a:r>
              <a:rPr lang="tr-TR" sz="2400" dirty="0">
                <a:latin typeface="Times New Roman" panose="02020603050405020304" pitchFamily="18" charset="0"/>
                <a:cs typeface="Times New Roman" panose="02020603050405020304" pitchFamily="18" charset="0"/>
              </a:rPr>
              <a:t> (geçerliliğinin kanıtlanması, onaylanması) ve rutin kontrolü” standardının yürürlüğe girmesiyle kurulum değerlendirilmesi, işletim değerlendirilmesi ve performans değerlendirilmesi zorunlu hale gelmiştir.</a:t>
            </a:r>
          </a:p>
          <a:p>
            <a:pPr marL="0" indent="0">
              <a:lnSpc>
                <a:spcPct val="150000"/>
              </a:lnSpc>
              <a:buNone/>
            </a:pPr>
            <a:r>
              <a:rPr lang="tr-TR" sz="2400" dirty="0">
                <a:latin typeface="Times New Roman" panose="02020603050405020304" pitchFamily="18" charset="0"/>
                <a:cs typeface="Times New Roman" panose="02020603050405020304" pitchFamily="18" charset="0"/>
              </a:rPr>
              <a:t>TS EN ISO 13485’e göre ise </a:t>
            </a:r>
            <a:r>
              <a:rPr lang="tr-TR" sz="2400" dirty="0" err="1">
                <a:latin typeface="Times New Roman" panose="02020603050405020304" pitchFamily="18" charset="0"/>
                <a:cs typeface="Times New Roman" panose="02020603050405020304" pitchFamily="18" charset="0"/>
              </a:rPr>
              <a:t>validasyon</a:t>
            </a:r>
            <a:r>
              <a:rPr lang="tr-TR" sz="2400" dirty="0">
                <a:latin typeface="Times New Roman" panose="02020603050405020304" pitchFamily="18" charset="0"/>
                <a:cs typeface="Times New Roman" panose="02020603050405020304" pitchFamily="18" charset="0"/>
              </a:rPr>
              <a:t> MSÜ de kalite sisteminin en önemli parçasıdır.</a:t>
            </a:r>
            <a:endPar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endParaRP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11</a:t>
            </a:fld>
            <a:endParaRPr lang="tr-TR"/>
          </a:p>
        </p:txBody>
      </p:sp>
      <p:sp>
        <p:nvSpPr>
          <p:cNvPr id="8" name="Dikdörtgen 7"/>
          <p:cNvSpPr/>
          <p:nvPr/>
        </p:nvSpPr>
        <p:spPr>
          <a:xfrm>
            <a:off x="0" y="373985"/>
            <a:ext cx="12191999" cy="461665"/>
          </a:xfrm>
          <a:prstGeom prst="rect">
            <a:avLst/>
          </a:prstGeom>
        </p:spPr>
        <p:txBody>
          <a:bodyPr wrap="square">
            <a:spAutoFit/>
          </a:bodyPr>
          <a:lstStyle/>
          <a:p>
            <a:pPr lvl="0" algn="ctr">
              <a:buClr>
                <a:srgbClr val="000000"/>
              </a:buClr>
              <a:buSzPts val="2400"/>
            </a:pPr>
            <a:r>
              <a:rPr lang="tr-TR" sz="2400" dirty="0">
                <a:solidFill>
                  <a:srgbClr val="0070C0"/>
                </a:solidFill>
                <a:latin typeface="Times New Roman" panose="02020603050405020304" pitchFamily="18" charset="0"/>
                <a:cs typeface="Times New Roman" panose="02020603050405020304" pitchFamily="18" charset="0"/>
              </a:rPr>
              <a:t>VALİDASYON</a:t>
            </a:r>
            <a:endParaRPr lang="tr-TR" sz="2400" b="1" dirty="0">
              <a:solidFill>
                <a:srgbClr val="0070C0"/>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748101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0302" y="965756"/>
            <a:ext cx="10533185" cy="4770194"/>
          </a:xfrm>
        </p:spPr>
        <p:txBody>
          <a:bodyPr>
            <a:noAutofit/>
          </a:bodyPr>
          <a:lstStyle/>
          <a:p>
            <a:pPr>
              <a:lnSpc>
                <a:spcPct val="150000"/>
              </a:lnSpc>
            </a:pPr>
            <a:r>
              <a:rPr lang="tr-TR" sz="2400" dirty="0">
                <a:latin typeface="Times New Roman" panose="02020603050405020304" pitchFamily="18" charset="0"/>
                <a:cs typeface="Times New Roman" panose="02020603050405020304" pitchFamily="18" charset="0"/>
              </a:rPr>
              <a:t>Sterilizasyonun </a:t>
            </a:r>
            <a:r>
              <a:rPr lang="tr-TR" sz="2400" dirty="0" err="1">
                <a:latin typeface="Times New Roman" panose="02020603050405020304" pitchFamily="18" charset="0"/>
                <a:cs typeface="Times New Roman" panose="02020603050405020304" pitchFamily="18" charset="0"/>
              </a:rPr>
              <a:t>validasyonu</a:t>
            </a:r>
            <a:r>
              <a:rPr lang="tr-TR" sz="2400" dirty="0">
                <a:latin typeface="Times New Roman" panose="02020603050405020304" pitchFamily="18" charset="0"/>
                <a:cs typeface="Times New Roman" panose="02020603050405020304" pitchFamily="18" charset="0"/>
              </a:rPr>
              <a:t> sterilizasyonun yöntemi ne olursa olsun bütün yöntemler için uygulanmalıdır.</a:t>
            </a:r>
          </a:p>
          <a:p>
            <a:pPr>
              <a:lnSpc>
                <a:spcPct val="150000"/>
              </a:lnSpc>
            </a:pPr>
            <a:r>
              <a:rPr lang="tr-TR" sz="2400" dirty="0" err="1">
                <a:latin typeface="Times New Roman" panose="02020603050405020304" pitchFamily="18" charset="0"/>
                <a:cs typeface="Times New Roman" panose="02020603050405020304" pitchFamily="18" charset="0"/>
              </a:rPr>
              <a:t>Validasyon</a:t>
            </a:r>
            <a:r>
              <a:rPr lang="tr-TR" sz="2400" dirty="0">
                <a:latin typeface="Times New Roman" panose="02020603050405020304" pitchFamily="18" charset="0"/>
                <a:cs typeface="Times New Roman" panose="02020603050405020304" pitchFamily="18" charset="0"/>
              </a:rPr>
              <a:t> kesinlikle üretici firmanın fabrikada yapabileceği testler değildir.</a:t>
            </a:r>
          </a:p>
          <a:p>
            <a:pPr>
              <a:lnSpc>
                <a:spcPct val="150000"/>
              </a:lnSpc>
            </a:pP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Fabrikada yapılan testler “tip </a:t>
            </a:r>
            <a:r>
              <a:rPr lang="tr-TR" sz="2400" dirty="0" err="1">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testleri”dir</a:t>
            </a: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 </a:t>
            </a:r>
            <a:r>
              <a:rPr lang="tr-TR" sz="2400" dirty="0" err="1">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Validasyon</a:t>
            </a: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 için cihazın MSÜ ye kurulmuş olması ve testlerin ünitedeki standart uygulama prosedürlerine göre yapılması zorunludur.</a:t>
            </a:r>
          </a:p>
          <a:p>
            <a:pPr>
              <a:lnSpc>
                <a:spcPct val="150000"/>
              </a:lnSpc>
            </a:pP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Bu testler kalibrasyon ve </a:t>
            </a:r>
            <a:r>
              <a:rPr lang="tr-TR" sz="2400" dirty="0" err="1">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validasyon</a:t>
            </a: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 konusunda eğitim almış yetkili kişiler tarafından kalibre edilmiş cihazlar kullanılarak yapılabilir.</a:t>
            </a:r>
          </a:p>
          <a:p>
            <a:pPr>
              <a:lnSpc>
                <a:spcPct val="150000"/>
              </a:lnSpc>
            </a:pP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MSÜ yöneticisi </a:t>
            </a:r>
            <a:r>
              <a:rPr lang="tr-TR" sz="2400" dirty="0" err="1">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validasyon</a:t>
            </a: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 sürecini takip etmelidir.</a:t>
            </a: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12</a:t>
            </a:fld>
            <a:endParaRPr lang="tr-TR" dirty="0"/>
          </a:p>
        </p:txBody>
      </p:sp>
      <p:sp>
        <p:nvSpPr>
          <p:cNvPr id="8" name="Dikdörtgen 7"/>
          <p:cNvSpPr/>
          <p:nvPr/>
        </p:nvSpPr>
        <p:spPr>
          <a:xfrm>
            <a:off x="0" y="373985"/>
            <a:ext cx="12191999" cy="461665"/>
          </a:xfrm>
          <a:prstGeom prst="rect">
            <a:avLst/>
          </a:prstGeom>
        </p:spPr>
        <p:txBody>
          <a:bodyPr wrap="square">
            <a:spAutoFit/>
          </a:bodyPr>
          <a:lstStyle/>
          <a:p>
            <a:pPr lvl="0" algn="ctr">
              <a:buClr>
                <a:srgbClr val="000000"/>
              </a:buClr>
              <a:buSzPts val="2400"/>
            </a:pPr>
            <a:r>
              <a:rPr lang="tr-TR" sz="2400" dirty="0">
                <a:solidFill>
                  <a:srgbClr val="0070C0"/>
                </a:solidFill>
                <a:latin typeface="Times New Roman" panose="02020603050405020304" pitchFamily="18" charset="0"/>
                <a:cs typeface="Times New Roman" panose="02020603050405020304" pitchFamily="18" charset="0"/>
              </a:rPr>
              <a:t>VALİDASYON</a:t>
            </a:r>
            <a:endParaRPr lang="tr-TR" sz="2400" b="1" dirty="0">
              <a:solidFill>
                <a:srgbClr val="0070C0"/>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348702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0303" y="965756"/>
            <a:ext cx="5425298" cy="4770194"/>
          </a:xfrm>
        </p:spPr>
        <p:txBody>
          <a:bodyPr>
            <a:noAutofit/>
          </a:bodyPr>
          <a:lstStyle/>
          <a:p>
            <a:pPr marL="0" indent="0">
              <a:lnSpc>
                <a:spcPct val="150000"/>
              </a:lnSpc>
              <a:buNone/>
            </a:pPr>
            <a:r>
              <a:rPr lang="tr-TR" sz="2400" dirty="0" err="1">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Validasyonun</a:t>
            </a: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 temel bileşenleri şunlardır:</a:t>
            </a:r>
          </a:p>
          <a:p>
            <a:pPr marL="0" indent="0">
              <a:lnSpc>
                <a:spcPct val="150000"/>
              </a:lnSpc>
              <a:buNone/>
            </a:pP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 Kalite yönetim sistemi,                                                </a:t>
            </a:r>
          </a:p>
          <a:p>
            <a:pPr marL="0" indent="0">
              <a:lnSpc>
                <a:spcPct val="150000"/>
              </a:lnSpc>
              <a:buNone/>
            </a:pP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 </a:t>
            </a:r>
            <a:r>
              <a:rPr lang="tr-TR" sz="2400" dirty="0" err="1">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Sterilizanın</a:t>
            </a: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 tanımlanması,</a:t>
            </a:r>
          </a:p>
          <a:p>
            <a:pPr marL="0" indent="0">
              <a:lnSpc>
                <a:spcPct val="150000"/>
              </a:lnSpc>
              <a:buNone/>
            </a:pP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 Cihaz ve ekipmanın tanımlanması,</a:t>
            </a:r>
          </a:p>
          <a:p>
            <a:pPr marL="0" indent="0">
              <a:lnSpc>
                <a:spcPct val="150000"/>
              </a:lnSpc>
              <a:buNone/>
            </a:pP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 Ürün tanımlanması,</a:t>
            </a:r>
          </a:p>
          <a:p>
            <a:pPr marL="0" indent="0">
              <a:lnSpc>
                <a:spcPct val="150000"/>
              </a:lnSpc>
              <a:buNone/>
            </a:pP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 Yöntemin tanımlanması,</a:t>
            </a:r>
          </a:p>
          <a:p>
            <a:pPr marL="0" indent="0">
              <a:lnSpc>
                <a:spcPct val="150000"/>
              </a:lnSpc>
              <a:buNone/>
            </a:pP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 Kurulum yeterliği,</a:t>
            </a: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13</a:t>
            </a:fld>
            <a:endParaRPr lang="tr-TR" dirty="0"/>
          </a:p>
        </p:txBody>
      </p:sp>
      <p:sp>
        <p:nvSpPr>
          <p:cNvPr id="8" name="Dikdörtgen 7"/>
          <p:cNvSpPr/>
          <p:nvPr/>
        </p:nvSpPr>
        <p:spPr>
          <a:xfrm>
            <a:off x="0" y="373985"/>
            <a:ext cx="12191999" cy="461665"/>
          </a:xfrm>
          <a:prstGeom prst="rect">
            <a:avLst/>
          </a:prstGeom>
        </p:spPr>
        <p:txBody>
          <a:bodyPr wrap="square">
            <a:spAutoFit/>
          </a:bodyPr>
          <a:lstStyle/>
          <a:p>
            <a:pPr lvl="0" algn="ctr">
              <a:buClr>
                <a:srgbClr val="000000"/>
              </a:buClr>
              <a:buSzPts val="2400"/>
            </a:pPr>
            <a:r>
              <a:rPr lang="tr-TR" sz="2400" dirty="0">
                <a:solidFill>
                  <a:srgbClr val="0070C0"/>
                </a:solidFill>
                <a:latin typeface="Times New Roman" panose="02020603050405020304" pitchFamily="18" charset="0"/>
                <a:cs typeface="Times New Roman" panose="02020603050405020304" pitchFamily="18" charset="0"/>
              </a:rPr>
              <a:t>VALİDASYON</a:t>
            </a:r>
            <a:endParaRPr lang="tr-TR" sz="2400" b="1" dirty="0">
              <a:solidFill>
                <a:srgbClr val="0070C0"/>
              </a:solidFill>
              <a:latin typeface="Times New Roman" panose="02020603050405020304" pitchFamily="18" charset="0"/>
              <a:ea typeface="Times New Roman"/>
              <a:cs typeface="Times New Roman" panose="02020603050405020304" pitchFamily="18" charset="0"/>
              <a:sym typeface="Times New Roman"/>
            </a:endParaRPr>
          </a:p>
        </p:txBody>
      </p:sp>
      <p:sp>
        <p:nvSpPr>
          <p:cNvPr id="3" name="Metin kutusu 2"/>
          <p:cNvSpPr txBox="1"/>
          <p:nvPr/>
        </p:nvSpPr>
        <p:spPr>
          <a:xfrm>
            <a:off x="7518399" y="1676956"/>
            <a:ext cx="3318537" cy="2585323"/>
          </a:xfrm>
          <a:prstGeom prst="rect">
            <a:avLst/>
          </a:prstGeom>
          <a:noFill/>
        </p:spPr>
        <p:txBody>
          <a:bodyPr wrap="none" rtlCol="0">
            <a:spAutoFit/>
          </a:bodyPr>
          <a:lstStyle/>
          <a:p>
            <a:pPr>
              <a:lnSpc>
                <a:spcPct val="150000"/>
              </a:lnSpc>
            </a:pP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 İşletim yeterliği,</a:t>
            </a:r>
          </a:p>
          <a:p>
            <a:pPr>
              <a:lnSpc>
                <a:spcPct val="150000"/>
              </a:lnSpc>
            </a:pP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 Performans yeterliliği,</a:t>
            </a:r>
          </a:p>
          <a:p>
            <a:pPr>
              <a:lnSpc>
                <a:spcPct val="150000"/>
              </a:lnSpc>
            </a:pP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 Kalibrasyon ve bakım,</a:t>
            </a:r>
          </a:p>
          <a:p>
            <a:pPr>
              <a:lnSpc>
                <a:spcPct val="150000"/>
              </a:lnSpc>
            </a:pPr>
            <a:r>
              <a:rPr lang="tr-TR" sz="2400" dirty="0">
                <a:solidFill>
                  <a:prstClr val="black"/>
                </a:solidFill>
                <a:latin typeface="Times New Roman" panose="02020603050405020304" pitchFamily="18" charset="0"/>
                <a:ea typeface="Segoe UI Emoji" panose="020B0502040204020203" pitchFamily="34" charset="0"/>
                <a:cs typeface="Times New Roman" panose="02020603050405020304" pitchFamily="18" charset="0"/>
                <a:sym typeface="Times New Roman"/>
              </a:rPr>
              <a:t>● Rutin kontroller.</a:t>
            </a:r>
          </a:p>
          <a:p>
            <a:endParaRPr lang="tr-TR" dirty="0"/>
          </a:p>
        </p:txBody>
      </p:sp>
    </p:spTree>
    <p:extLst>
      <p:ext uri="{BB962C8B-B14F-4D97-AF65-F5344CB8AC3E}">
        <p14:creationId xmlns:p14="http://schemas.microsoft.com/office/powerpoint/2010/main" val="405410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14</a:t>
            </a:fld>
            <a:endParaRPr lang="tr-TR" dirty="0"/>
          </a:p>
        </p:txBody>
      </p:sp>
      <p:sp>
        <p:nvSpPr>
          <p:cNvPr id="8" name="Dikdörtgen 7"/>
          <p:cNvSpPr/>
          <p:nvPr/>
        </p:nvSpPr>
        <p:spPr>
          <a:xfrm>
            <a:off x="0" y="373985"/>
            <a:ext cx="12191999" cy="461665"/>
          </a:xfrm>
          <a:prstGeom prst="rect">
            <a:avLst/>
          </a:prstGeom>
        </p:spPr>
        <p:txBody>
          <a:bodyPr wrap="square">
            <a:spAutoFit/>
          </a:bodyPr>
          <a:lstStyle/>
          <a:p>
            <a:pPr lvl="0" algn="ctr">
              <a:buClr>
                <a:srgbClr val="000000"/>
              </a:buClr>
              <a:buSzPts val="2400"/>
            </a:pPr>
            <a:r>
              <a:rPr lang="tr-TR" sz="2400" dirty="0">
                <a:solidFill>
                  <a:srgbClr val="0070C0"/>
                </a:solidFill>
                <a:latin typeface="Times New Roman" panose="02020603050405020304" pitchFamily="18" charset="0"/>
                <a:cs typeface="Times New Roman" panose="02020603050405020304" pitchFamily="18" charset="0"/>
              </a:rPr>
              <a:t>VALİDASYON</a:t>
            </a:r>
            <a:endParaRPr lang="tr-TR" sz="2400" b="1" dirty="0">
              <a:solidFill>
                <a:srgbClr val="0070C0"/>
              </a:solidFill>
              <a:latin typeface="Times New Roman" panose="02020603050405020304" pitchFamily="18" charset="0"/>
              <a:ea typeface="Times New Roman"/>
              <a:cs typeface="Times New Roman" panose="02020603050405020304" pitchFamily="18" charset="0"/>
              <a:sym typeface="Times New Roman"/>
            </a:endParaRPr>
          </a:p>
        </p:txBody>
      </p:sp>
      <p:sp>
        <p:nvSpPr>
          <p:cNvPr id="9" name="İçerik Yer Tutucusu 8"/>
          <p:cNvSpPr txBox="1">
            <a:spLocks noGrp="1"/>
          </p:cNvSpPr>
          <p:nvPr>
            <p:ph sz="half" idx="4294967295"/>
          </p:nvPr>
        </p:nvSpPr>
        <p:spPr>
          <a:xfrm>
            <a:off x="1279525" y="965200"/>
            <a:ext cx="9447153" cy="2547364"/>
          </a:xfrm>
          <a:prstGeom prst="rect">
            <a:avLst/>
          </a:prstGeom>
          <a:noFill/>
        </p:spPr>
        <p:txBody>
          <a:bodyPr wrap="square" rtlCol="0">
            <a:spAutoFit/>
          </a:bodyPr>
          <a:lstStyle/>
          <a:p>
            <a:r>
              <a:rPr lang="tr-TR" sz="2400" dirty="0">
                <a:latin typeface="Times New Roman" panose="02020603050405020304" pitchFamily="18" charset="0"/>
                <a:cs typeface="Times New Roman" panose="02020603050405020304" pitchFamily="18" charset="0"/>
              </a:rPr>
              <a:t>Bu bileşenlerden kurulum ve işletim yeterliği </a:t>
            </a:r>
            <a:r>
              <a:rPr lang="tr-TR" sz="2400" b="1" dirty="0">
                <a:latin typeface="Times New Roman" panose="02020603050405020304" pitchFamily="18" charset="0"/>
                <a:cs typeface="Times New Roman" panose="02020603050405020304" pitchFamily="18" charset="0"/>
              </a:rPr>
              <a:t>üretici firmanın </a:t>
            </a:r>
            <a:r>
              <a:rPr lang="tr-TR" sz="2400" dirty="0">
                <a:latin typeface="Times New Roman" panose="02020603050405020304" pitchFamily="18" charset="0"/>
                <a:cs typeface="Times New Roman" panose="02020603050405020304" pitchFamily="18" charset="0"/>
              </a:rPr>
              <a:t>sorumluluğunda yapılan yeterlilik testleri iken, performans yeterliliği, kalibrasyon, bakım ve rutin kontroller </a:t>
            </a:r>
            <a:r>
              <a:rPr lang="tr-TR" sz="2400" b="1" dirty="0">
                <a:latin typeface="Times New Roman" panose="02020603050405020304" pitchFamily="18" charset="0"/>
                <a:cs typeface="Times New Roman" panose="02020603050405020304" pitchFamily="18" charset="0"/>
              </a:rPr>
              <a:t>kullanıcı</a:t>
            </a:r>
            <a:r>
              <a:rPr lang="tr-TR" sz="2400" dirty="0">
                <a:latin typeface="Times New Roman" panose="02020603050405020304" pitchFamily="18" charset="0"/>
                <a:cs typeface="Times New Roman" panose="02020603050405020304" pitchFamily="18" charset="0"/>
              </a:rPr>
              <a:t> sorumluluğu altında yapılan işlemlerdir.</a:t>
            </a:r>
          </a:p>
          <a:p>
            <a:r>
              <a:rPr lang="tr-TR" sz="2400" b="1" dirty="0">
                <a:latin typeface="Times New Roman" panose="02020603050405020304" pitchFamily="18" charset="0"/>
                <a:cs typeface="Times New Roman" panose="02020603050405020304" pitchFamily="18" charset="0"/>
              </a:rPr>
              <a:t>Yeterlilik testleri fiziksel parametreler ölçülerek yapılıyorsa “parametrik </a:t>
            </a:r>
            <a:r>
              <a:rPr lang="tr-TR" sz="2400" b="1" dirty="0" err="1">
                <a:latin typeface="Times New Roman" panose="02020603050405020304" pitchFamily="18" charset="0"/>
                <a:cs typeface="Times New Roman" panose="02020603050405020304" pitchFamily="18" charset="0"/>
              </a:rPr>
              <a:t>validasyon</a:t>
            </a:r>
            <a:r>
              <a:rPr lang="tr-TR" sz="2400" b="1" dirty="0">
                <a:latin typeface="Times New Roman" panose="02020603050405020304" pitchFamily="18" charset="0"/>
                <a:cs typeface="Times New Roman" panose="02020603050405020304" pitchFamily="18" charset="0"/>
              </a:rPr>
              <a:t>”, biyolojik indikatörler kullanılarak yapılıyorsa “biyolojik </a:t>
            </a:r>
            <a:r>
              <a:rPr lang="tr-TR" sz="2400" b="1" dirty="0" err="1">
                <a:latin typeface="Times New Roman" panose="02020603050405020304" pitchFamily="18" charset="0"/>
                <a:cs typeface="Times New Roman" panose="02020603050405020304" pitchFamily="18" charset="0"/>
              </a:rPr>
              <a:t>validasyon</a:t>
            </a:r>
            <a:r>
              <a:rPr lang="tr-TR" sz="2400" b="1" dirty="0">
                <a:latin typeface="Times New Roman" panose="02020603050405020304" pitchFamily="18" charset="0"/>
                <a:cs typeface="Times New Roman" panose="02020603050405020304" pitchFamily="18" charset="0"/>
              </a:rPr>
              <a:t>” olarak isimlendirilir.</a:t>
            </a:r>
            <a:endParaRPr lang="tr-T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2746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15</a:t>
            </a:fld>
            <a:endParaRPr lang="tr-TR" dirty="0"/>
          </a:p>
        </p:txBody>
      </p:sp>
      <p:sp>
        <p:nvSpPr>
          <p:cNvPr id="8" name="Dikdörtgen 7"/>
          <p:cNvSpPr/>
          <p:nvPr/>
        </p:nvSpPr>
        <p:spPr>
          <a:xfrm>
            <a:off x="0" y="373985"/>
            <a:ext cx="12191999" cy="461665"/>
          </a:xfrm>
          <a:prstGeom prst="rect">
            <a:avLst/>
          </a:prstGeom>
        </p:spPr>
        <p:txBody>
          <a:bodyPr wrap="square">
            <a:spAutoFit/>
          </a:bodyPr>
          <a:lstStyle/>
          <a:p>
            <a:pPr lvl="0" algn="ctr">
              <a:buClr>
                <a:srgbClr val="000000"/>
              </a:buClr>
              <a:buSzPts val="2400"/>
            </a:pPr>
            <a:r>
              <a:rPr lang="tr-TR" sz="2400" dirty="0">
                <a:solidFill>
                  <a:srgbClr val="0070C0"/>
                </a:solidFill>
                <a:latin typeface="Times New Roman" panose="02020603050405020304" pitchFamily="18" charset="0"/>
                <a:cs typeface="Times New Roman" panose="02020603050405020304" pitchFamily="18" charset="0"/>
              </a:rPr>
              <a:t>VALİDASYON</a:t>
            </a:r>
            <a:endParaRPr lang="tr-TR" sz="2400" b="1" dirty="0">
              <a:solidFill>
                <a:srgbClr val="0070C0"/>
              </a:solidFill>
              <a:latin typeface="Times New Roman" panose="02020603050405020304" pitchFamily="18" charset="0"/>
              <a:ea typeface="Times New Roman"/>
              <a:cs typeface="Times New Roman" panose="02020603050405020304" pitchFamily="18" charset="0"/>
              <a:sym typeface="Times New Roman"/>
            </a:endParaRPr>
          </a:p>
        </p:txBody>
      </p:sp>
      <p:sp>
        <p:nvSpPr>
          <p:cNvPr id="9" name="İçerik Yer Tutucusu 8"/>
          <p:cNvSpPr txBox="1">
            <a:spLocks noGrp="1"/>
          </p:cNvSpPr>
          <p:nvPr>
            <p:ph sz="half" idx="4294967295"/>
          </p:nvPr>
        </p:nvSpPr>
        <p:spPr>
          <a:xfrm>
            <a:off x="1279525" y="965200"/>
            <a:ext cx="9447153" cy="424732"/>
          </a:xfrm>
          <a:prstGeom prst="rect">
            <a:avLst/>
          </a:prstGeom>
          <a:noFill/>
        </p:spPr>
        <p:txBody>
          <a:bodyPr wrap="square" rtlCol="0">
            <a:spAutoFit/>
          </a:bodyPr>
          <a:lstStyle/>
          <a:p>
            <a:pPr marL="0" indent="0">
              <a:buNone/>
            </a:pPr>
            <a:r>
              <a:rPr lang="tr-TR" sz="2400" b="1" dirty="0">
                <a:latin typeface="Times New Roman" panose="02020603050405020304" pitchFamily="18" charset="0"/>
                <a:cs typeface="Times New Roman" panose="02020603050405020304" pitchFamily="18" charset="0"/>
              </a:rPr>
              <a:t>Parametrik </a:t>
            </a:r>
            <a:r>
              <a:rPr lang="tr-TR" sz="2400" b="1" dirty="0" err="1">
                <a:latin typeface="Times New Roman" panose="02020603050405020304" pitchFamily="18" charset="0"/>
                <a:cs typeface="Times New Roman" panose="02020603050405020304" pitchFamily="18" charset="0"/>
              </a:rPr>
              <a:t>validasyon</a:t>
            </a:r>
            <a:endParaRPr lang="tr-TR" sz="2400" b="1" dirty="0">
              <a:latin typeface="Times New Roman" panose="02020603050405020304" pitchFamily="18" charset="0"/>
              <a:cs typeface="Times New Roman" panose="02020603050405020304" pitchFamily="18" charset="0"/>
            </a:endParaRPr>
          </a:p>
        </p:txBody>
      </p:sp>
      <p:sp>
        <p:nvSpPr>
          <p:cNvPr id="3" name="Dikdörtgen 2"/>
          <p:cNvSpPr/>
          <p:nvPr/>
        </p:nvSpPr>
        <p:spPr>
          <a:xfrm>
            <a:off x="1376217" y="1749482"/>
            <a:ext cx="10270837" cy="4154984"/>
          </a:xfrm>
          <a:prstGeom prst="rect">
            <a:avLst/>
          </a:prstGeom>
        </p:spPr>
        <p:txBody>
          <a:bodyPr wrap="square">
            <a:spAutoFit/>
          </a:bodyPr>
          <a:lstStyle/>
          <a:p>
            <a:pPr marL="342900" indent="-342900">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Sterilizasyonun kritik fiziksel parametrelerinin ölçümüne dayalı süreç </a:t>
            </a:r>
            <a:r>
              <a:rPr lang="tr-TR" sz="2400" dirty="0" err="1">
                <a:latin typeface="Times New Roman" panose="02020603050405020304" pitchFamily="18" charset="0"/>
                <a:cs typeface="Times New Roman" panose="02020603050405020304" pitchFamily="18" charset="0"/>
              </a:rPr>
              <a:t>validasyonudur</a:t>
            </a:r>
            <a:r>
              <a:rPr lang="tr-TR" sz="24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Buhar sterilizasyonda kritik parametreler zaman, sıcaklık, basınç ve buhar kalitesidir.</a:t>
            </a:r>
          </a:p>
          <a:p>
            <a:pPr marL="342900" indent="-342900">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Bu parametrelerin farklı paketleme, yükleme koşulları ve farklı yük tipleri ile aynı yeterliliğe ulaşıldığının ispatlanması son derece önemlidir.</a:t>
            </a:r>
          </a:p>
          <a:p>
            <a:pPr marL="342900" indent="-342900">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Ürün teslimi kritik parametrelerin her döngü sırasındaki ölçüm sonuçlarına göre yapılır (parametrik ürün teslimi). </a:t>
            </a:r>
          </a:p>
          <a:p>
            <a:pPr marL="342900" indent="-342900">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Referans yükle elde edilen test grafikleri, her döngüde döngü grafiği ile karşılaştırılarak bir sapma olup olmadığı belirlenir ve günlük </a:t>
            </a:r>
            <a:r>
              <a:rPr lang="tr-TR" sz="2400" dirty="0" err="1">
                <a:latin typeface="Times New Roman" panose="02020603050405020304" pitchFamily="18" charset="0"/>
                <a:cs typeface="Times New Roman" panose="02020603050405020304" pitchFamily="18" charset="0"/>
              </a:rPr>
              <a:t>Bowie-Dick</a:t>
            </a:r>
            <a:r>
              <a:rPr lang="tr-TR" sz="2400" dirty="0">
                <a:latin typeface="Times New Roman" panose="02020603050405020304" pitchFamily="18" charset="0"/>
                <a:cs typeface="Times New Roman" panose="02020603050405020304" pitchFamily="18" charset="0"/>
              </a:rPr>
              <a:t> ve haftalık vakum kaçak sonuçları ile birlikte yorumlanarak ürün teslimi yapılır.</a:t>
            </a:r>
          </a:p>
        </p:txBody>
      </p:sp>
    </p:spTree>
    <p:extLst>
      <p:ext uri="{BB962C8B-B14F-4D97-AF65-F5344CB8AC3E}">
        <p14:creationId xmlns:p14="http://schemas.microsoft.com/office/powerpoint/2010/main" val="3869588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16</a:t>
            </a:fld>
            <a:endParaRPr lang="tr-TR" dirty="0"/>
          </a:p>
        </p:txBody>
      </p:sp>
      <p:sp>
        <p:nvSpPr>
          <p:cNvPr id="8" name="Dikdörtgen 7"/>
          <p:cNvSpPr/>
          <p:nvPr/>
        </p:nvSpPr>
        <p:spPr>
          <a:xfrm>
            <a:off x="0" y="373985"/>
            <a:ext cx="12191999" cy="461665"/>
          </a:xfrm>
          <a:prstGeom prst="rect">
            <a:avLst/>
          </a:prstGeom>
        </p:spPr>
        <p:txBody>
          <a:bodyPr wrap="square">
            <a:spAutoFit/>
          </a:bodyPr>
          <a:lstStyle/>
          <a:p>
            <a:pPr lvl="0" algn="ctr">
              <a:buClr>
                <a:srgbClr val="000000"/>
              </a:buClr>
              <a:buSzPts val="2400"/>
            </a:pPr>
            <a:r>
              <a:rPr lang="tr-TR" sz="2400" dirty="0">
                <a:solidFill>
                  <a:srgbClr val="0070C0"/>
                </a:solidFill>
                <a:latin typeface="Times New Roman" panose="02020603050405020304" pitchFamily="18" charset="0"/>
                <a:cs typeface="Times New Roman" panose="02020603050405020304" pitchFamily="18" charset="0"/>
              </a:rPr>
              <a:t>VALİDASYON</a:t>
            </a:r>
            <a:endParaRPr lang="tr-TR" sz="2400" b="1" dirty="0">
              <a:solidFill>
                <a:srgbClr val="0070C0"/>
              </a:solidFill>
              <a:latin typeface="Times New Roman" panose="02020603050405020304" pitchFamily="18" charset="0"/>
              <a:ea typeface="Times New Roman"/>
              <a:cs typeface="Times New Roman" panose="02020603050405020304" pitchFamily="18" charset="0"/>
              <a:sym typeface="Times New Roman"/>
            </a:endParaRPr>
          </a:p>
        </p:txBody>
      </p:sp>
      <p:sp>
        <p:nvSpPr>
          <p:cNvPr id="9" name="İçerik Yer Tutucusu 8"/>
          <p:cNvSpPr txBox="1">
            <a:spLocks noGrp="1"/>
          </p:cNvSpPr>
          <p:nvPr>
            <p:ph sz="half" idx="4294967295"/>
          </p:nvPr>
        </p:nvSpPr>
        <p:spPr>
          <a:xfrm>
            <a:off x="1279525" y="1202636"/>
            <a:ext cx="9447153" cy="424732"/>
          </a:xfrm>
          <a:prstGeom prst="rect">
            <a:avLst/>
          </a:prstGeom>
          <a:noFill/>
        </p:spPr>
        <p:txBody>
          <a:bodyPr wrap="square" rtlCol="0">
            <a:spAutoFit/>
          </a:bodyPr>
          <a:lstStyle/>
          <a:p>
            <a:pPr marL="0" indent="0">
              <a:buNone/>
            </a:pPr>
            <a:r>
              <a:rPr lang="tr-TR" sz="2400" b="1" dirty="0">
                <a:latin typeface="Times New Roman" panose="02020603050405020304" pitchFamily="18" charset="0"/>
                <a:cs typeface="Times New Roman" panose="02020603050405020304" pitchFamily="18" charset="0"/>
              </a:rPr>
              <a:t>Parametrik </a:t>
            </a:r>
            <a:r>
              <a:rPr lang="tr-TR" sz="2400" b="1" dirty="0" err="1">
                <a:latin typeface="Times New Roman" panose="02020603050405020304" pitchFamily="18" charset="0"/>
                <a:cs typeface="Times New Roman" panose="02020603050405020304" pitchFamily="18" charset="0"/>
              </a:rPr>
              <a:t>validasyon</a:t>
            </a:r>
            <a:endParaRPr lang="tr-TR" sz="2400" b="1" dirty="0">
              <a:latin typeface="Times New Roman" panose="02020603050405020304" pitchFamily="18" charset="0"/>
              <a:cs typeface="Times New Roman" panose="02020603050405020304" pitchFamily="18" charset="0"/>
            </a:endParaRPr>
          </a:p>
        </p:txBody>
      </p:sp>
      <p:sp>
        <p:nvSpPr>
          <p:cNvPr id="3" name="Dikdörtgen 2"/>
          <p:cNvSpPr/>
          <p:nvPr/>
        </p:nvSpPr>
        <p:spPr>
          <a:xfrm>
            <a:off x="1279525" y="2637576"/>
            <a:ext cx="10270837" cy="1569660"/>
          </a:xfrm>
          <a:prstGeom prst="rect">
            <a:avLst/>
          </a:prstGeom>
        </p:spPr>
        <p:txBody>
          <a:bodyPr wrap="square">
            <a:spAutoFit/>
          </a:bodyPr>
          <a:lstStyle/>
          <a:p>
            <a:pPr marL="342900" indent="-342900">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Buhar sterilizasyonun dört temel parametresi olan sıcaklık, basınç, doymuş buhar, zaman parametrelerini net gösterebilmesi ve ürün tesliminin bu verilerle yapılabilmesi, ayrıca biyolojik ve kimyasal indikatör kullanımı gerektirmemesi nedeniyle maliyet etkin bir yöntemdir.</a:t>
            </a:r>
          </a:p>
        </p:txBody>
      </p:sp>
    </p:spTree>
    <p:extLst>
      <p:ext uri="{BB962C8B-B14F-4D97-AF65-F5344CB8AC3E}">
        <p14:creationId xmlns:p14="http://schemas.microsoft.com/office/powerpoint/2010/main" val="3669658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17</a:t>
            </a:fld>
            <a:endParaRPr lang="tr-TR" dirty="0"/>
          </a:p>
        </p:txBody>
      </p:sp>
      <p:sp>
        <p:nvSpPr>
          <p:cNvPr id="8" name="Dikdörtgen 7"/>
          <p:cNvSpPr/>
          <p:nvPr/>
        </p:nvSpPr>
        <p:spPr>
          <a:xfrm>
            <a:off x="0" y="373985"/>
            <a:ext cx="12191999" cy="461665"/>
          </a:xfrm>
          <a:prstGeom prst="rect">
            <a:avLst/>
          </a:prstGeom>
        </p:spPr>
        <p:txBody>
          <a:bodyPr wrap="square">
            <a:spAutoFit/>
          </a:bodyPr>
          <a:lstStyle/>
          <a:p>
            <a:pPr lvl="0" algn="ctr">
              <a:buClr>
                <a:srgbClr val="000000"/>
              </a:buClr>
              <a:buSzPts val="2400"/>
            </a:pPr>
            <a:r>
              <a:rPr lang="tr-TR" sz="2400" dirty="0">
                <a:solidFill>
                  <a:srgbClr val="0070C0"/>
                </a:solidFill>
                <a:latin typeface="Times New Roman" panose="02020603050405020304" pitchFamily="18" charset="0"/>
                <a:cs typeface="Times New Roman" panose="02020603050405020304" pitchFamily="18" charset="0"/>
              </a:rPr>
              <a:t>VALİDASYON</a:t>
            </a:r>
            <a:endParaRPr lang="tr-TR" sz="2400" b="1" dirty="0">
              <a:solidFill>
                <a:srgbClr val="0070C0"/>
              </a:solidFill>
              <a:latin typeface="Times New Roman" panose="02020603050405020304" pitchFamily="18" charset="0"/>
              <a:ea typeface="Times New Roman"/>
              <a:cs typeface="Times New Roman" panose="02020603050405020304" pitchFamily="18" charset="0"/>
              <a:sym typeface="Times New Roman"/>
            </a:endParaRPr>
          </a:p>
        </p:txBody>
      </p:sp>
      <p:sp>
        <p:nvSpPr>
          <p:cNvPr id="9" name="İçerik Yer Tutucusu 8"/>
          <p:cNvSpPr txBox="1">
            <a:spLocks noGrp="1"/>
          </p:cNvSpPr>
          <p:nvPr>
            <p:ph sz="half" idx="4294967295"/>
          </p:nvPr>
        </p:nvSpPr>
        <p:spPr>
          <a:xfrm>
            <a:off x="1279525" y="965756"/>
            <a:ext cx="9447153" cy="424732"/>
          </a:xfrm>
          <a:prstGeom prst="rect">
            <a:avLst/>
          </a:prstGeom>
          <a:noFill/>
        </p:spPr>
        <p:txBody>
          <a:bodyPr wrap="square" rtlCol="0">
            <a:spAutoFit/>
          </a:bodyPr>
          <a:lstStyle/>
          <a:p>
            <a:pPr marL="0" indent="0">
              <a:buNone/>
            </a:pPr>
            <a:r>
              <a:rPr lang="tr-TR" sz="2400" b="1" dirty="0">
                <a:latin typeface="Times New Roman" panose="02020603050405020304" pitchFamily="18" charset="0"/>
                <a:cs typeface="Times New Roman" panose="02020603050405020304" pitchFamily="18" charset="0"/>
              </a:rPr>
              <a:t>Parametrik </a:t>
            </a:r>
            <a:r>
              <a:rPr lang="tr-TR" sz="2400" b="1" dirty="0" err="1">
                <a:latin typeface="Times New Roman" panose="02020603050405020304" pitchFamily="18" charset="0"/>
                <a:cs typeface="Times New Roman" panose="02020603050405020304" pitchFamily="18" charset="0"/>
              </a:rPr>
              <a:t>validasyonda</a:t>
            </a:r>
            <a:r>
              <a:rPr lang="tr-TR" sz="2400" b="1" dirty="0">
                <a:latin typeface="Times New Roman" panose="02020603050405020304" pitchFamily="18" charset="0"/>
                <a:cs typeface="Times New Roman" panose="02020603050405020304" pitchFamily="18" charset="0"/>
              </a:rPr>
              <a:t> yeterlilik testlerinin basamakları</a:t>
            </a:r>
          </a:p>
        </p:txBody>
      </p:sp>
      <p:sp>
        <p:nvSpPr>
          <p:cNvPr id="3" name="Dikdörtgen 2"/>
          <p:cNvSpPr/>
          <p:nvPr/>
        </p:nvSpPr>
        <p:spPr>
          <a:xfrm>
            <a:off x="1188502" y="1357106"/>
            <a:ext cx="10270837" cy="5565947"/>
          </a:xfrm>
          <a:prstGeom prst="rect">
            <a:avLst/>
          </a:prstGeom>
        </p:spPr>
        <p:txBody>
          <a:bodyPr wrap="square">
            <a:spAutoFit/>
          </a:bodyPr>
          <a:lstStyle/>
          <a:p>
            <a:pPr marL="342900" indent="-342900">
              <a:lnSpc>
                <a:spcPct val="150000"/>
              </a:lnSpc>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Vakum kaçak testi ve </a:t>
            </a:r>
            <a:r>
              <a:rPr lang="tr-TR" sz="2400" dirty="0" err="1">
                <a:latin typeface="Times New Roman" panose="02020603050405020304" pitchFamily="18" charset="0"/>
                <a:cs typeface="Times New Roman" panose="02020603050405020304" pitchFamily="18" charset="0"/>
              </a:rPr>
              <a:t>Bowie-Dick</a:t>
            </a:r>
            <a:r>
              <a:rPr lang="tr-TR" sz="2400" dirty="0">
                <a:latin typeface="Times New Roman" panose="02020603050405020304" pitchFamily="18" charset="0"/>
                <a:cs typeface="Times New Roman" panose="02020603050405020304" pitchFamily="18" charset="0"/>
              </a:rPr>
              <a:t> testi kalibrasyon (sıcaklık ve basınç </a:t>
            </a:r>
            <a:r>
              <a:rPr lang="tr-TR" sz="2400" dirty="0" err="1">
                <a:latin typeface="Times New Roman" panose="02020603050405020304" pitchFamily="18" charset="0"/>
                <a:cs typeface="Times New Roman" panose="02020603050405020304" pitchFamily="18" charset="0"/>
              </a:rPr>
              <a:t>sensörleri</a:t>
            </a:r>
            <a:r>
              <a:rPr lang="tr-TR" sz="2400" dirty="0">
                <a:latin typeface="Times New Roman" panose="02020603050405020304" pitchFamily="18" charset="0"/>
                <a:cs typeface="Times New Roman" panose="02020603050405020304" pitchFamily="18" charset="0"/>
              </a:rPr>
              <a:t> için) yeterlik testlerinden önce yapılmalıdır. Çünkü herhangi bir </a:t>
            </a:r>
            <a:r>
              <a:rPr lang="tr-TR" sz="2400" dirty="0" err="1">
                <a:latin typeface="Times New Roman" panose="02020603050405020304" pitchFamily="18" charset="0"/>
                <a:cs typeface="Times New Roman" panose="02020603050405020304" pitchFamily="18" charset="0"/>
              </a:rPr>
              <a:t>sensör</a:t>
            </a:r>
            <a:r>
              <a:rPr lang="tr-TR" sz="2400" dirty="0">
                <a:latin typeface="Times New Roman" panose="02020603050405020304" pitchFamily="18" charset="0"/>
                <a:cs typeface="Times New Roman" panose="02020603050405020304" pitchFamily="18" charset="0"/>
              </a:rPr>
              <a:t> değişikliği sonrası yeterlik testinin tekrarı zorunludur.</a:t>
            </a:r>
          </a:p>
          <a:p>
            <a:pPr marL="342900" indent="-342900">
              <a:lnSpc>
                <a:spcPct val="150000"/>
              </a:lnSpc>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Kalibrasyon ise sadece bu </a:t>
            </a:r>
            <a:r>
              <a:rPr lang="tr-TR" sz="2400" dirty="0" err="1">
                <a:latin typeface="Times New Roman" panose="02020603050405020304" pitchFamily="18" charset="0"/>
                <a:cs typeface="Times New Roman" panose="02020603050405020304" pitchFamily="18" charset="0"/>
              </a:rPr>
              <a:t>sensörlerin</a:t>
            </a:r>
            <a:r>
              <a:rPr lang="tr-TR" sz="2400" dirty="0">
                <a:latin typeface="Times New Roman" panose="02020603050405020304" pitchFamily="18" charset="0"/>
                <a:cs typeface="Times New Roman" panose="02020603050405020304" pitchFamily="18" charset="0"/>
              </a:rPr>
              <a:t> doğruluğunu ölçmek üzere yapılır. Ancak </a:t>
            </a:r>
            <a:r>
              <a:rPr lang="tr-TR" sz="2400" dirty="0" err="1">
                <a:latin typeface="Times New Roman" panose="02020603050405020304" pitchFamily="18" charset="0"/>
                <a:cs typeface="Times New Roman" panose="02020603050405020304" pitchFamily="18" charset="0"/>
              </a:rPr>
              <a:t>sensörlerin</a:t>
            </a:r>
            <a:r>
              <a:rPr lang="tr-TR" sz="2400" dirty="0">
                <a:latin typeface="Times New Roman" panose="02020603050405020304" pitchFamily="18" charset="0"/>
                <a:cs typeface="Times New Roman" panose="02020603050405020304" pitchFamily="18" charset="0"/>
              </a:rPr>
              <a:t> ve göstergelerin doğru olması, farklı yük, farklı paketleme ve farklı yükleme </a:t>
            </a:r>
            <a:r>
              <a:rPr lang="da-DK" sz="2400" dirty="0">
                <a:latin typeface="Times New Roman" panose="02020603050405020304" pitchFamily="18" charset="0"/>
                <a:cs typeface="Times New Roman" panose="02020603050405020304" pitchFamily="18" charset="0"/>
              </a:rPr>
              <a:t>şekillerinde tüm kritik parametrelerin sterilite güvence düzeyine ulaşmada yeterli olduğu</a:t>
            </a:r>
            <a:r>
              <a:rPr lang="tr-TR" sz="2400" dirty="0">
                <a:latin typeface="Times New Roman" panose="02020603050405020304" pitchFamily="18" charset="0"/>
                <a:cs typeface="Times New Roman" panose="02020603050405020304" pitchFamily="18" charset="0"/>
              </a:rPr>
              <a:t> anlamına gelmez. Bu nedenle kalibrasyon asla yeterlik testlerinin yerini alamaz. </a:t>
            </a:r>
          </a:p>
          <a:p>
            <a:pPr marL="342900" indent="-342900">
              <a:lnSpc>
                <a:spcPct val="150000"/>
              </a:lnSpc>
              <a:buFont typeface="Wingdings" panose="05000000000000000000" pitchFamily="2" charset="2"/>
              <a:buChar char="ü"/>
            </a:pPr>
            <a:r>
              <a:rPr lang="tr-TR" sz="2400" dirty="0" err="1">
                <a:latin typeface="Times New Roman" panose="02020603050405020304" pitchFamily="18" charset="0"/>
                <a:cs typeface="Times New Roman" panose="02020603050405020304" pitchFamily="18" charset="0"/>
              </a:rPr>
              <a:t>Sensör</a:t>
            </a:r>
            <a:r>
              <a:rPr lang="tr-TR" sz="2400" dirty="0">
                <a:latin typeface="Times New Roman" panose="02020603050405020304" pitchFamily="18" charset="0"/>
                <a:cs typeface="Times New Roman" panose="02020603050405020304" pitchFamily="18" charset="0"/>
              </a:rPr>
              <a:t> ölçümü esasına dayalı kalibrasyon testleri yeterlilik testleri yerine kullanılamaz.</a:t>
            </a:r>
          </a:p>
        </p:txBody>
      </p:sp>
    </p:spTree>
    <p:extLst>
      <p:ext uri="{BB962C8B-B14F-4D97-AF65-F5344CB8AC3E}">
        <p14:creationId xmlns:p14="http://schemas.microsoft.com/office/powerpoint/2010/main" val="2493579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18</a:t>
            </a:fld>
            <a:endParaRPr lang="tr-TR" dirty="0"/>
          </a:p>
        </p:txBody>
      </p:sp>
      <p:sp>
        <p:nvSpPr>
          <p:cNvPr id="8" name="Dikdörtgen 7"/>
          <p:cNvSpPr/>
          <p:nvPr/>
        </p:nvSpPr>
        <p:spPr>
          <a:xfrm>
            <a:off x="0" y="373985"/>
            <a:ext cx="12191999" cy="461665"/>
          </a:xfrm>
          <a:prstGeom prst="rect">
            <a:avLst/>
          </a:prstGeom>
        </p:spPr>
        <p:txBody>
          <a:bodyPr wrap="square">
            <a:spAutoFit/>
          </a:bodyPr>
          <a:lstStyle/>
          <a:p>
            <a:pPr lvl="0" algn="ctr">
              <a:buClr>
                <a:srgbClr val="000000"/>
              </a:buClr>
              <a:buSzPts val="2400"/>
            </a:pPr>
            <a:r>
              <a:rPr lang="tr-TR" sz="2400" dirty="0">
                <a:solidFill>
                  <a:srgbClr val="0070C0"/>
                </a:solidFill>
                <a:latin typeface="Times New Roman" panose="02020603050405020304" pitchFamily="18" charset="0"/>
                <a:cs typeface="Times New Roman" panose="02020603050405020304" pitchFamily="18" charset="0"/>
              </a:rPr>
              <a:t>VALİDASYON</a:t>
            </a:r>
            <a:endParaRPr lang="tr-TR" sz="2400" b="1" dirty="0">
              <a:solidFill>
                <a:srgbClr val="0070C0"/>
              </a:solidFill>
              <a:latin typeface="Times New Roman" panose="02020603050405020304" pitchFamily="18" charset="0"/>
              <a:ea typeface="Times New Roman"/>
              <a:cs typeface="Times New Roman" panose="02020603050405020304" pitchFamily="18" charset="0"/>
              <a:sym typeface="Times New Roman"/>
            </a:endParaRPr>
          </a:p>
        </p:txBody>
      </p:sp>
      <p:sp>
        <p:nvSpPr>
          <p:cNvPr id="9" name="İçerik Yer Tutucusu 8"/>
          <p:cNvSpPr txBox="1">
            <a:spLocks noGrp="1"/>
          </p:cNvSpPr>
          <p:nvPr>
            <p:ph sz="half" idx="4294967295"/>
          </p:nvPr>
        </p:nvSpPr>
        <p:spPr>
          <a:xfrm>
            <a:off x="1279525" y="1202636"/>
            <a:ext cx="9447153" cy="424732"/>
          </a:xfrm>
          <a:prstGeom prst="rect">
            <a:avLst/>
          </a:prstGeom>
          <a:noFill/>
        </p:spPr>
        <p:txBody>
          <a:bodyPr wrap="square" rtlCol="0">
            <a:spAutoFit/>
          </a:bodyPr>
          <a:lstStyle/>
          <a:p>
            <a:pPr marL="0" indent="0">
              <a:buNone/>
            </a:pPr>
            <a:r>
              <a:rPr lang="tr-TR" sz="2400" b="1" dirty="0">
                <a:latin typeface="Times New Roman" panose="02020603050405020304" pitchFamily="18" charset="0"/>
                <a:cs typeface="Times New Roman" panose="02020603050405020304" pitchFamily="18" charset="0"/>
              </a:rPr>
              <a:t>Parametrik </a:t>
            </a:r>
            <a:r>
              <a:rPr lang="tr-TR" sz="2400" b="1" dirty="0" err="1">
                <a:latin typeface="Times New Roman" panose="02020603050405020304" pitchFamily="18" charset="0"/>
                <a:cs typeface="Times New Roman" panose="02020603050405020304" pitchFamily="18" charset="0"/>
              </a:rPr>
              <a:t>validasyonda</a:t>
            </a:r>
            <a:r>
              <a:rPr lang="tr-TR" sz="2400" b="1" dirty="0">
                <a:latin typeface="Times New Roman" panose="02020603050405020304" pitchFamily="18" charset="0"/>
                <a:cs typeface="Times New Roman" panose="02020603050405020304" pitchFamily="18" charset="0"/>
              </a:rPr>
              <a:t> yeterlilik testlerinin basamakları</a:t>
            </a:r>
          </a:p>
        </p:txBody>
      </p:sp>
      <p:sp>
        <p:nvSpPr>
          <p:cNvPr id="3" name="Dikdörtgen 2"/>
          <p:cNvSpPr/>
          <p:nvPr/>
        </p:nvSpPr>
        <p:spPr>
          <a:xfrm>
            <a:off x="1188502" y="1864248"/>
            <a:ext cx="10270837" cy="3349956"/>
          </a:xfrm>
          <a:prstGeom prst="rect">
            <a:avLst/>
          </a:prstGeom>
        </p:spPr>
        <p:txBody>
          <a:bodyPr wrap="square">
            <a:spAutoFit/>
          </a:bodyPr>
          <a:lstStyle/>
          <a:p>
            <a:pPr>
              <a:lnSpc>
                <a:spcPct val="150000"/>
              </a:lnSpc>
            </a:pPr>
            <a:r>
              <a:rPr lang="tr-TR" sz="2400" dirty="0">
                <a:latin typeface="Times New Roman" panose="02020603050405020304" pitchFamily="18" charset="0"/>
                <a:cs typeface="Times New Roman" panose="02020603050405020304" pitchFamily="18" charset="0"/>
              </a:rPr>
              <a:t>● Boş döngü </a:t>
            </a:r>
            <a:r>
              <a:rPr lang="tr-TR" sz="2400" dirty="0" err="1">
                <a:latin typeface="Times New Roman" panose="02020603050405020304" pitchFamily="18" charset="0"/>
                <a:cs typeface="Times New Roman" panose="02020603050405020304" pitchFamily="18" charset="0"/>
              </a:rPr>
              <a:t>termometrik</a:t>
            </a:r>
            <a:r>
              <a:rPr lang="tr-TR" sz="2400" dirty="0">
                <a:latin typeface="Times New Roman" panose="02020603050405020304" pitchFamily="18" charset="0"/>
                <a:cs typeface="Times New Roman" panose="02020603050405020304" pitchFamily="18" charset="0"/>
              </a:rPr>
              <a:t> ölçüm sonuçlarının kaydı,</a:t>
            </a:r>
          </a:p>
          <a:p>
            <a:pPr>
              <a:lnSpc>
                <a:spcPct val="150000"/>
              </a:lnSpc>
            </a:pPr>
            <a:r>
              <a:rPr lang="tr-TR" sz="2400" dirty="0">
                <a:latin typeface="Times New Roman" panose="02020603050405020304" pitchFamily="18" charset="0"/>
                <a:cs typeface="Times New Roman" panose="02020603050405020304" pitchFamily="18" charset="0"/>
              </a:rPr>
              <a:t>● Referans yükle elde edilen </a:t>
            </a:r>
            <a:r>
              <a:rPr lang="tr-TR" sz="2400" dirty="0" err="1">
                <a:latin typeface="Times New Roman" panose="02020603050405020304" pitchFamily="18" charset="0"/>
                <a:cs typeface="Times New Roman" panose="02020603050405020304" pitchFamily="18" charset="0"/>
              </a:rPr>
              <a:t>termometrik</a:t>
            </a:r>
            <a:r>
              <a:rPr lang="tr-TR" sz="2400" dirty="0">
                <a:latin typeface="Times New Roman" panose="02020603050405020304" pitchFamily="18" charset="0"/>
                <a:cs typeface="Times New Roman" panose="02020603050405020304" pitchFamily="18" charset="0"/>
              </a:rPr>
              <a:t> ölçüm sonuçların kaydı,</a:t>
            </a:r>
          </a:p>
          <a:p>
            <a:pPr>
              <a:lnSpc>
                <a:spcPct val="150000"/>
              </a:lnSpc>
            </a:pPr>
            <a:r>
              <a:rPr lang="tr-TR" sz="2400" dirty="0">
                <a:latin typeface="Times New Roman" panose="02020603050405020304" pitchFamily="18" charset="0"/>
                <a:cs typeface="Times New Roman" panose="02020603050405020304" pitchFamily="18" charset="0"/>
              </a:rPr>
              <a:t>● Sonuçların değerlendirilmesi,</a:t>
            </a:r>
          </a:p>
          <a:p>
            <a:pPr>
              <a:lnSpc>
                <a:spcPct val="150000"/>
              </a:lnSpc>
            </a:pPr>
            <a:r>
              <a:rPr lang="tr-TR" sz="2400" dirty="0">
                <a:latin typeface="Times New Roman" panose="02020603050405020304" pitchFamily="18" charset="0"/>
                <a:cs typeface="Times New Roman" panose="02020603050405020304" pitchFamily="18" charset="0"/>
              </a:rPr>
              <a:t>● </a:t>
            </a:r>
            <a:r>
              <a:rPr lang="tr-TR" sz="2400" dirty="0" err="1">
                <a:latin typeface="Times New Roman" panose="02020603050405020304" pitchFamily="18" charset="0"/>
                <a:cs typeface="Times New Roman" panose="02020603050405020304" pitchFamily="18" charset="0"/>
              </a:rPr>
              <a:t>Validasyonun</a:t>
            </a:r>
            <a:r>
              <a:rPr lang="tr-TR" sz="2400" dirty="0">
                <a:latin typeface="Times New Roman" panose="02020603050405020304" pitchFamily="18" charset="0"/>
                <a:cs typeface="Times New Roman" panose="02020603050405020304" pitchFamily="18" charset="0"/>
              </a:rPr>
              <a:t> dokümantasyonu,</a:t>
            </a:r>
          </a:p>
          <a:p>
            <a:pPr>
              <a:lnSpc>
                <a:spcPct val="150000"/>
              </a:lnSpc>
            </a:pPr>
            <a:r>
              <a:rPr lang="tr-TR" sz="2400" dirty="0">
                <a:latin typeface="Times New Roman" panose="02020603050405020304" pitchFamily="18" charset="0"/>
                <a:cs typeface="Times New Roman" panose="02020603050405020304" pitchFamily="18" charset="0"/>
              </a:rPr>
              <a:t>● Sterilizasyon sürecinin başlaması ya da durdurulması konusunda uzman</a:t>
            </a:r>
          </a:p>
          <a:p>
            <a:pPr>
              <a:lnSpc>
                <a:spcPct val="150000"/>
              </a:lnSpc>
            </a:pPr>
            <a:r>
              <a:rPr lang="tr-TR" sz="2400" dirty="0">
                <a:latin typeface="Times New Roman" panose="02020603050405020304" pitchFamily="18" charset="0"/>
                <a:cs typeface="Times New Roman" panose="02020603050405020304" pitchFamily="18" charset="0"/>
              </a:rPr>
              <a:t>tarafından karar verilmesi.</a:t>
            </a:r>
          </a:p>
        </p:txBody>
      </p:sp>
    </p:spTree>
    <p:extLst>
      <p:ext uri="{BB962C8B-B14F-4D97-AF65-F5344CB8AC3E}">
        <p14:creationId xmlns:p14="http://schemas.microsoft.com/office/powerpoint/2010/main" val="27027488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19</a:t>
            </a:fld>
            <a:endParaRPr lang="tr-TR" dirty="0"/>
          </a:p>
        </p:txBody>
      </p:sp>
      <p:sp>
        <p:nvSpPr>
          <p:cNvPr id="8" name="Dikdörtgen 7"/>
          <p:cNvSpPr/>
          <p:nvPr/>
        </p:nvSpPr>
        <p:spPr>
          <a:xfrm>
            <a:off x="0" y="373985"/>
            <a:ext cx="12191999" cy="461665"/>
          </a:xfrm>
          <a:prstGeom prst="rect">
            <a:avLst/>
          </a:prstGeom>
        </p:spPr>
        <p:txBody>
          <a:bodyPr wrap="square">
            <a:spAutoFit/>
          </a:bodyPr>
          <a:lstStyle/>
          <a:p>
            <a:pPr lvl="0" algn="ctr">
              <a:buClr>
                <a:srgbClr val="000000"/>
              </a:buClr>
              <a:buSzPts val="2400"/>
            </a:pPr>
            <a:r>
              <a:rPr lang="tr-TR" sz="2400" dirty="0">
                <a:solidFill>
                  <a:srgbClr val="0070C0"/>
                </a:solidFill>
                <a:latin typeface="Times New Roman" panose="02020603050405020304" pitchFamily="18" charset="0"/>
                <a:cs typeface="Times New Roman" panose="02020603050405020304" pitchFamily="18" charset="0"/>
              </a:rPr>
              <a:t>VALİDASYON</a:t>
            </a:r>
            <a:endParaRPr lang="tr-TR" sz="2400" b="1" dirty="0">
              <a:solidFill>
                <a:srgbClr val="0070C0"/>
              </a:solidFill>
              <a:latin typeface="Times New Roman" panose="02020603050405020304" pitchFamily="18" charset="0"/>
              <a:ea typeface="Times New Roman"/>
              <a:cs typeface="Times New Roman" panose="02020603050405020304" pitchFamily="18" charset="0"/>
              <a:sym typeface="Times New Roman"/>
            </a:endParaRPr>
          </a:p>
        </p:txBody>
      </p:sp>
      <p:sp>
        <p:nvSpPr>
          <p:cNvPr id="9" name="İçerik Yer Tutucusu 8"/>
          <p:cNvSpPr txBox="1">
            <a:spLocks noGrp="1"/>
          </p:cNvSpPr>
          <p:nvPr>
            <p:ph sz="half" idx="4294967295"/>
          </p:nvPr>
        </p:nvSpPr>
        <p:spPr>
          <a:xfrm>
            <a:off x="1279525" y="965200"/>
            <a:ext cx="9447153" cy="424732"/>
          </a:xfrm>
          <a:prstGeom prst="rect">
            <a:avLst/>
          </a:prstGeom>
          <a:noFill/>
        </p:spPr>
        <p:txBody>
          <a:bodyPr wrap="square" rtlCol="0">
            <a:spAutoFit/>
          </a:bodyPr>
          <a:lstStyle/>
          <a:p>
            <a:pPr marL="0" indent="0">
              <a:buNone/>
            </a:pPr>
            <a:r>
              <a:rPr lang="tr-TR" sz="2400" b="1" dirty="0">
                <a:latin typeface="Times New Roman" panose="02020603050405020304" pitchFamily="18" charset="0"/>
                <a:cs typeface="Times New Roman" panose="02020603050405020304" pitchFamily="18" charset="0"/>
              </a:rPr>
              <a:t>Yeterlik testlerinin uygulanması ve sıklığı</a:t>
            </a:r>
          </a:p>
        </p:txBody>
      </p:sp>
      <p:sp>
        <p:nvSpPr>
          <p:cNvPr id="3" name="Dikdörtgen 2"/>
          <p:cNvSpPr/>
          <p:nvPr/>
        </p:nvSpPr>
        <p:spPr>
          <a:xfrm>
            <a:off x="1376217" y="1749482"/>
            <a:ext cx="10270837" cy="3903954"/>
          </a:xfrm>
          <a:prstGeom prst="rect">
            <a:avLst/>
          </a:prstGeom>
        </p:spPr>
        <p:txBody>
          <a:bodyPr wrap="square">
            <a:spAutoFit/>
          </a:bodyPr>
          <a:lstStyle/>
          <a:p>
            <a:pPr marL="342900" indent="-342900">
              <a:lnSpc>
                <a:spcPct val="150000"/>
              </a:lnSpc>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Yeni kullanıma giren </a:t>
            </a:r>
            <a:r>
              <a:rPr lang="tr-TR" sz="2400" dirty="0" err="1">
                <a:latin typeface="Times New Roman" panose="02020603050405020304" pitchFamily="18" charset="0"/>
                <a:cs typeface="Times New Roman" panose="02020603050405020304" pitchFamily="18" charset="0"/>
              </a:rPr>
              <a:t>sterilizatörlerde</a:t>
            </a:r>
            <a:r>
              <a:rPr lang="tr-TR" sz="2400" dirty="0">
                <a:latin typeface="Times New Roman" panose="02020603050405020304" pitchFamily="18" charset="0"/>
                <a:cs typeface="Times New Roman" panose="02020603050405020304" pitchFamily="18" charset="0"/>
              </a:rPr>
              <a:t> kurulum, işletim ve performans yeterlilik testleri tamamlanmalıdır.</a:t>
            </a:r>
          </a:p>
          <a:p>
            <a:pPr marL="342900" indent="-342900">
              <a:lnSpc>
                <a:spcPct val="150000"/>
              </a:lnSpc>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Bu amaçla </a:t>
            </a:r>
            <a:r>
              <a:rPr lang="tr-TR" sz="2400" dirty="0" err="1">
                <a:latin typeface="Times New Roman" panose="02020603050405020304" pitchFamily="18" charset="0"/>
                <a:cs typeface="Times New Roman" panose="02020603050405020304" pitchFamily="18" charset="0"/>
              </a:rPr>
              <a:t>sterilizatörde</a:t>
            </a:r>
            <a:r>
              <a:rPr lang="tr-TR" sz="2400" dirty="0">
                <a:latin typeface="Times New Roman" panose="02020603050405020304" pitchFamily="18" charset="0"/>
                <a:cs typeface="Times New Roman" panose="02020603050405020304" pitchFamily="18" charset="0"/>
              </a:rPr>
              <a:t> kullanılan her bir program için </a:t>
            </a:r>
            <a:r>
              <a:rPr lang="tr-TR" sz="2400" dirty="0" err="1">
                <a:latin typeface="Times New Roman" panose="02020603050405020304" pitchFamily="18" charset="0"/>
                <a:cs typeface="Times New Roman" panose="02020603050405020304" pitchFamily="18" charset="0"/>
              </a:rPr>
              <a:t>sterilizatör</a:t>
            </a:r>
            <a:r>
              <a:rPr lang="tr-TR" sz="2400" dirty="0">
                <a:latin typeface="Times New Roman" panose="02020603050405020304" pitchFamily="18" charset="0"/>
                <a:cs typeface="Times New Roman" panose="02020603050405020304" pitchFamily="18" charset="0"/>
              </a:rPr>
              <a:t> boşken, %50 ve %100 doluyken üçer kez ölçüm yapılır.</a:t>
            </a:r>
          </a:p>
          <a:p>
            <a:pPr marL="342900" indent="-342900">
              <a:lnSpc>
                <a:spcPct val="150000"/>
              </a:lnSpc>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Kullanımdaki </a:t>
            </a:r>
            <a:r>
              <a:rPr lang="tr-TR" sz="2400" dirty="0" err="1">
                <a:latin typeface="Times New Roman" panose="02020603050405020304" pitchFamily="18" charset="0"/>
                <a:cs typeface="Times New Roman" panose="02020603050405020304" pitchFamily="18" charset="0"/>
              </a:rPr>
              <a:t>sterilizatörlerde</a:t>
            </a:r>
            <a:r>
              <a:rPr lang="tr-TR" sz="2400" dirty="0">
                <a:latin typeface="Times New Roman" panose="02020603050405020304" pitchFamily="18" charset="0"/>
                <a:cs typeface="Times New Roman" panose="02020603050405020304" pitchFamily="18" charset="0"/>
              </a:rPr>
              <a:t> ise rutin olarak yılda bir kez yapılır.</a:t>
            </a:r>
          </a:p>
          <a:p>
            <a:pPr marL="342900" indent="-342900">
              <a:lnSpc>
                <a:spcPct val="150000"/>
              </a:lnSpc>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Kullanımdaki </a:t>
            </a:r>
            <a:r>
              <a:rPr lang="tr-TR" sz="2400" dirty="0" err="1">
                <a:latin typeface="Times New Roman" panose="02020603050405020304" pitchFamily="18" charset="0"/>
                <a:cs typeface="Times New Roman" panose="02020603050405020304" pitchFamily="18" charset="0"/>
              </a:rPr>
              <a:t>sterilizatörlerde</a:t>
            </a:r>
            <a:r>
              <a:rPr lang="tr-TR" sz="2400" dirty="0">
                <a:latin typeface="Times New Roman" panose="02020603050405020304" pitchFamily="18" charset="0"/>
                <a:cs typeface="Times New Roman" panose="02020603050405020304" pitchFamily="18" charset="0"/>
              </a:rPr>
              <a:t> her bir program başına boşken ve %100 doluyken ikişer döngü ile ölçüm yapılır.</a:t>
            </a:r>
          </a:p>
        </p:txBody>
      </p:sp>
    </p:spTree>
    <p:extLst>
      <p:ext uri="{BB962C8B-B14F-4D97-AF65-F5344CB8AC3E}">
        <p14:creationId xmlns:p14="http://schemas.microsoft.com/office/powerpoint/2010/main" val="36542877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20</a:t>
            </a:fld>
            <a:endParaRPr lang="tr-TR" dirty="0"/>
          </a:p>
        </p:txBody>
      </p:sp>
      <p:sp>
        <p:nvSpPr>
          <p:cNvPr id="8" name="Dikdörtgen 7"/>
          <p:cNvSpPr/>
          <p:nvPr/>
        </p:nvSpPr>
        <p:spPr>
          <a:xfrm>
            <a:off x="0" y="373985"/>
            <a:ext cx="12191999" cy="461665"/>
          </a:xfrm>
          <a:prstGeom prst="rect">
            <a:avLst/>
          </a:prstGeom>
        </p:spPr>
        <p:txBody>
          <a:bodyPr wrap="square">
            <a:spAutoFit/>
          </a:bodyPr>
          <a:lstStyle/>
          <a:p>
            <a:pPr lvl="0" algn="ctr">
              <a:buClr>
                <a:srgbClr val="000000"/>
              </a:buClr>
              <a:buSzPts val="2400"/>
            </a:pPr>
            <a:r>
              <a:rPr lang="tr-TR" sz="2400" dirty="0">
                <a:solidFill>
                  <a:srgbClr val="0070C0"/>
                </a:solidFill>
                <a:latin typeface="Times New Roman" panose="02020603050405020304" pitchFamily="18" charset="0"/>
                <a:cs typeface="Times New Roman" panose="02020603050405020304" pitchFamily="18" charset="0"/>
              </a:rPr>
              <a:t>VALİDASYON</a:t>
            </a:r>
            <a:endParaRPr lang="tr-TR" sz="2400" b="1" dirty="0">
              <a:solidFill>
                <a:srgbClr val="0070C0"/>
              </a:solidFill>
              <a:latin typeface="Times New Roman" panose="02020603050405020304" pitchFamily="18" charset="0"/>
              <a:ea typeface="Times New Roman"/>
              <a:cs typeface="Times New Roman" panose="02020603050405020304" pitchFamily="18" charset="0"/>
              <a:sym typeface="Times New Roman"/>
            </a:endParaRPr>
          </a:p>
        </p:txBody>
      </p:sp>
      <p:sp>
        <p:nvSpPr>
          <p:cNvPr id="9" name="İçerik Yer Tutucusu 8"/>
          <p:cNvSpPr txBox="1">
            <a:spLocks noGrp="1"/>
          </p:cNvSpPr>
          <p:nvPr>
            <p:ph sz="half" idx="4294967295"/>
          </p:nvPr>
        </p:nvSpPr>
        <p:spPr>
          <a:xfrm>
            <a:off x="1279525" y="965756"/>
            <a:ext cx="9447153" cy="424732"/>
          </a:xfrm>
          <a:prstGeom prst="rect">
            <a:avLst/>
          </a:prstGeom>
          <a:noFill/>
        </p:spPr>
        <p:txBody>
          <a:bodyPr wrap="square" rtlCol="0">
            <a:spAutoFit/>
          </a:bodyPr>
          <a:lstStyle/>
          <a:p>
            <a:pPr marL="0" indent="0">
              <a:buNone/>
            </a:pPr>
            <a:r>
              <a:rPr lang="tr-TR" sz="2400" b="1" dirty="0">
                <a:latin typeface="Times New Roman" panose="02020603050405020304" pitchFamily="18" charset="0"/>
                <a:cs typeface="Times New Roman" panose="02020603050405020304" pitchFamily="18" charset="0"/>
              </a:rPr>
              <a:t>Biyolojik </a:t>
            </a:r>
            <a:r>
              <a:rPr lang="tr-TR" sz="2400" b="1" dirty="0" err="1">
                <a:latin typeface="Times New Roman" panose="02020603050405020304" pitchFamily="18" charset="0"/>
                <a:cs typeface="Times New Roman" panose="02020603050405020304" pitchFamily="18" charset="0"/>
              </a:rPr>
              <a:t>validasyon</a:t>
            </a:r>
            <a:endParaRPr lang="tr-TR" sz="2400" b="1" dirty="0">
              <a:latin typeface="Times New Roman" panose="02020603050405020304" pitchFamily="18" charset="0"/>
              <a:cs typeface="Times New Roman" panose="02020603050405020304" pitchFamily="18" charset="0"/>
            </a:endParaRPr>
          </a:p>
        </p:txBody>
      </p:sp>
      <p:sp>
        <p:nvSpPr>
          <p:cNvPr id="3" name="Dikdörtgen 2"/>
          <p:cNvSpPr/>
          <p:nvPr/>
        </p:nvSpPr>
        <p:spPr>
          <a:xfrm>
            <a:off x="1376217" y="1749482"/>
            <a:ext cx="10270837" cy="3349956"/>
          </a:xfrm>
          <a:prstGeom prst="rect">
            <a:avLst/>
          </a:prstGeom>
        </p:spPr>
        <p:txBody>
          <a:bodyPr wrap="square">
            <a:spAutoFit/>
          </a:bodyPr>
          <a:lstStyle/>
          <a:p>
            <a:pPr marL="342900" indent="-342900">
              <a:lnSpc>
                <a:spcPct val="150000"/>
              </a:lnSpc>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Biyolojik </a:t>
            </a:r>
            <a:r>
              <a:rPr lang="tr-TR" sz="2400" dirty="0" err="1">
                <a:latin typeface="Times New Roman" panose="02020603050405020304" pitchFamily="18" charset="0"/>
                <a:cs typeface="Times New Roman" panose="02020603050405020304" pitchFamily="18" charset="0"/>
              </a:rPr>
              <a:t>inaktivasyona</a:t>
            </a:r>
            <a:r>
              <a:rPr lang="tr-TR" sz="2400" dirty="0">
                <a:latin typeface="Times New Roman" panose="02020603050405020304" pitchFamily="18" charset="0"/>
                <a:cs typeface="Times New Roman" panose="02020603050405020304" pitchFamily="18" charset="0"/>
              </a:rPr>
              <a:t> dayalı </a:t>
            </a:r>
            <a:r>
              <a:rPr lang="tr-TR" sz="2400" dirty="0" err="1">
                <a:latin typeface="Times New Roman" panose="02020603050405020304" pitchFamily="18" charset="0"/>
                <a:cs typeface="Times New Roman" panose="02020603050405020304" pitchFamily="18" charset="0"/>
              </a:rPr>
              <a:t>validasyondur</a:t>
            </a:r>
            <a:r>
              <a:rPr lang="tr-TR" sz="2400" dirty="0">
                <a:latin typeface="Times New Roman" panose="02020603050405020304" pitchFamily="18" charset="0"/>
                <a:cs typeface="Times New Roman" panose="02020603050405020304" pitchFamily="18" charset="0"/>
              </a:rPr>
              <a:t>. Biyolojik indikatörler 16 havludan katlanarak oluşturulmuş zorlaştırılmış test paketleri içinde aynı parametrik </a:t>
            </a:r>
            <a:r>
              <a:rPr lang="tr-TR" sz="2400" dirty="0" err="1">
                <a:latin typeface="Times New Roman" panose="02020603050405020304" pitchFamily="18" charset="0"/>
                <a:cs typeface="Times New Roman" panose="02020603050405020304" pitchFamily="18" charset="0"/>
              </a:rPr>
              <a:t>validasyonda</a:t>
            </a:r>
            <a:r>
              <a:rPr lang="tr-TR" sz="2400" dirty="0">
                <a:latin typeface="Times New Roman" panose="02020603050405020304" pitchFamily="18" charset="0"/>
                <a:cs typeface="Times New Roman" panose="02020603050405020304" pitchFamily="18" charset="0"/>
              </a:rPr>
              <a:t> olduğu gibi </a:t>
            </a:r>
            <a:r>
              <a:rPr lang="tr-TR" sz="2400" dirty="0" err="1">
                <a:latin typeface="Times New Roman" panose="02020603050405020304" pitchFamily="18" charset="0"/>
                <a:cs typeface="Times New Roman" panose="02020603050405020304" pitchFamily="18" charset="0"/>
              </a:rPr>
              <a:t>sterilizatör</a:t>
            </a:r>
            <a:r>
              <a:rPr lang="tr-TR" sz="2400" dirty="0">
                <a:latin typeface="Times New Roman" panose="02020603050405020304" pitchFamily="18" charset="0"/>
                <a:cs typeface="Times New Roman" panose="02020603050405020304" pitchFamily="18" charset="0"/>
              </a:rPr>
              <a:t> üreticisinin </a:t>
            </a:r>
            <a:r>
              <a:rPr lang="tr-TR" sz="2400" dirty="0" err="1">
                <a:latin typeface="Times New Roman" panose="02020603050405020304" pitchFamily="18" charset="0"/>
                <a:cs typeface="Times New Roman" panose="02020603050405020304" pitchFamily="18" charset="0"/>
              </a:rPr>
              <a:t>validasyon</a:t>
            </a:r>
            <a:r>
              <a:rPr lang="tr-TR" sz="2400" dirty="0">
                <a:latin typeface="Times New Roman" panose="02020603050405020304" pitchFamily="18" charset="0"/>
                <a:cs typeface="Times New Roman" panose="02020603050405020304" pitchFamily="18" charset="0"/>
              </a:rPr>
              <a:t> için öngördüğü </a:t>
            </a:r>
            <a:r>
              <a:rPr lang="tr-TR" sz="2400" dirty="0" err="1">
                <a:latin typeface="Times New Roman" panose="02020603050405020304" pitchFamily="18" charset="0"/>
                <a:cs typeface="Times New Roman" panose="02020603050405020304" pitchFamily="18" charset="0"/>
              </a:rPr>
              <a:t>sterilizatörün</a:t>
            </a:r>
            <a:r>
              <a:rPr lang="tr-TR" sz="2400" dirty="0">
                <a:latin typeface="Times New Roman" panose="02020603050405020304" pitchFamily="18" charset="0"/>
                <a:cs typeface="Times New Roman" panose="02020603050405020304" pitchFamily="18" charset="0"/>
              </a:rPr>
              <a:t> farklı noktalarına yerleştirilir.</a:t>
            </a:r>
          </a:p>
          <a:p>
            <a:pPr marL="342900" indent="-342900">
              <a:lnSpc>
                <a:spcPct val="150000"/>
              </a:lnSpc>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Her bir programda her bir yük çeşidi için farklı noktalara yerleştirilmiş tüm biyolojik indikatörler için arka arkaya 3 kez negatif üreme sonucu alınmalıdır.</a:t>
            </a:r>
          </a:p>
        </p:txBody>
      </p:sp>
    </p:spTree>
    <p:extLst>
      <p:ext uri="{BB962C8B-B14F-4D97-AF65-F5344CB8AC3E}">
        <p14:creationId xmlns:p14="http://schemas.microsoft.com/office/powerpoint/2010/main" val="1602116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21</a:t>
            </a:fld>
            <a:endParaRPr lang="tr-TR" dirty="0"/>
          </a:p>
        </p:txBody>
      </p:sp>
      <p:sp>
        <p:nvSpPr>
          <p:cNvPr id="8" name="Dikdörtgen 7"/>
          <p:cNvSpPr/>
          <p:nvPr/>
        </p:nvSpPr>
        <p:spPr>
          <a:xfrm>
            <a:off x="0" y="373985"/>
            <a:ext cx="12191999" cy="461665"/>
          </a:xfrm>
          <a:prstGeom prst="rect">
            <a:avLst/>
          </a:prstGeom>
        </p:spPr>
        <p:txBody>
          <a:bodyPr wrap="square">
            <a:spAutoFit/>
          </a:bodyPr>
          <a:lstStyle/>
          <a:p>
            <a:pPr lvl="0" algn="ctr">
              <a:buClr>
                <a:srgbClr val="000000"/>
              </a:buClr>
              <a:buSzPts val="2400"/>
            </a:pPr>
            <a:r>
              <a:rPr lang="tr-TR" sz="2400" dirty="0">
                <a:solidFill>
                  <a:srgbClr val="0070C0"/>
                </a:solidFill>
                <a:latin typeface="Times New Roman" panose="02020603050405020304" pitchFamily="18" charset="0"/>
                <a:cs typeface="Times New Roman" panose="02020603050405020304" pitchFamily="18" charset="0"/>
              </a:rPr>
              <a:t>VALİDASYON</a:t>
            </a:r>
            <a:endParaRPr lang="tr-TR" sz="2400" b="1" dirty="0">
              <a:solidFill>
                <a:srgbClr val="0070C0"/>
              </a:solidFill>
              <a:latin typeface="Times New Roman" panose="02020603050405020304" pitchFamily="18" charset="0"/>
              <a:ea typeface="Times New Roman"/>
              <a:cs typeface="Times New Roman" panose="02020603050405020304" pitchFamily="18" charset="0"/>
              <a:sym typeface="Times New Roman"/>
            </a:endParaRPr>
          </a:p>
        </p:txBody>
      </p:sp>
      <p:sp>
        <p:nvSpPr>
          <p:cNvPr id="9" name="İçerik Yer Tutucusu 8"/>
          <p:cNvSpPr txBox="1">
            <a:spLocks noGrp="1"/>
          </p:cNvSpPr>
          <p:nvPr>
            <p:ph sz="half" idx="4294967295"/>
          </p:nvPr>
        </p:nvSpPr>
        <p:spPr>
          <a:xfrm>
            <a:off x="1279525" y="965756"/>
            <a:ext cx="9447153" cy="424732"/>
          </a:xfrm>
          <a:prstGeom prst="rect">
            <a:avLst/>
          </a:prstGeom>
          <a:noFill/>
        </p:spPr>
        <p:txBody>
          <a:bodyPr wrap="square" rtlCol="0">
            <a:spAutoFit/>
          </a:bodyPr>
          <a:lstStyle/>
          <a:p>
            <a:pPr marL="0" indent="0">
              <a:buNone/>
            </a:pPr>
            <a:r>
              <a:rPr lang="tr-TR" sz="2400" b="1" dirty="0">
                <a:latin typeface="Times New Roman" panose="02020603050405020304" pitchFamily="18" charset="0"/>
                <a:cs typeface="Times New Roman" panose="02020603050405020304" pitchFamily="18" charset="0"/>
              </a:rPr>
              <a:t>Biyolojik </a:t>
            </a:r>
            <a:r>
              <a:rPr lang="tr-TR" sz="2400" b="1" dirty="0" err="1">
                <a:latin typeface="Times New Roman" panose="02020603050405020304" pitchFamily="18" charset="0"/>
                <a:cs typeface="Times New Roman" panose="02020603050405020304" pitchFamily="18" charset="0"/>
              </a:rPr>
              <a:t>validasyon</a:t>
            </a:r>
            <a:endParaRPr lang="tr-TR" sz="2400" b="1" dirty="0">
              <a:latin typeface="Times New Roman" panose="02020603050405020304" pitchFamily="18" charset="0"/>
              <a:cs typeface="Times New Roman" panose="02020603050405020304" pitchFamily="18" charset="0"/>
            </a:endParaRPr>
          </a:p>
        </p:txBody>
      </p:sp>
      <p:sp>
        <p:nvSpPr>
          <p:cNvPr id="3" name="Dikdörtgen 2"/>
          <p:cNvSpPr/>
          <p:nvPr/>
        </p:nvSpPr>
        <p:spPr>
          <a:xfrm>
            <a:off x="1376217" y="1749482"/>
            <a:ext cx="10270837" cy="2862322"/>
          </a:xfrm>
          <a:prstGeom prst="rect">
            <a:avLst/>
          </a:prstGeom>
        </p:spPr>
        <p:txBody>
          <a:bodyPr wrap="square">
            <a:spAutoFit/>
          </a:bodyPr>
          <a:lstStyle/>
          <a:p>
            <a:pPr marL="342900" indent="-342900">
              <a:lnSpc>
                <a:spcPct val="150000"/>
              </a:lnSpc>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Ürün teslimi </a:t>
            </a:r>
            <a:r>
              <a:rPr lang="tr-TR" sz="2400" dirty="0" err="1">
                <a:latin typeface="Times New Roman" panose="02020603050405020304" pitchFamily="18" charset="0"/>
                <a:cs typeface="Times New Roman" panose="02020603050405020304" pitchFamily="18" charset="0"/>
              </a:rPr>
              <a:t>validasyon</a:t>
            </a:r>
            <a:r>
              <a:rPr lang="tr-TR" sz="2400" dirty="0">
                <a:latin typeface="Times New Roman" panose="02020603050405020304" pitchFamily="18" charset="0"/>
                <a:cs typeface="Times New Roman" panose="02020603050405020304" pitchFamily="18" charset="0"/>
              </a:rPr>
              <a:t> yöntemi ile doğrudan ilişkili olduğundan; </a:t>
            </a:r>
            <a:r>
              <a:rPr lang="tr-TR" sz="2400" dirty="0" err="1">
                <a:latin typeface="Times New Roman" panose="02020603050405020304" pitchFamily="18" charset="0"/>
                <a:cs typeface="Times New Roman" panose="02020603050405020304" pitchFamily="18" charset="0"/>
              </a:rPr>
              <a:t>validasyon</a:t>
            </a:r>
            <a:r>
              <a:rPr lang="tr-TR" sz="2400" dirty="0">
                <a:latin typeface="Times New Roman" panose="02020603050405020304" pitchFamily="18" charset="0"/>
                <a:cs typeface="Times New Roman" panose="02020603050405020304" pitchFamily="18" charset="0"/>
              </a:rPr>
              <a:t> biyolojik yöntemle yapılıyorsa ürün teslimi de biyolojik indikatör içindeki sporların öldüğü ispatlandığında yapılabilir. Bu durumda her döngüde zorlayıcı test paketi içinde biyolojik indikatör kullanımı ve sonuç çıktıktan sonra ürün teslimi zorunludur.</a:t>
            </a:r>
          </a:p>
        </p:txBody>
      </p:sp>
    </p:spTree>
    <p:extLst>
      <p:ext uri="{BB962C8B-B14F-4D97-AF65-F5344CB8AC3E}">
        <p14:creationId xmlns:p14="http://schemas.microsoft.com/office/powerpoint/2010/main" val="16800310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22</a:t>
            </a:fld>
            <a:endParaRPr lang="tr-TR" dirty="0"/>
          </a:p>
        </p:txBody>
      </p:sp>
      <p:sp>
        <p:nvSpPr>
          <p:cNvPr id="8" name="Dikdörtgen 7"/>
          <p:cNvSpPr/>
          <p:nvPr/>
        </p:nvSpPr>
        <p:spPr>
          <a:xfrm>
            <a:off x="0" y="373985"/>
            <a:ext cx="12191999" cy="461665"/>
          </a:xfrm>
          <a:prstGeom prst="rect">
            <a:avLst/>
          </a:prstGeom>
        </p:spPr>
        <p:txBody>
          <a:bodyPr wrap="square">
            <a:spAutoFit/>
          </a:bodyPr>
          <a:lstStyle/>
          <a:p>
            <a:pPr lvl="0" algn="ctr">
              <a:buClr>
                <a:srgbClr val="000000"/>
              </a:buClr>
              <a:buSzPts val="2400"/>
            </a:pPr>
            <a:r>
              <a:rPr lang="tr-TR" sz="2400" dirty="0">
                <a:solidFill>
                  <a:srgbClr val="0070C0"/>
                </a:solidFill>
                <a:latin typeface="Times New Roman" panose="02020603050405020304" pitchFamily="18" charset="0"/>
                <a:cs typeface="Times New Roman" panose="02020603050405020304" pitchFamily="18" charset="0"/>
              </a:rPr>
              <a:t>VALİDASYON</a:t>
            </a:r>
            <a:endParaRPr lang="tr-TR" sz="2400" b="1" dirty="0">
              <a:solidFill>
                <a:srgbClr val="0070C0"/>
              </a:solidFill>
              <a:latin typeface="Times New Roman" panose="02020603050405020304" pitchFamily="18" charset="0"/>
              <a:ea typeface="Times New Roman"/>
              <a:cs typeface="Times New Roman" panose="02020603050405020304" pitchFamily="18" charset="0"/>
              <a:sym typeface="Times New Roman"/>
            </a:endParaRPr>
          </a:p>
        </p:txBody>
      </p:sp>
      <p:sp>
        <p:nvSpPr>
          <p:cNvPr id="9" name="İçerik Yer Tutucusu 8"/>
          <p:cNvSpPr txBox="1">
            <a:spLocks noGrp="1"/>
          </p:cNvSpPr>
          <p:nvPr>
            <p:ph sz="half" idx="4294967295"/>
          </p:nvPr>
        </p:nvSpPr>
        <p:spPr>
          <a:xfrm>
            <a:off x="1279525" y="965756"/>
            <a:ext cx="9447153" cy="424732"/>
          </a:xfrm>
          <a:prstGeom prst="rect">
            <a:avLst/>
          </a:prstGeom>
          <a:noFill/>
        </p:spPr>
        <p:txBody>
          <a:bodyPr wrap="square" rtlCol="0">
            <a:spAutoFit/>
          </a:bodyPr>
          <a:lstStyle/>
          <a:p>
            <a:pPr marL="0" indent="0">
              <a:buNone/>
            </a:pPr>
            <a:r>
              <a:rPr lang="tr-TR" sz="2400" b="1" dirty="0">
                <a:latin typeface="Times New Roman" panose="02020603050405020304" pitchFamily="18" charset="0"/>
                <a:cs typeface="Times New Roman" panose="02020603050405020304" pitchFamily="18" charset="0"/>
              </a:rPr>
              <a:t>Biyolojik </a:t>
            </a:r>
            <a:r>
              <a:rPr lang="tr-TR" sz="2400" b="1" dirty="0" err="1">
                <a:latin typeface="Times New Roman" panose="02020603050405020304" pitchFamily="18" charset="0"/>
                <a:cs typeface="Times New Roman" panose="02020603050405020304" pitchFamily="18" charset="0"/>
              </a:rPr>
              <a:t>validasyon</a:t>
            </a:r>
            <a:endParaRPr lang="tr-TR" sz="2400" b="1" dirty="0">
              <a:latin typeface="Times New Roman" panose="02020603050405020304" pitchFamily="18" charset="0"/>
              <a:cs typeface="Times New Roman" panose="02020603050405020304" pitchFamily="18" charset="0"/>
            </a:endParaRPr>
          </a:p>
        </p:txBody>
      </p:sp>
      <p:sp>
        <p:nvSpPr>
          <p:cNvPr id="3" name="Dikdörtgen 2"/>
          <p:cNvSpPr/>
          <p:nvPr/>
        </p:nvSpPr>
        <p:spPr>
          <a:xfrm>
            <a:off x="1376217" y="1749482"/>
            <a:ext cx="10270837" cy="3416320"/>
          </a:xfrm>
          <a:prstGeom prst="rect">
            <a:avLst/>
          </a:prstGeom>
        </p:spPr>
        <p:txBody>
          <a:bodyPr wrap="square">
            <a:spAutoFit/>
          </a:bodyPr>
          <a:lstStyle/>
          <a:p>
            <a:pPr marL="342900" indent="-342900">
              <a:lnSpc>
                <a:spcPct val="150000"/>
              </a:lnSpc>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Biyolojik </a:t>
            </a:r>
            <a:r>
              <a:rPr lang="tr-TR" sz="2400" dirty="0" err="1">
                <a:latin typeface="Times New Roman" panose="02020603050405020304" pitchFamily="18" charset="0"/>
                <a:cs typeface="Times New Roman" panose="02020603050405020304" pitchFamily="18" charset="0"/>
              </a:rPr>
              <a:t>validasyon</a:t>
            </a:r>
            <a:r>
              <a:rPr lang="tr-TR" sz="2400" dirty="0">
                <a:latin typeface="Times New Roman" panose="02020603050405020304" pitchFamily="18" charset="0"/>
                <a:cs typeface="Times New Roman" panose="02020603050405020304" pitchFamily="18" charset="0"/>
              </a:rPr>
              <a:t> da parametrik </a:t>
            </a:r>
            <a:r>
              <a:rPr lang="tr-TR" sz="2400" dirty="0" err="1">
                <a:latin typeface="Times New Roman" panose="02020603050405020304" pitchFamily="18" charset="0"/>
                <a:cs typeface="Times New Roman" panose="02020603050405020304" pitchFamily="18" charset="0"/>
              </a:rPr>
              <a:t>validasyon</a:t>
            </a:r>
            <a:r>
              <a:rPr lang="tr-TR" sz="2400" dirty="0">
                <a:latin typeface="Times New Roman" panose="02020603050405020304" pitchFamily="18" charset="0"/>
                <a:cs typeface="Times New Roman" panose="02020603050405020304" pitchFamily="18" charset="0"/>
              </a:rPr>
              <a:t> gibi en az yılda bir kez tekrarlanmalıdır.</a:t>
            </a:r>
          </a:p>
          <a:p>
            <a:pPr marL="342900" indent="-342900">
              <a:lnSpc>
                <a:spcPct val="150000"/>
              </a:lnSpc>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Ancak, biyolojik indikatörlerin sadece buhar </a:t>
            </a:r>
            <a:r>
              <a:rPr lang="tr-TR" sz="2400" dirty="0" err="1">
                <a:latin typeface="Times New Roman" panose="02020603050405020304" pitchFamily="18" charset="0"/>
                <a:cs typeface="Times New Roman" panose="02020603050405020304" pitchFamily="18" charset="0"/>
              </a:rPr>
              <a:t>sterilizatör</a:t>
            </a:r>
            <a:r>
              <a:rPr lang="tr-TR" sz="2400" dirty="0">
                <a:latin typeface="Times New Roman" panose="02020603050405020304" pitchFamily="18" charset="0"/>
                <a:cs typeface="Times New Roman" panose="02020603050405020304" pitchFamily="18" charset="0"/>
              </a:rPr>
              <a:t> içine konulduğu noktada biyolojik ölümü ispatladığı ve bunun tüm sterilizasyon haznesi için </a:t>
            </a:r>
            <a:r>
              <a:rPr lang="tr-TR" sz="2400" dirty="0" err="1">
                <a:latin typeface="Times New Roman" panose="02020603050405020304" pitchFamily="18" charset="0"/>
                <a:cs typeface="Times New Roman" panose="02020603050405020304" pitchFamily="18" charset="0"/>
              </a:rPr>
              <a:t>genellenemeyeceği</a:t>
            </a:r>
            <a:r>
              <a:rPr lang="tr-TR" sz="2400" dirty="0">
                <a:latin typeface="Times New Roman" panose="02020603050405020304" pitchFamily="18" charset="0"/>
                <a:cs typeface="Times New Roman" panose="02020603050405020304" pitchFamily="18" charset="0"/>
              </a:rPr>
              <a:t> unutulmamalıdır.</a:t>
            </a:r>
          </a:p>
          <a:p>
            <a:pPr marL="342900" indent="-342900">
              <a:lnSpc>
                <a:spcPct val="150000"/>
              </a:lnSpc>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Bu nedenle parametrik </a:t>
            </a:r>
            <a:r>
              <a:rPr lang="tr-TR" sz="2400" dirty="0" err="1">
                <a:latin typeface="Times New Roman" panose="02020603050405020304" pitchFamily="18" charset="0"/>
                <a:cs typeface="Times New Roman" panose="02020603050405020304" pitchFamily="18" charset="0"/>
              </a:rPr>
              <a:t>validasyon</a:t>
            </a:r>
            <a:r>
              <a:rPr lang="tr-TR" sz="2400" dirty="0">
                <a:latin typeface="Times New Roman" panose="02020603050405020304" pitchFamily="18" charset="0"/>
                <a:cs typeface="Times New Roman" panose="02020603050405020304" pitchFamily="18" charset="0"/>
              </a:rPr>
              <a:t>, buhar sterilizasyon için vazgeçilmezdir.</a:t>
            </a:r>
          </a:p>
        </p:txBody>
      </p:sp>
    </p:spTree>
    <p:extLst>
      <p:ext uri="{BB962C8B-B14F-4D97-AF65-F5344CB8AC3E}">
        <p14:creationId xmlns:p14="http://schemas.microsoft.com/office/powerpoint/2010/main" val="1351647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rmAutofit/>
          </a:bodyPr>
          <a:lstStyle/>
          <a:p>
            <a:pPr>
              <a:lnSpc>
                <a:spcPct val="150000"/>
              </a:lnSpc>
            </a:pPr>
            <a:r>
              <a:rPr lang="tr-TR" sz="2400" dirty="0">
                <a:latin typeface="Times New Roman" panose="02020603050405020304" pitchFamily="18" charset="0"/>
                <a:cs typeface="Times New Roman" panose="02020603050405020304" pitchFamily="18" charset="0"/>
              </a:rPr>
              <a:t>Tüm sterilizasyon döngüleri izlenmeli ve sonuçları kayıt altına alınmalıdır. Bu amaçla izlenmesi zorunlu ve mümkün olan parametreler doğrudan izlenmelidir (fiziksel kontrol).</a:t>
            </a:r>
          </a:p>
          <a:p>
            <a:pPr>
              <a:lnSpc>
                <a:spcPct val="150000"/>
              </a:lnSpc>
            </a:pPr>
            <a:r>
              <a:rPr lang="tr-TR" sz="2400" dirty="0">
                <a:latin typeface="Times New Roman" panose="02020603050405020304" pitchFamily="18" charset="0"/>
                <a:cs typeface="Times New Roman" panose="02020603050405020304" pitchFamily="18" charset="0"/>
              </a:rPr>
              <a:t>Buna ek olarak fiziksel parametrelerin kimyasal indikatörlere (kimyasal kontrol) ve biyolojik ölüm (biyolojik kontrol) üzerine etkisi de izlenebilir ancak kimyasal kontrol ve biyolojik kontrol, fiziksel kontrolün yerini alamaz.</a:t>
            </a:r>
            <a:endParaRPr lang="tr-TR" sz="2400" b="1" dirty="0">
              <a:solidFill>
                <a:prstClr val="black"/>
              </a:solidFill>
              <a:latin typeface="Times New Roman" panose="02020603050405020304" pitchFamily="18" charset="0"/>
              <a:ea typeface="Times New Roman"/>
              <a:cs typeface="Times New Roman" panose="02020603050405020304" pitchFamily="18" charset="0"/>
              <a:sym typeface="Times New Roman"/>
            </a:endParaRP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23</a:t>
            </a:fld>
            <a:endParaRPr lang="tr-TR"/>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2789222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rmAutofit/>
          </a:bodyPr>
          <a:lstStyle/>
          <a:p>
            <a:pPr marL="0" indent="0">
              <a:lnSpc>
                <a:spcPct val="150000"/>
              </a:lnSpc>
              <a:buNone/>
            </a:pPr>
            <a:r>
              <a:rPr lang="tr-TR" sz="2400" b="1" dirty="0">
                <a:solidFill>
                  <a:prstClr val="black"/>
                </a:solidFill>
                <a:latin typeface="Times New Roman" panose="02020603050405020304" pitchFamily="18" charset="0"/>
                <a:ea typeface="Times New Roman"/>
                <a:cs typeface="Times New Roman" panose="02020603050405020304" pitchFamily="18" charset="0"/>
                <a:sym typeface="Times New Roman"/>
              </a:rPr>
              <a:t>Fiziksel kontrol</a:t>
            </a:r>
          </a:p>
          <a:p>
            <a:r>
              <a:rPr lang="tr-TR" sz="2400" dirty="0">
                <a:latin typeface="Times New Roman" panose="02020603050405020304" pitchFamily="18" charset="0"/>
                <a:cs typeface="Times New Roman" panose="02020603050405020304" pitchFamily="18" charset="0"/>
              </a:rPr>
              <a:t>Cihaz üzerindeki program döngüsü çizelge kaydedicileri-bilgisayar çıktıları, sıcaklık ve basınç ölçme cihazları, nem ölçer göstergelerinin kontrollerini kapsar.</a:t>
            </a:r>
          </a:p>
          <a:p>
            <a:r>
              <a:rPr lang="tr-TR" sz="2400" dirty="0">
                <a:latin typeface="Times New Roman" panose="02020603050405020304" pitchFamily="18" charset="0"/>
                <a:cs typeface="Times New Roman" panose="02020603050405020304" pitchFamily="18" charset="0"/>
              </a:rPr>
              <a:t>Sterilizasyon çevriminin fiziksel koşulları hakkında bilgi verirler.</a:t>
            </a:r>
          </a:p>
          <a:p>
            <a:r>
              <a:rPr lang="tr-TR" sz="2400" dirty="0">
                <a:latin typeface="Times New Roman" panose="02020603050405020304" pitchFamily="18" charset="0"/>
                <a:cs typeface="Times New Roman" panose="02020603050405020304" pitchFamily="18" charset="0"/>
              </a:rPr>
              <a:t>Elektronik ve mekanik </a:t>
            </a:r>
            <a:r>
              <a:rPr lang="tr-TR" sz="2400" dirty="0" err="1">
                <a:latin typeface="Times New Roman" panose="02020603050405020304" pitchFamily="18" charset="0"/>
                <a:cs typeface="Times New Roman" panose="02020603050405020304" pitchFamily="18" charset="0"/>
              </a:rPr>
              <a:t>sensörlerden</a:t>
            </a:r>
            <a:r>
              <a:rPr lang="tr-TR" sz="2400" dirty="0">
                <a:latin typeface="Times New Roman" panose="02020603050405020304" pitchFamily="18" charset="0"/>
                <a:cs typeface="Times New Roman" panose="02020603050405020304" pitchFamily="18" charset="0"/>
              </a:rPr>
              <a:t> gelen veriler değerlendirilir.</a:t>
            </a:r>
          </a:p>
          <a:p>
            <a:r>
              <a:rPr lang="tr-TR" sz="2400" dirty="0">
                <a:latin typeface="Times New Roman" panose="02020603050405020304" pitchFamily="18" charset="0"/>
                <a:cs typeface="Times New Roman" panose="02020603050405020304" pitchFamily="18" charset="0"/>
              </a:rPr>
              <a:t>Cihaz yazıcı çıktıları kontrol edilir ve kayıt sisteminin bir parçası olarak kullanılır.</a:t>
            </a:r>
            <a:endParaRPr lang="tr-TR" sz="2400" b="1" dirty="0">
              <a:solidFill>
                <a:prstClr val="black"/>
              </a:solidFill>
              <a:latin typeface="Times New Roman" panose="02020603050405020304" pitchFamily="18" charset="0"/>
              <a:ea typeface="Times New Roman"/>
              <a:cs typeface="Times New Roman" panose="02020603050405020304" pitchFamily="18" charset="0"/>
              <a:sym typeface="Times New Roman"/>
            </a:endParaRP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24</a:t>
            </a:fld>
            <a:endParaRPr lang="tr-TR"/>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1286336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Autofit/>
          </a:bodyPr>
          <a:lstStyle/>
          <a:p>
            <a:pPr marL="0" indent="0">
              <a:lnSpc>
                <a:spcPct val="100000"/>
              </a:lnSpc>
              <a:buNone/>
            </a:pPr>
            <a:r>
              <a:rPr lang="tr-TR" sz="2400" b="1" dirty="0">
                <a:latin typeface="Times New Roman" panose="02020603050405020304" pitchFamily="18" charset="0"/>
                <a:cs typeface="Times New Roman" panose="02020603050405020304" pitchFamily="18" charset="0"/>
              </a:rPr>
              <a:t>Vakum kaçak testi</a:t>
            </a:r>
          </a:p>
          <a:p>
            <a:pPr>
              <a:lnSpc>
                <a:spcPct val="100000"/>
              </a:lnSpc>
            </a:pPr>
            <a:r>
              <a:rPr lang="tr-TR" sz="2400" dirty="0">
                <a:latin typeface="Times New Roman" panose="02020603050405020304" pitchFamily="18" charset="0"/>
                <a:cs typeface="Times New Roman" panose="02020603050405020304" pitchFamily="18" charset="0"/>
              </a:rPr>
              <a:t>Sadece ön vakumlu buhar </a:t>
            </a:r>
            <a:r>
              <a:rPr lang="tr-TR" sz="2400" dirty="0" err="1">
                <a:latin typeface="Times New Roman" panose="02020603050405020304" pitchFamily="18" charset="0"/>
                <a:cs typeface="Times New Roman" panose="02020603050405020304" pitchFamily="18" charset="0"/>
              </a:rPr>
              <a:t>sterilizatörlerde</a:t>
            </a:r>
            <a:r>
              <a:rPr lang="tr-TR" sz="2400" dirty="0">
                <a:latin typeface="Times New Roman" panose="02020603050405020304" pitchFamily="18" charset="0"/>
                <a:cs typeface="Times New Roman" panose="02020603050405020304" pitchFamily="18" charset="0"/>
              </a:rPr>
              <a:t> kullanılır. Buhar </a:t>
            </a:r>
            <a:r>
              <a:rPr lang="tr-TR" sz="2400" dirty="0" err="1">
                <a:latin typeface="Times New Roman" panose="02020603050405020304" pitchFamily="18" charset="0"/>
                <a:cs typeface="Times New Roman" panose="02020603050405020304" pitchFamily="18" charset="0"/>
              </a:rPr>
              <a:t>sterilizatörlerde</a:t>
            </a:r>
            <a:r>
              <a:rPr lang="tr-TR" sz="2400" dirty="0">
                <a:latin typeface="Times New Roman" panose="02020603050405020304" pitchFamily="18" charset="0"/>
                <a:cs typeface="Times New Roman" panose="02020603050405020304" pitchFamily="18" charset="0"/>
              </a:rPr>
              <a:t> vakum kaçağı 1.3 milibar/</a:t>
            </a:r>
            <a:r>
              <a:rPr lang="tr-TR" sz="2400" dirty="0" err="1">
                <a:latin typeface="Times New Roman" panose="02020603050405020304" pitchFamily="18" charset="0"/>
                <a:cs typeface="Times New Roman" panose="02020603050405020304" pitchFamily="18" charset="0"/>
              </a:rPr>
              <a:t>dk’dan</a:t>
            </a:r>
            <a:r>
              <a:rPr lang="tr-TR" sz="2400" dirty="0">
                <a:latin typeface="Times New Roman" panose="02020603050405020304" pitchFamily="18" charset="0"/>
                <a:cs typeface="Times New Roman" panose="02020603050405020304" pitchFamily="18" charset="0"/>
              </a:rPr>
              <a:t> fazla olmamalıdır.</a:t>
            </a:r>
          </a:p>
          <a:p>
            <a:pPr>
              <a:lnSpc>
                <a:spcPct val="100000"/>
              </a:lnSpc>
            </a:pPr>
            <a:r>
              <a:rPr lang="tr-TR" sz="2400" dirty="0">
                <a:latin typeface="Times New Roman" panose="02020603050405020304" pitchFamily="18" charset="0"/>
                <a:cs typeface="Times New Roman" panose="02020603050405020304" pitchFamily="18" charset="0"/>
              </a:rPr>
              <a:t>Haftada bir kez yapılır. Sınır değere yakın bulunursa (≥1 milibar/</a:t>
            </a:r>
            <a:r>
              <a:rPr lang="tr-TR" sz="2400" dirty="0" err="1">
                <a:latin typeface="Times New Roman" panose="02020603050405020304" pitchFamily="18" charset="0"/>
                <a:cs typeface="Times New Roman" panose="02020603050405020304" pitchFamily="18" charset="0"/>
              </a:rPr>
              <a:t>dk</a:t>
            </a:r>
            <a:r>
              <a:rPr lang="tr-TR" sz="2400" dirty="0">
                <a:latin typeface="Times New Roman" panose="02020603050405020304" pitchFamily="18" charset="0"/>
                <a:cs typeface="Times New Roman" panose="02020603050405020304" pitchFamily="18" charset="0"/>
              </a:rPr>
              <a:t>) günlük tekrarı uygundur. TS EN 285’e uygun üretilmiş buhar </a:t>
            </a:r>
            <a:r>
              <a:rPr lang="tr-TR" sz="2400" dirty="0" err="1">
                <a:latin typeface="Times New Roman" panose="02020603050405020304" pitchFamily="18" charset="0"/>
                <a:cs typeface="Times New Roman" panose="02020603050405020304" pitchFamily="18" charset="0"/>
              </a:rPr>
              <a:t>sterilizatörlerde</a:t>
            </a:r>
            <a:r>
              <a:rPr lang="tr-TR" sz="2400" dirty="0">
                <a:latin typeface="Times New Roman" panose="02020603050405020304" pitchFamily="18" charset="0"/>
                <a:cs typeface="Times New Roman" panose="02020603050405020304" pitchFamily="18" charset="0"/>
              </a:rPr>
              <a:t> test programı otomatik olarak yüklüdür.</a:t>
            </a:r>
          </a:p>
          <a:p>
            <a:pPr>
              <a:lnSpc>
                <a:spcPct val="100000"/>
              </a:lnSpc>
            </a:pPr>
            <a:r>
              <a:rPr lang="tr-TR" sz="2400" dirty="0" err="1">
                <a:latin typeface="Times New Roman" panose="02020603050405020304" pitchFamily="18" charset="0"/>
                <a:cs typeface="Times New Roman" panose="02020603050405020304" pitchFamily="18" charset="0"/>
              </a:rPr>
              <a:t>Sterilizatör</a:t>
            </a:r>
            <a:r>
              <a:rPr lang="tr-TR" sz="2400" dirty="0">
                <a:latin typeface="Times New Roman" panose="02020603050405020304" pitchFamily="18" charset="0"/>
                <a:cs typeface="Times New Roman" panose="02020603050405020304" pitchFamily="18" charset="0"/>
              </a:rPr>
              <a:t> boş olarak çalıştırılmalıdır.</a:t>
            </a:r>
          </a:p>
          <a:p>
            <a:pPr>
              <a:lnSpc>
                <a:spcPct val="100000"/>
              </a:lnSpc>
            </a:pPr>
            <a:r>
              <a:rPr lang="tr-TR" sz="2400" dirty="0">
                <a:latin typeface="Times New Roman" panose="02020603050405020304" pitchFamily="18" charset="0"/>
                <a:cs typeface="Times New Roman" panose="02020603050405020304" pitchFamily="18" charset="0"/>
              </a:rPr>
              <a:t>Otomatik program içermeyen eski </a:t>
            </a:r>
            <a:r>
              <a:rPr lang="tr-TR" sz="2400" dirty="0" err="1">
                <a:latin typeface="Times New Roman" panose="02020603050405020304" pitchFamily="18" charset="0"/>
                <a:cs typeface="Times New Roman" panose="02020603050405020304" pitchFamily="18" charset="0"/>
              </a:rPr>
              <a:t>sterilizatörlerde</a:t>
            </a:r>
            <a:r>
              <a:rPr lang="tr-TR" sz="2400" dirty="0">
                <a:latin typeface="Times New Roman" panose="02020603050405020304" pitchFamily="18" charset="0"/>
                <a:cs typeface="Times New Roman" panose="02020603050405020304" pitchFamily="18" charset="0"/>
              </a:rPr>
              <a:t> ise işlem elle yapılır. Bunun için boşaltım fazında basıncın en düşük olduğu anda işlem durdurulur ve 15 </a:t>
            </a:r>
            <a:r>
              <a:rPr lang="tr-TR" sz="2400" dirty="0" err="1">
                <a:latin typeface="Times New Roman" panose="02020603050405020304" pitchFamily="18" charset="0"/>
                <a:cs typeface="Times New Roman" panose="02020603050405020304" pitchFamily="18" charset="0"/>
              </a:rPr>
              <a:t>dk</a:t>
            </a:r>
            <a:r>
              <a:rPr lang="tr-TR" sz="2400" dirty="0">
                <a:latin typeface="Times New Roman" panose="02020603050405020304" pitchFamily="18" charset="0"/>
                <a:cs typeface="Times New Roman" panose="02020603050405020304" pitchFamily="18" charset="0"/>
              </a:rPr>
              <a:t> beklenerek, 6. ve 15. </a:t>
            </a:r>
            <a:r>
              <a:rPr lang="tr-TR" sz="2400" dirty="0" err="1">
                <a:latin typeface="Times New Roman" panose="02020603050405020304" pitchFamily="18" charset="0"/>
                <a:cs typeface="Times New Roman" panose="02020603050405020304" pitchFamily="18" charset="0"/>
              </a:rPr>
              <a:t>dk</a:t>
            </a:r>
            <a:r>
              <a:rPr lang="tr-TR" sz="2400" dirty="0">
                <a:latin typeface="Times New Roman" panose="02020603050405020304" pitchFamily="18" charset="0"/>
                <a:cs typeface="Times New Roman" panose="02020603050405020304" pitchFamily="18" charset="0"/>
              </a:rPr>
              <a:t> arasındaki basınç değişimleri kayıt edilir ve işlem sonlandırılır.</a:t>
            </a:r>
          </a:p>
          <a:p>
            <a:pPr>
              <a:lnSpc>
                <a:spcPct val="100000"/>
              </a:lnSpc>
            </a:pPr>
            <a:r>
              <a:rPr lang="tr-TR" sz="2400" dirty="0">
                <a:latin typeface="Times New Roman" panose="02020603050405020304" pitchFamily="18" charset="0"/>
                <a:cs typeface="Times New Roman" panose="02020603050405020304" pitchFamily="18" charset="0"/>
              </a:rPr>
              <a:t>Sonuçlar kaydedilmeli, </a:t>
            </a:r>
            <a:r>
              <a:rPr lang="tr-TR" sz="2400" dirty="0" err="1">
                <a:latin typeface="Times New Roman" panose="02020603050405020304" pitchFamily="18" charset="0"/>
                <a:cs typeface="Times New Roman" panose="02020603050405020304" pitchFamily="18" charset="0"/>
              </a:rPr>
              <a:t>sterilizatör</a:t>
            </a:r>
            <a:r>
              <a:rPr lang="tr-TR" sz="2400" dirty="0">
                <a:latin typeface="Times New Roman" panose="02020603050405020304" pitchFamily="18" charset="0"/>
                <a:cs typeface="Times New Roman" panose="02020603050405020304" pitchFamily="18" charset="0"/>
              </a:rPr>
              <a:t> çıktıları saklanmalıdır.</a:t>
            </a: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25</a:t>
            </a:fld>
            <a:endParaRPr lang="tr-TR"/>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40078612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Autofit/>
          </a:bodyPr>
          <a:lstStyle/>
          <a:p>
            <a:pPr marL="0" indent="0">
              <a:lnSpc>
                <a:spcPct val="100000"/>
              </a:lnSpc>
              <a:buNone/>
            </a:pPr>
            <a:r>
              <a:rPr lang="tr-TR" sz="2400" b="1" dirty="0" err="1">
                <a:latin typeface="Times New Roman" panose="02020603050405020304" pitchFamily="18" charset="0"/>
                <a:cs typeface="Times New Roman" panose="02020603050405020304" pitchFamily="18" charset="0"/>
              </a:rPr>
              <a:t>Bowie-Dick</a:t>
            </a:r>
            <a:r>
              <a:rPr lang="tr-TR" sz="2400" b="1" dirty="0">
                <a:latin typeface="Times New Roman" panose="02020603050405020304" pitchFamily="18" charset="0"/>
                <a:cs typeface="Times New Roman" panose="02020603050405020304" pitchFamily="18" charset="0"/>
              </a:rPr>
              <a:t> testi</a:t>
            </a:r>
          </a:p>
          <a:p>
            <a:pPr>
              <a:lnSpc>
                <a:spcPct val="100000"/>
              </a:lnSpc>
            </a:pPr>
            <a:r>
              <a:rPr lang="tr-TR" sz="2400" dirty="0">
                <a:latin typeface="Times New Roman" panose="02020603050405020304" pitchFamily="18" charset="0"/>
                <a:cs typeface="Times New Roman" panose="02020603050405020304" pitchFamily="18" charset="0"/>
              </a:rPr>
              <a:t>Vakumlu buhar </a:t>
            </a:r>
            <a:r>
              <a:rPr lang="tr-TR" sz="2400" dirty="0" err="1">
                <a:latin typeface="Times New Roman" panose="02020603050405020304" pitchFamily="18" charset="0"/>
                <a:cs typeface="Times New Roman" panose="02020603050405020304" pitchFamily="18" charset="0"/>
              </a:rPr>
              <a:t>sterilizatörlerde</a:t>
            </a:r>
            <a:r>
              <a:rPr lang="tr-TR" sz="2400" dirty="0">
                <a:latin typeface="Times New Roman" panose="02020603050405020304" pitchFamily="18" charset="0"/>
                <a:cs typeface="Times New Roman" panose="02020603050405020304" pitchFamily="18" charset="0"/>
              </a:rPr>
              <a:t> doymuş buharın, steril edilmesi planlanan yüke hızlı ve düzgün bir şekilde girip girmediği test edilir.</a:t>
            </a:r>
          </a:p>
          <a:p>
            <a:pPr>
              <a:lnSpc>
                <a:spcPct val="100000"/>
              </a:lnSpc>
            </a:pPr>
            <a:r>
              <a:rPr lang="tr-TR" sz="2400" dirty="0" err="1">
                <a:latin typeface="Times New Roman" panose="02020603050405020304" pitchFamily="18" charset="0"/>
                <a:cs typeface="Times New Roman" panose="02020603050405020304" pitchFamily="18" charset="0"/>
              </a:rPr>
              <a:t>Sterilizatörün</a:t>
            </a:r>
            <a:r>
              <a:rPr lang="tr-TR" sz="2400" dirty="0">
                <a:latin typeface="Times New Roman" panose="02020603050405020304" pitchFamily="18" charset="0"/>
                <a:cs typeface="Times New Roman" panose="02020603050405020304" pitchFamily="18" charset="0"/>
              </a:rPr>
              <a:t> hücredeki havayı çıkarma ve havanın yeniden girmesini önleme kabiliyeti bu yöntemle test edilir.</a:t>
            </a:r>
          </a:p>
          <a:p>
            <a:pPr>
              <a:lnSpc>
                <a:spcPct val="100000"/>
              </a:lnSpc>
            </a:pPr>
            <a:r>
              <a:rPr lang="tr-TR" sz="2400" dirty="0" err="1">
                <a:latin typeface="Times New Roman" panose="02020603050405020304" pitchFamily="18" charset="0"/>
                <a:cs typeface="Times New Roman" panose="02020603050405020304" pitchFamily="18" charset="0"/>
              </a:rPr>
              <a:t>Bowie-Dick</a:t>
            </a:r>
            <a:r>
              <a:rPr lang="tr-TR" sz="2400" dirty="0">
                <a:latin typeface="Times New Roman" panose="02020603050405020304" pitchFamily="18" charset="0"/>
                <a:cs typeface="Times New Roman" panose="02020603050405020304" pitchFamily="18" charset="0"/>
              </a:rPr>
              <a:t> test programındaki ön vakum sayısı ve derinliği ile günlük kullanımdaki sterilizasyon programının ön vakum sayısı ve derinliği aynı olmalıdır.</a:t>
            </a:r>
          </a:p>
          <a:p>
            <a:pPr>
              <a:lnSpc>
                <a:spcPct val="100000"/>
              </a:lnSpc>
            </a:pPr>
            <a:r>
              <a:rPr lang="tr-TR" sz="2400" dirty="0">
                <a:latin typeface="Times New Roman" panose="02020603050405020304" pitchFamily="18" charset="0"/>
                <a:cs typeface="Times New Roman" panose="02020603050405020304" pitchFamily="18" charset="0"/>
              </a:rPr>
              <a:t>Her iki programın çıktısı karşılaştırılarak bu kontrol sağlanabilir.</a:t>
            </a: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26</a:t>
            </a:fld>
            <a:endParaRPr lang="tr-TR" dirty="0"/>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26408208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Autofit/>
          </a:bodyPr>
          <a:lstStyle/>
          <a:p>
            <a:pPr marL="0" indent="0">
              <a:lnSpc>
                <a:spcPct val="100000"/>
              </a:lnSpc>
              <a:buNone/>
            </a:pPr>
            <a:r>
              <a:rPr lang="tr-TR" sz="2400" b="1" dirty="0" err="1">
                <a:latin typeface="Times New Roman" panose="02020603050405020304" pitchFamily="18" charset="0"/>
                <a:cs typeface="Times New Roman" panose="02020603050405020304" pitchFamily="18" charset="0"/>
              </a:rPr>
              <a:t>Bowie-Dick</a:t>
            </a:r>
            <a:r>
              <a:rPr lang="tr-TR" sz="2400" b="1" dirty="0">
                <a:latin typeface="Times New Roman" panose="02020603050405020304" pitchFamily="18" charset="0"/>
                <a:cs typeface="Times New Roman" panose="02020603050405020304" pitchFamily="18" charset="0"/>
              </a:rPr>
              <a:t> testi</a:t>
            </a:r>
          </a:p>
          <a:p>
            <a:pPr>
              <a:lnSpc>
                <a:spcPct val="100000"/>
              </a:lnSpc>
            </a:pPr>
            <a:r>
              <a:rPr lang="tr-TR" sz="2400" dirty="0" err="1">
                <a:latin typeface="Times New Roman" panose="02020603050405020304" pitchFamily="18" charset="0"/>
                <a:cs typeface="Times New Roman" panose="02020603050405020304" pitchFamily="18" charset="0"/>
              </a:rPr>
              <a:t>Bowie-Dick</a:t>
            </a:r>
            <a:r>
              <a:rPr lang="tr-TR" sz="2400" dirty="0">
                <a:latin typeface="Times New Roman" panose="02020603050405020304" pitchFamily="18" charset="0"/>
                <a:cs typeface="Times New Roman" panose="02020603050405020304" pitchFamily="18" charset="0"/>
              </a:rPr>
              <a:t> test paketi, </a:t>
            </a:r>
            <a:r>
              <a:rPr lang="tr-TR" sz="2400" dirty="0" err="1">
                <a:latin typeface="Times New Roman" panose="02020603050405020304" pitchFamily="18" charset="0"/>
                <a:cs typeface="Times New Roman" panose="02020603050405020304" pitchFamily="18" charset="0"/>
              </a:rPr>
              <a:t>sterilizatör</a:t>
            </a:r>
            <a:r>
              <a:rPr lang="tr-TR" sz="2400" dirty="0">
                <a:latin typeface="Times New Roman" panose="02020603050405020304" pitchFamily="18" charset="0"/>
                <a:cs typeface="Times New Roman" panose="02020603050405020304" pitchFamily="18" charset="0"/>
              </a:rPr>
              <a:t> boşken, </a:t>
            </a:r>
            <a:r>
              <a:rPr lang="tr-TR" sz="2400" dirty="0" err="1">
                <a:latin typeface="Times New Roman" panose="02020603050405020304" pitchFamily="18" charset="0"/>
                <a:cs typeface="Times New Roman" panose="02020603050405020304" pitchFamily="18" charset="0"/>
              </a:rPr>
              <a:t>sterilizatör</a:t>
            </a:r>
            <a:r>
              <a:rPr lang="tr-TR" sz="2400" dirty="0">
                <a:latin typeface="Times New Roman" panose="02020603050405020304" pitchFamily="18" charset="0"/>
                <a:cs typeface="Times New Roman" panose="02020603050405020304" pitchFamily="18" charset="0"/>
              </a:rPr>
              <a:t> üreticisi tarafından başka bir nokta önerilmediği sürece en alt rafa hava tahliye valfi veya vakum pompasına en yakın yere, bir sepet içinde konur. </a:t>
            </a:r>
          </a:p>
          <a:p>
            <a:pPr>
              <a:lnSpc>
                <a:spcPct val="100000"/>
              </a:lnSpc>
            </a:pPr>
            <a:r>
              <a:rPr lang="tr-TR" sz="2400" dirty="0" err="1">
                <a:latin typeface="Times New Roman" panose="02020603050405020304" pitchFamily="18" charset="0"/>
                <a:cs typeface="Times New Roman" panose="02020603050405020304" pitchFamily="18" charset="0"/>
              </a:rPr>
              <a:t>Bowie-Dick</a:t>
            </a:r>
            <a:r>
              <a:rPr lang="tr-TR" sz="2400" dirty="0">
                <a:latin typeface="Times New Roman" panose="02020603050405020304" pitchFamily="18" charset="0"/>
                <a:cs typeface="Times New Roman" panose="02020603050405020304" pitchFamily="18" charset="0"/>
              </a:rPr>
              <a:t> test programında sterilizasyon süresi 3,5 dakikadan uzun olmamalıdır.</a:t>
            </a:r>
          </a:p>
          <a:p>
            <a:pPr>
              <a:lnSpc>
                <a:spcPct val="100000"/>
              </a:lnSpc>
            </a:pPr>
            <a:r>
              <a:rPr lang="tr-TR" sz="2400" dirty="0">
                <a:latin typeface="Times New Roman" panose="02020603050405020304" pitchFamily="18" charset="0"/>
                <a:cs typeface="Times New Roman" panose="02020603050405020304" pitchFamily="18" charset="0"/>
              </a:rPr>
              <a:t>Test paketi 134°C de 3,5 dakikadan daha uzun süreli işleme tabi tutulursa hatalı sonuçlar alınabilir.</a:t>
            </a: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27</a:t>
            </a:fld>
            <a:endParaRPr lang="tr-TR" dirty="0"/>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34150413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Autofit/>
          </a:bodyPr>
          <a:lstStyle/>
          <a:p>
            <a:pPr marL="0" indent="0">
              <a:lnSpc>
                <a:spcPct val="100000"/>
              </a:lnSpc>
              <a:buNone/>
            </a:pPr>
            <a:r>
              <a:rPr lang="tr-TR" sz="2400" b="1" dirty="0" err="1">
                <a:latin typeface="Times New Roman" panose="02020603050405020304" pitchFamily="18" charset="0"/>
                <a:cs typeface="Times New Roman" panose="02020603050405020304" pitchFamily="18" charset="0"/>
              </a:rPr>
              <a:t>Bowie-Dick</a:t>
            </a:r>
            <a:r>
              <a:rPr lang="tr-TR" sz="2400" b="1" dirty="0">
                <a:latin typeface="Times New Roman" panose="02020603050405020304" pitchFamily="18" charset="0"/>
                <a:cs typeface="Times New Roman" panose="02020603050405020304" pitchFamily="18" charset="0"/>
              </a:rPr>
              <a:t> testi</a:t>
            </a:r>
          </a:p>
          <a:p>
            <a:r>
              <a:rPr lang="tr-TR" sz="2400" dirty="0">
                <a:latin typeface="Times New Roman" panose="02020603050405020304" pitchFamily="18" charset="0"/>
                <a:cs typeface="Times New Roman" panose="02020603050405020304" pitchFamily="18" charset="0"/>
              </a:rPr>
              <a:t>Program bitiminde test yaprağı kontrol edilir ve herhangi bir sorun yoksa tüm çizgilerin homojen görünümde referans renge dönmesi beklenir.</a:t>
            </a:r>
          </a:p>
          <a:p>
            <a:r>
              <a:rPr lang="tr-TR" sz="2400" dirty="0" err="1">
                <a:latin typeface="Times New Roman" panose="02020603050405020304" pitchFamily="18" charset="0"/>
                <a:cs typeface="Times New Roman" panose="02020603050405020304" pitchFamily="18" charset="0"/>
              </a:rPr>
              <a:t>Bowie-Dick</a:t>
            </a:r>
            <a:r>
              <a:rPr lang="tr-TR" sz="2400" dirty="0">
                <a:latin typeface="Times New Roman" panose="02020603050405020304" pitchFamily="18" charset="0"/>
                <a:cs typeface="Times New Roman" panose="02020603050405020304" pitchFamily="18" charset="0"/>
              </a:rPr>
              <a:t> testi her gün bir kere işlemlere başlamadan önce, cihaz kapatılmadan çalıştırılıyorsa her gün aynı saatte yapılır.</a:t>
            </a:r>
          </a:p>
          <a:p>
            <a:r>
              <a:rPr lang="tr-TR" sz="2400" dirty="0">
                <a:latin typeface="Times New Roman" panose="02020603050405020304" pitchFamily="18" charset="0"/>
                <a:cs typeface="Times New Roman" panose="02020603050405020304" pitchFamily="18" charset="0"/>
              </a:rPr>
              <a:t>Büyük onarımlardan sonra test tekrar yapılmalıdır.</a:t>
            </a:r>
          </a:p>
          <a:p>
            <a:r>
              <a:rPr lang="tr-TR" sz="2400" dirty="0" err="1">
                <a:latin typeface="Times New Roman" panose="02020603050405020304" pitchFamily="18" charset="0"/>
                <a:cs typeface="Times New Roman" panose="02020603050405020304" pitchFamily="18" charset="0"/>
              </a:rPr>
              <a:t>Bowie-Dick</a:t>
            </a:r>
            <a:r>
              <a:rPr lang="tr-TR" sz="2400" dirty="0">
                <a:latin typeface="Times New Roman" panose="02020603050405020304" pitchFamily="18" charset="0"/>
                <a:cs typeface="Times New Roman" panose="02020603050405020304" pitchFamily="18" charset="0"/>
              </a:rPr>
              <a:t> test sonuçlarının saklanması gereklidir.</a:t>
            </a: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28</a:t>
            </a:fld>
            <a:endParaRPr lang="tr-TR" dirty="0"/>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7207179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Autofit/>
          </a:bodyPr>
          <a:lstStyle/>
          <a:p>
            <a:pPr marL="0" indent="0">
              <a:lnSpc>
                <a:spcPct val="100000"/>
              </a:lnSpc>
              <a:buNone/>
            </a:pPr>
            <a:r>
              <a:rPr lang="tr-TR" sz="2400" b="1" dirty="0" err="1">
                <a:latin typeface="Times New Roman" panose="02020603050405020304" pitchFamily="18" charset="0"/>
                <a:cs typeface="Times New Roman" panose="02020603050405020304" pitchFamily="18" charset="0"/>
              </a:rPr>
              <a:t>Bowie-Dick</a:t>
            </a:r>
            <a:r>
              <a:rPr lang="tr-TR" sz="2400" b="1" dirty="0">
                <a:latin typeface="Times New Roman" panose="02020603050405020304" pitchFamily="18" charset="0"/>
                <a:cs typeface="Times New Roman" panose="02020603050405020304" pitchFamily="18" charset="0"/>
              </a:rPr>
              <a:t> test kartı üzerinde homojen olmayan renk değişimi</a:t>
            </a:r>
          </a:p>
          <a:p>
            <a:r>
              <a:rPr lang="tr-TR" sz="2400" dirty="0">
                <a:latin typeface="Times New Roman" panose="02020603050405020304" pitchFamily="18" charset="0"/>
                <a:cs typeface="Times New Roman" panose="02020603050405020304" pitchFamily="18" charset="0"/>
              </a:rPr>
              <a:t>Vakum fonksiyonunun yetersizliği; cihazda hava kalması,</a:t>
            </a:r>
          </a:p>
          <a:p>
            <a:r>
              <a:rPr lang="tr-TR" sz="2400" dirty="0">
                <a:latin typeface="Times New Roman" panose="02020603050405020304" pitchFamily="18" charset="0"/>
                <a:cs typeface="Times New Roman" panose="02020603050405020304" pitchFamily="18" charset="0"/>
              </a:rPr>
              <a:t>Otoklav ortamında potansiyel bir sızıntının varlığı,</a:t>
            </a:r>
          </a:p>
          <a:p>
            <a:r>
              <a:rPr lang="tr-TR" sz="2400" dirty="0">
                <a:latin typeface="Times New Roman" panose="02020603050405020304" pitchFamily="18" charset="0"/>
                <a:cs typeface="Times New Roman" panose="02020603050405020304" pitchFamily="18" charset="0"/>
              </a:rPr>
              <a:t>Aşırı ısıtılmış buhar veya su damlacıkları içeren buharın varlığı,</a:t>
            </a:r>
          </a:p>
          <a:p>
            <a:r>
              <a:rPr lang="tr-TR" sz="2400" dirty="0">
                <a:latin typeface="Times New Roman" panose="02020603050405020304" pitchFamily="18" charset="0"/>
                <a:cs typeface="Times New Roman" panose="02020603050405020304" pitchFamily="18" charset="0"/>
              </a:rPr>
              <a:t>Yoğunlaşmayan gazların varlığı nedeniyledir.</a:t>
            </a:r>
            <a:endParaRPr lang="tr-TR" sz="2400" b="1" dirty="0">
              <a:latin typeface="Times New Roman" panose="02020603050405020304" pitchFamily="18" charset="0"/>
              <a:cs typeface="Times New Roman" panose="02020603050405020304" pitchFamily="18" charset="0"/>
            </a:endParaRP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29</a:t>
            </a:fld>
            <a:endParaRPr lang="tr-TR" dirty="0"/>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20194884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Autofit/>
          </a:bodyPr>
          <a:lstStyle/>
          <a:p>
            <a:pPr marL="0" indent="0">
              <a:lnSpc>
                <a:spcPct val="100000"/>
              </a:lnSpc>
              <a:buNone/>
            </a:pPr>
            <a:r>
              <a:rPr lang="tr-TR" sz="2400" b="1" dirty="0">
                <a:latin typeface="Times New Roman" panose="02020603050405020304" pitchFamily="18" charset="0"/>
                <a:cs typeface="Times New Roman" panose="02020603050405020304" pitchFamily="18" charset="0"/>
              </a:rPr>
              <a:t>Elektronik test sistemleri</a:t>
            </a:r>
          </a:p>
          <a:p>
            <a:pPr>
              <a:lnSpc>
                <a:spcPct val="100000"/>
              </a:lnSpc>
            </a:pPr>
            <a:r>
              <a:rPr lang="tr-TR" sz="2400" dirty="0">
                <a:latin typeface="Times New Roman" panose="02020603050405020304" pitchFamily="18" charset="0"/>
                <a:cs typeface="Times New Roman" panose="02020603050405020304" pitchFamily="18" charset="0"/>
              </a:rPr>
              <a:t>Buhar </a:t>
            </a:r>
            <a:r>
              <a:rPr lang="tr-TR" sz="2400" dirty="0" err="1">
                <a:latin typeface="Times New Roman" panose="02020603050405020304" pitchFamily="18" charset="0"/>
                <a:cs typeface="Times New Roman" panose="02020603050405020304" pitchFamily="18" charset="0"/>
              </a:rPr>
              <a:t>penetrasyonu</a:t>
            </a:r>
            <a:r>
              <a:rPr lang="tr-TR" sz="2400" dirty="0">
                <a:latin typeface="Times New Roman" panose="02020603050405020304" pitchFamily="18" charset="0"/>
                <a:cs typeface="Times New Roman" panose="02020603050405020304" pitchFamily="18" charset="0"/>
              </a:rPr>
              <a:t> (</a:t>
            </a:r>
            <a:r>
              <a:rPr lang="tr-TR" sz="2400" dirty="0" err="1">
                <a:latin typeface="Times New Roman" panose="02020603050405020304" pitchFamily="18" charset="0"/>
                <a:cs typeface="Times New Roman" panose="02020603050405020304" pitchFamily="18" charset="0"/>
              </a:rPr>
              <a:t>Bowie-Dick</a:t>
            </a:r>
            <a:r>
              <a:rPr lang="tr-TR" sz="2400" dirty="0">
                <a:latin typeface="Times New Roman" panose="02020603050405020304" pitchFamily="18" charset="0"/>
                <a:cs typeface="Times New Roman" panose="02020603050405020304" pitchFamily="18" charset="0"/>
              </a:rPr>
              <a:t>), vakum kaçağı, doymuş buhar, hava kalıntısı ile sıcaklık, zaman ve basınç parametrelerini test edebilen elektronik test sistemleri, sterilizasyon döngüsü sırasındaki fiziksel parametreleri de kaydedebilir. </a:t>
            </a:r>
          </a:p>
          <a:p>
            <a:pPr>
              <a:lnSpc>
                <a:spcPct val="100000"/>
              </a:lnSpc>
            </a:pPr>
            <a:r>
              <a:rPr lang="tr-TR" sz="2400" dirty="0">
                <a:latin typeface="Times New Roman" panose="02020603050405020304" pitchFamily="18" charset="0"/>
                <a:cs typeface="Times New Roman" panose="02020603050405020304" pitchFamily="18" charset="0"/>
              </a:rPr>
              <a:t>Bu test, her gün </a:t>
            </a:r>
            <a:r>
              <a:rPr lang="tr-TR" sz="2400" dirty="0" err="1">
                <a:latin typeface="Times New Roman" panose="02020603050405020304" pitchFamily="18" charset="0"/>
                <a:cs typeface="Times New Roman" panose="02020603050405020304" pitchFamily="18" charset="0"/>
              </a:rPr>
              <a:t>Bowie-Dick</a:t>
            </a:r>
            <a:r>
              <a:rPr lang="tr-TR" sz="2400" dirty="0">
                <a:latin typeface="Times New Roman" panose="02020603050405020304" pitchFamily="18" charset="0"/>
                <a:cs typeface="Times New Roman" panose="02020603050405020304" pitchFamily="18" charset="0"/>
              </a:rPr>
              <a:t> test programı çalıştırılarak kullanıldığında ayrıca </a:t>
            </a:r>
            <a:r>
              <a:rPr lang="tr-TR" sz="2400" dirty="0" err="1">
                <a:latin typeface="Times New Roman" panose="02020603050405020304" pitchFamily="18" charset="0"/>
                <a:cs typeface="Times New Roman" panose="02020603050405020304" pitchFamily="18" charset="0"/>
              </a:rPr>
              <a:t>Bowie-Dick</a:t>
            </a:r>
            <a:r>
              <a:rPr lang="tr-TR" sz="2400" dirty="0">
                <a:latin typeface="Times New Roman" panose="02020603050405020304" pitchFamily="18" charset="0"/>
                <a:cs typeface="Times New Roman" panose="02020603050405020304" pitchFamily="18" charset="0"/>
              </a:rPr>
              <a:t> testi kullanılmasına gerek yoktur.</a:t>
            </a:r>
          </a:p>
          <a:p>
            <a:pPr>
              <a:lnSpc>
                <a:spcPct val="100000"/>
              </a:lnSpc>
            </a:pPr>
            <a:r>
              <a:rPr lang="tr-TR" sz="2400" dirty="0">
                <a:latin typeface="Times New Roman" panose="02020603050405020304" pitchFamily="18" charset="0"/>
                <a:cs typeface="Times New Roman" panose="02020603050405020304" pitchFamily="18" charset="0"/>
              </a:rPr>
              <a:t>Kalibrasyon amaçlı kullanılamaz ancak yeterlilik testlerinde kullanıma uygun modeller mevcuttur.</a:t>
            </a:r>
            <a:endParaRPr lang="tr-TR" sz="2400" b="1" dirty="0">
              <a:latin typeface="Times New Roman" panose="02020603050405020304" pitchFamily="18" charset="0"/>
              <a:cs typeface="Times New Roman" panose="02020603050405020304" pitchFamily="18" charset="0"/>
            </a:endParaRP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30</a:t>
            </a:fld>
            <a:endParaRPr lang="tr-TR" dirty="0"/>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27828499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Autofit/>
          </a:bodyPr>
          <a:lstStyle/>
          <a:p>
            <a:pPr marL="0" indent="0">
              <a:buNone/>
            </a:pPr>
            <a:r>
              <a:rPr lang="tr-TR" sz="2400" b="1" dirty="0">
                <a:latin typeface="Times New Roman" panose="02020603050405020304" pitchFamily="18" charset="0"/>
                <a:cs typeface="Times New Roman" panose="02020603050405020304" pitchFamily="18" charset="0"/>
              </a:rPr>
              <a:t>Kimyasal kontrol</a:t>
            </a:r>
          </a:p>
          <a:p>
            <a:pPr marL="0" indent="0">
              <a:buNone/>
            </a:pPr>
            <a:r>
              <a:rPr lang="tr-TR" sz="2000" b="1" dirty="0">
                <a:latin typeface="Times New Roman" panose="02020603050405020304" pitchFamily="18" charset="0"/>
                <a:cs typeface="Times New Roman" panose="02020603050405020304" pitchFamily="18" charset="0"/>
              </a:rPr>
              <a:t>Kimyasal indikatörler-1</a:t>
            </a:r>
          </a:p>
          <a:p>
            <a:pPr marL="0" indent="0">
              <a:lnSpc>
                <a:spcPct val="150000"/>
              </a:lnSpc>
              <a:buNone/>
            </a:pPr>
            <a:r>
              <a:rPr lang="tr-TR" sz="2000" dirty="0">
                <a:latin typeface="Times New Roman" panose="02020603050405020304" pitchFamily="18" charset="0"/>
                <a:cs typeface="Times New Roman" panose="02020603050405020304" pitchFamily="18" charset="0"/>
              </a:rPr>
              <a:t>Paketin yerleştirildiği yerde maruz kaldığı belli sterilizasyon koşullarını gösterir. Ancak kimyasal indikatörler belirli bir sıcaklık-zaman aralığında çalışmak üzere üretilmişlerdir ve bu aralıklar dışında asla doğru çalışmazlar. </a:t>
            </a:r>
            <a:r>
              <a:rPr lang="tr-TR" sz="2000" dirty="0" err="1">
                <a:latin typeface="Times New Roman" panose="02020603050405020304" pitchFamily="18" charset="0"/>
                <a:cs typeface="Times New Roman" panose="02020603050405020304" pitchFamily="18" charset="0"/>
              </a:rPr>
              <a:t>Örn</a:t>
            </a:r>
            <a:r>
              <a:rPr lang="tr-TR" sz="2000" dirty="0">
                <a:latin typeface="Times New Roman" panose="02020603050405020304" pitchFamily="18" charset="0"/>
                <a:cs typeface="Times New Roman" panose="02020603050405020304" pitchFamily="18" charset="0"/>
              </a:rPr>
              <a:t>, sıcaklık önerilen aralığın üzerindeyse paket içerisinde bölgesel aşırı ısınma nedeniyle indikatör beklenenden daha önce renk değiştirecektir. Oysa yeterli nem olmaksızın yüksek sıcaklıkta </a:t>
            </a:r>
            <a:r>
              <a:rPr lang="tr-TR" sz="2000" dirty="0" err="1">
                <a:latin typeface="Times New Roman" panose="02020603050405020304" pitchFamily="18" charset="0"/>
                <a:cs typeface="Times New Roman" panose="02020603050405020304" pitchFamily="18" charset="0"/>
              </a:rPr>
              <a:t>mikrobiyal</a:t>
            </a:r>
            <a:r>
              <a:rPr lang="tr-TR" sz="2000" dirty="0">
                <a:latin typeface="Times New Roman" panose="02020603050405020304" pitchFamily="18" charset="0"/>
                <a:cs typeface="Times New Roman" panose="02020603050405020304" pitchFamily="18" charset="0"/>
              </a:rPr>
              <a:t> ölüm çok daha yavaş olacaktır.</a:t>
            </a: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31</a:t>
            </a:fld>
            <a:endParaRPr lang="tr-TR" dirty="0"/>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30230326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Autofit/>
          </a:bodyPr>
          <a:lstStyle/>
          <a:p>
            <a:pPr marL="0" indent="0">
              <a:buNone/>
            </a:pPr>
            <a:r>
              <a:rPr lang="tr-TR" sz="2400" b="1" dirty="0">
                <a:latin typeface="Times New Roman" panose="02020603050405020304" pitchFamily="18" charset="0"/>
                <a:cs typeface="Times New Roman" panose="02020603050405020304" pitchFamily="18" charset="0"/>
              </a:rPr>
              <a:t>Kimyasal kontrol</a:t>
            </a:r>
          </a:p>
          <a:p>
            <a:pPr marL="0" indent="0">
              <a:buNone/>
            </a:pPr>
            <a:r>
              <a:rPr lang="tr-TR" sz="2000" b="1" dirty="0">
                <a:latin typeface="Times New Roman" panose="02020603050405020304" pitchFamily="18" charset="0"/>
                <a:cs typeface="Times New Roman" panose="02020603050405020304" pitchFamily="18" charset="0"/>
              </a:rPr>
              <a:t>Kimyasal indikatörler-2</a:t>
            </a:r>
          </a:p>
          <a:p>
            <a:r>
              <a:rPr lang="tr-TR" sz="2000" dirty="0">
                <a:latin typeface="Times New Roman" panose="02020603050405020304" pitchFamily="18" charset="0"/>
                <a:cs typeface="Times New Roman" panose="02020603050405020304" pitchFamily="18" charset="0"/>
              </a:rPr>
              <a:t>Kimyasal indikatörlerin sağlayacağı bilginin değeri indikatörün sınıfına, sayısına ve </a:t>
            </a:r>
            <a:r>
              <a:rPr lang="tr-TR" sz="2000" dirty="0" err="1">
                <a:latin typeface="Times New Roman" panose="02020603050405020304" pitchFamily="18" charset="0"/>
                <a:cs typeface="Times New Roman" panose="02020603050405020304" pitchFamily="18" charset="0"/>
              </a:rPr>
              <a:t>sterilizatör</a:t>
            </a:r>
            <a:r>
              <a:rPr lang="tr-TR" sz="2000" dirty="0">
                <a:latin typeface="Times New Roman" panose="02020603050405020304" pitchFamily="18" charset="0"/>
                <a:cs typeface="Times New Roman" panose="02020603050405020304" pitchFamily="18" charset="0"/>
              </a:rPr>
              <a:t> içindeki yerine bağlıdır. Bu indikatörler işlem </a:t>
            </a:r>
            <a:r>
              <a:rPr lang="tr-TR" sz="2000" dirty="0" err="1">
                <a:latin typeface="Times New Roman" panose="02020603050405020304" pitchFamily="18" charset="0"/>
                <a:cs typeface="Times New Roman" panose="02020603050405020304" pitchFamily="18" charset="0"/>
              </a:rPr>
              <a:t>validasyonu</a:t>
            </a:r>
            <a:r>
              <a:rPr lang="tr-TR" sz="2000" dirty="0">
                <a:latin typeface="Times New Roman" panose="02020603050405020304" pitchFamily="18" charset="0"/>
                <a:cs typeface="Times New Roman" panose="02020603050405020304" pitchFamily="18" charset="0"/>
              </a:rPr>
              <a:t> sırasında tespit edilen ve </a:t>
            </a:r>
            <a:r>
              <a:rPr lang="tr-TR" sz="2000" dirty="0" err="1">
                <a:latin typeface="Times New Roman" panose="02020603050405020304" pitchFamily="18" charset="0"/>
                <a:cs typeface="Times New Roman" panose="02020603050405020304" pitchFamily="18" charset="0"/>
              </a:rPr>
              <a:t>sterilizatörün</a:t>
            </a:r>
            <a:r>
              <a:rPr lang="tr-TR" sz="2000" dirty="0">
                <a:latin typeface="Times New Roman" panose="02020603050405020304" pitchFamily="18" charset="0"/>
                <a:cs typeface="Times New Roman" panose="02020603050405020304" pitchFamily="18" charset="0"/>
              </a:rPr>
              <a:t> tamamını temsil edebilecek özellikteki bölgelere yerleştirilmelidir.</a:t>
            </a:r>
          </a:p>
          <a:p>
            <a:r>
              <a:rPr lang="tr-TR" sz="2000" dirty="0">
                <a:latin typeface="Times New Roman" panose="02020603050405020304" pitchFamily="18" charset="0"/>
                <a:cs typeface="Times New Roman" panose="02020603050405020304" pitchFamily="18" charset="0"/>
              </a:rPr>
              <a:t>Bir kimyasal indikatörde çevrim sonrasında gerekli renk değişimi olmadıysa asla bu durum indikatörün çalışmadığı şeklinde yorumlanmamalı, mutlaka sterilizasyon sürecinde hata olarak değerlendirilmeli ve muhtemel problemler açısından tekrar gözden geçirilmelidir.</a:t>
            </a: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32</a:t>
            </a:fld>
            <a:endParaRPr lang="tr-TR" dirty="0"/>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21577935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Autofit/>
          </a:bodyPr>
          <a:lstStyle/>
          <a:p>
            <a:pPr marL="0" indent="0">
              <a:buNone/>
            </a:pPr>
            <a:r>
              <a:rPr lang="tr-TR" sz="2400" b="1" dirty="0">
                <a:latin typeface="Times New Roman" panose="02020603050405020304" pitchFamily="18" charset="0"/>
                <a:cs typeface="Times New Roman" panose="02020603050405020304" pitchFamily="18" charset="0"/>
              </a:rPr>
              <a:t>Kimyasal kontrol</a:t>
            </a:r>
          </a:p>
          <a:p>
            <a:pPr marL="0" indent="0">
              <a:buNone/>
            </a:pPr>
            <a:r>
              <a:rPr lang="tr-TR" sz="2000" b="1" dirty="0">
                <a:latin typeface="Times New Roman" panose="02020603050405020304" pitchFamily="18" charset="0"/>
                <a:cs typeface="Times New Roman" panose="02020603050405020304" pitchFamily="18" charset="0"/>
              </a:rPr>
              <a:t>Kimyasal indikatörler-3</a:t>
            </a:r>
          </a:p>
          <a:p>
            <a:pPr marL="0" indent="0">
              <a:buNone/>
            </a:pPr>
            <a:r>
              <a:rPr lang="tr-TR" sz="2000" dirty="0">
                <a:latin typeface="Times New Roman" panose="02020603050405020304" pitchFamily="18" charset="0"/>
                <a:cs typeface="Times New Roman" panose="02020603050405020304" pitchFamily="18" charset="0"/>
              </a:rPr>
              <a:t>● </a:t>
            </a:r>
            <a:r>
              <a:rPr lang="tr-TR" sz="2000" dirty="0" err="1">
                <a:latin typeface="Times New Roman" panose="02020603050405020304" pitchFamily="18" charset="0"/>
                <a:cs typeface="Times New Roman" panose="02020603050405020304" pitchFamily="18" charset="0"/>
              </a:rPr>
              <a:t>Sterilizatörün</a:t>
            </a:r>
            <a:r>
              <a:rPr lang="tr-TR" sz="2000" dirty="0">
                <a:latin typeface="Times New Roman" panose="02020603050405020304" pitchFamily="18" charset="0"/>
                <a:cs typeface="Times New Roman" panose="02020603050405020304" pitchFamily="18" charset="0"/>
              </a:rPr>
              <a:t> belirlenmiş değerlere ulaşmasını engelleyen bir arızası var mı?</a:t>
            </a:r>
          </a:p>
          <a:p>
            <a:pPr marL="0" indent="0">
              <a:buNone/>
            </a:pPr>
            <a:r>
              <a:rPr lang="tr-TR" sz="2000" dirty="0">
                <a:latin typeface="Times New Roman" panose="02020603050405020304" pitchFamily="18" charset="0"/>
                <a:cs typeface="Times New Roman" panose="02020603050405020304" pitchFamily="18" charset="0"/>
              </a:rPr>
              <a:t>● Paketleme malzemesinde bir değişiklik var mı?</a:t>
            </a:r>
          </a:p>
          <a:p>
            <a:pPr marL="0" indent="0">
              <a:buNone/>
            </a:pPr>
            <a:r>
              <a:rPr lang="tr-TR" sz="2000" dirty="0">
                <a:latin typeface="Times New Roman" panose="02020603050405020304" pitchFamily="18" charset="0"/>
                <a:cs typeface="Times New Roman" panose="02020603050405020304" pitchFamily="18" charset="0"/>
              </a:rPr>
              <a:t>● Paket içindeki malzeme miktarında değişiklik var mı?</a:t>
            </a:r>
          </a:p>
          <a:p>
            <a:pPr marL="0" indent="0">
              <a:buNone/>
            </a:pPr>
            <a:r>
              <a:rPr lang="tr-TR" sz="2000" dirty="0">
                <a:latin typeface="Times New Roman" panose="02020603050405020304" pitchFamily="18" charset="0"/>
                <a:cs typeface="Times New Roman" panose="02020603050405020304" pitchFamily="18" charset="0"/>
              </a:rPr>
              <a:t>● </a:t>
            </a:r>
            <a:r>
              <a:rPr lang="tr-TR" sz="2000" dirty="0" err="1">
                <a:latin typeface="Times New Roman" panose="02020603050405020304" pitchFamily="18" charset="0"/>
                <a:cs typeface="Times New Roman" panose="02020603050405020304" pitchFamily="18" charset="0"/>
              </a:rPr>
              <a:t>Sterilizatörün</a:t>
            </a:r>
            <a:r>
              <a:rPr lang="tr-TR" sz="2000" dirty="0">
                <a:latin typeface="Times New Roman" panose="02020603050405020304" pitchFamily="18" charset="0"/>
                <a:cs typeface="Times New Roman" panose="02020603050405020304" pitchFamily="18" charset="0"/>
              </a:rPr>
              <a:t> rutin bakım ve kalibrasyonu uygun şekilde ve zamanında yapıldı</a:t>
            </a:r>
          </a:p>
          <a:p>
            <a:pPr marL="0" indent="0">
              <a:buNone/>
            </a:pPr>
            <a:r>
              <a:rPr lang="tr-TR" sz="2000" dirty="0">
                <a:latin typeface="Times New Roman" panose="02020603050405020304" pitchFamily="18" charset="0"/>
                <a:cs typeface="Times New Roman" panose="02020603050405020304" pitchFamily="18" charset="0"/>
              </a:rPr>
              <a:t>mı?</a:t>
            </a:r>
          </a:p>
          <a:p>
            <a:pPr marL="0" indent="0">
              <a:buNone/>
            </a:pPr>
            <a:r>
              <a:rPr lang="tr-TR" sz="2000" dirty="0">
                <a:latin typeface="Times New Roman" panose="02020603050405020304" pitchFamily="18" charset="0"/>
                <a:cs typeface="Times New Roman" panose="02020603050405020304" pitchFamily="18" charset="0"/>
              </a:rPr>
              <a:t>● Doğru sterilizasyon programı kullanıldı mı?</a:t>
            </a:r>
          </a:p>
          <a:p>
            <a:pPr marL="0" indent="0">
              <a:buNone/>
            </a:pPr>
            <a:r>
              <a:rPr lang="tr-TR" sz="2000" dirty="0">
                <a:latin typeface="Times New Roman" panose="02020603050405020304" pitchFamily="18" charset="0"/>
                <a:cs typeface="Times New Roman" panose="02020603050405020304" pitchFamily="18" charset="0"/>
              </a:rPr>
              <a:t>● Kimyasal indikatör üretici firmanın önerisine göre kullanıldı mı?</a:t>
            </a:r>
          </a:p>
          <a:p>
            <a:pPr marL="0" indent="0">
              <a:buNone/>
            </a:pPr>
            <a:r>
              <a:rPr lang="tr-TR" sz="2000" dirty="0">
                <a:latin typeface="Times New Roman" panose="02020603050405020304" pitchFamily="18" charset="0"/>
                <a:cs typeface="Times New Roman" panose="02020603050405020304" pitchFamily="18" charset="0"/>
              </a:rPr>
              <a:t>● </a:t>
            </a:r>
            <a:r>
              <a:rPr lang="tr-TR" sz="2000" dirty="0" err="1">
                <a:latin typeface="Times New Roman" panose="02020603050405020304" pitchFamily="18" charset="0"/>
                <a:cs typeface="Times New Roman" panose="02020603050405020304" pitchFamily="18" charset="0"/>
              </a:rPr>
              <a:t>Sterilizatörün</a:t>
            </a:r>
            <a:r>
              <a:rPr lang="tr-TR" sz="2000" dirty="0">
                <a:latin typeface="Times New Roman" panose="02020603050405020304" pitchFamily="18" charset="0"/>
                <a:cs typeface="Times New Roman" panose="02020603050405020304" pitchFamily="18" charset="0"/>
              </a:rPr>
              <a:t> çevrimini etkileyebilecek harici bir problem var mı? (Buhar basıncı,</a:t>
            </a:r>
          </a:p>
          <a:p>
            <a:pPr marL="0" indent="0">
              <a:buNone/>
            </a:pPr>
            <a:r>
              <a:rPr lang="tr-TR" sz="2000" dirty="0">
                <a:latin typeface="Times New Roman" panose="02020603050405020304" pitchFamily="18" charset="0"/>
                <a:cs typeface="Times New Roman" panose="02020603050405020304" pitchFamily="18" charset="0"/>
              </a:rPr>
              <a:t>akım hızı ve içerdiği yoğunlaşmamış gazlar gibi.)</a:t>
            </a: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33</a:t>
            </a:fld>
            <a:endParaRPr lang="tr-TR" dirty="0"/>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25917217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Autofit/>
          </a:bodyPr>
          <a:lstStyle/>
          <a:p>
            <a:pPr marL="0" indent="0">
              <a:buNone/>
            </a:pPr>
            <a:r>
              <a:rPr lang="tr-TR" sz="2400" b="1" dirty="0">
                <a:latin typeface="Times New Roman" panose="02020603050405020304" pitchFamily="18" charset="0"/>
                <a:cs typeface="Times New Roman" panose="02020603050405020304" pitchFamily="18" charset="0"/>
              </a:rPr>
              <a:t>Kimyasal kontrol</a:t>
            </a:r>
          </a:p>
          <a:p>
            <a:pPr marL="0" indent="0">
              <a:buNone/>
            </a:pPr>
            <a:endParaRPr lang="tr-TR" sz="2400" b="1" dirty="0">
              <a:latin typeface="Times New Roman" panose="02020603050405020304" pitchFamily="18" charset="0"/>
              <a:cs typeface="Times New Roman" panose="02020603050405020304" pitchFamily="18" charset="0"/>
            </a:endParaRPr>
          </a:p>
          <a:p>
            <a:pPr marL="0" indent="0">
              <a:buNone/>
            </a:pPr>
            <a:r>
              <a:rPr lang="tr-TR" sz="2000" b="1" dirty="0">
                <a:latin typeface="Times New Roman" panose="02020603050405020304" pitchFamily="18" charset="0"/>
                <a:cs typeface="Times New Roman" panose="02020603050405020304" pitchFamily="18" charset="0"/>
              </a:rPr>
              <a:t>Kimyasal indikatörlerin sınıflandırılması-1</a:t>
            </a:r>
          </a:p>
          <a:p>
            <a:pPr marL="0" indent="0">
              <a:buNone/>
            </a:pPr>
            <a:r>
              <a:rPr lang="tr-TR" sz="2000" dirty="0">
                <a:latin typeface="Times New Roman" panose="02020603050405020304" pitchFamily="18" charset="0"/>
                <a:cs typeface="Times New Roman" panose="02020603050405020304" pitchFamily="18" charset="0"/>
              </a:rPr>
              <a:t>Kimyasal indikatörler ISO-11140 standartlarına göre 6 kategoride incelenir:</a:t>
            </a:r>
          </a:p>
          <a:p>
            <a:pPr marL="0" indent="0">
              <a:buNone/>
            </a:pPr>
            <a:r>
              <a:rPr lang="tr-TR" sz="2000" b="1" dirty="0">
                <a:latin typeface="Times New Roman" panose="02020603050405020304" pitchFamily="18" charset="0"/>
                <a:cs typeface="Times New Roman" panose="02020603050405020304" pitchFamily="18" charset="0"/>
              </a:rPr>
              <a:t>Tip I İşlem indikatörleri: </a:t>
            </a:r>
            <a:r>
              <a:rPr lang="tr-TR" sz="2000" dirty="0">
                <a:latin typeface="Times New Roman" panose="02020603050405020304" pitchFamily="18" charset="0"/>
                <a:cs typeface="Times New Roman" panose="02020603050405020304" pitchFamily="18" charset="0"/>
              </a:rPr>
              <a:t>işleme girmiş ve girmemiş ürünleri birbirinden ayırt etmek için</a:t>
            </a:r>
          </a:p>
          <a:p>
            <a:pPr marL="0" indent="0">
              <a:buNone/>
            </a:pPr>
            <a:r>
              <a:rPr lang="tr-TR" sz="2000" dirty="0">
                <a:latin typeface="Times New Roman" panose="02020603050405020304" pitchFamily="18" charset="0"/>
                <a:cs typeface="Times New Roman" panose="02020603050405020304" pitchFamily="18" charset="0"/>
              </a:rPr>
              <a:t>kullanılır ve paketin dış kısmına uygulanır (</a:t>
            </a:r>
            <a:r>
              <a:rPr lang="tr-TR" sz="2000" dirty="0" err="1">
                <a:latin typeface="Times New Roman" panose="02020603050405020304" pitchFamily="18" charset="0"/>
                <a:cs typeface="Times New Roman" panose="02020603050405020304" pitchFamily="18" charset="0"/>
              </a:rPr>
              <a:t>Maruziyet</a:t>
            </a:r>
            <a:r>
              <a:rPr lang="tr-TR" sz="2000" dirty="0">
                <a:latin typeface="Times New Roman" panose="02020603050405020304" pitchFamily="18" charset="0"/>
                <a:cs typeface="Times New Roman" panose="02020603050405020304" pitchFamily="18" charset="0"/>
              </a:rPr>
              <a:t> bantları-</a:t>
            </a:r>
            <a:r>
              <a:rPr lang="tr-TR" sz="2000" dirty="0" err="1">
                <a:latin typeface="Times New Roman" panose="02020603050405020304" pitchFamily="18" charset="0"/>
                <a:cs typeface="Times New Roman" panose="02020603050405020304" pitchFamily="18" charset="0"/>
              </a:rPr>
              <a:t>İndikatörlü</a:t>
            </a:r>
            <a:r>
              <a:rPr lang="tr-TR" sz="2000" dirty="0">
                <a:latin typeface="Times New Roman" panose="02020603050405020304" pitchFamily="18" charset="0"/>
                <a:cs typeface="Times New Roman" panose="02020603050405020304" pitchFamily="18" charset="0"/>
              </a:rPr>
              <a:t> etiketler).</a:t>
            </a:r>
          </a:p>
          <a:p>
            <a:pPr marL="0" indent="0">
              <a:buNone/>
            </a:pPr>
            <a:r>
              <a:rPr lang="tr-TR" sz="2000" dirty="0">
                <a:latin typeface="Times New Roman" panose="02020603050405020304" pitchFamily="18" charset="0"/>
                <a:cs typeface="Times New Roman" panose="02020603050405020304" pitchFamily="18" charset="0"/>
              </a:rPr>
              <a:t>Sterilizasyon etkinliği hakkında bilgi vermezler.</a:t>
            </a:r>
          </a:p>
          <a:p>
            <a:pPr marL="0" indent="0">
              <a:buNone/>
            </a:pPr>
            <a:r>
              <a:rPr lang="tr-TR" sz="2000" b="1" dirty="0">
                <a:latin typeface="Times New Roman" panose="02020603050405020304" pitchFamily="18" charset="0"/>
                <a:cs typeface="Times New Roman" panose="02020603050405020304" pitchFamily="18" charset="0"/>
              </a:rPr>
              <a:t>Tip II Spesifik testlerde kullanılan indikatörler: </a:t>
            </a:r>
            <a:r>
              <a:rPr lang="tr-TR" sz="2000" dirty="0" err="1">
                <a:latin typeface="Times New Roman" panose="02020603050405020304" pitchFamily="18" charset="0"/>
                <a:cs typeface="Times New Roman" panose="02020603050405020304" pitchFamily="18" charset="0"/>
              </a:rPr>
              <a:t>Bowie-Dick</a:t>
            </a:r>
            <a:r>
              <a:rPr lang="tr-TR" sz="2000" dirty="0">
                <a:latin typeface="Times New Roman" panose="02020603050405020304" pitchFamily="18" charset="0"/>
                <a:cs typeface="Times New Roman" panose="02020603050405020304" pitchFamily="18" charset="0"/>
              </a:rPr>
              <a:t> test ile ilgili spesifik testleri</a:t>
            </a:r>
          </a:p>
          <a:p>
            <a:pPr marL="0" indent="0">
              <a:buNone/>
            </a:pPr>
            <a:r>
              <a:rPr lang="tr-TR" sz="2000" dirty="0">
                <a:latin typeface="Times New Roman" panose="02020603050405020304" pitchFamily="18" charset="0"/>
                <a:cs typeface="Times New Roman" panose="02020603050405020304" pitchFamily="18" charset="0"/>
              </a:rPr>
              <a:t>Tanımlar.</a:t>
            </a: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34</a:t>
            </a:fld>
            <a:endParaRPr lang="tr-TR" dirty="0"/>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3022352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Autofit/>
          </a:bodyPr>
          <a:lstStyle/>
          <a:p>
            <a:pPr marL="0" indent="0">
              <a:buNone/>
            </a:pPr>
            <a:r>
              <a:rPr lang="tr-TR" sz="2400" b="1" dirty="0">
                <a:latin typeface="Times New Roman" panose="02020603050405020304" pitchFamily="18" charset="0"/>
                <a:cs typeface="Times New Roman" panose="02020603050405020304" pitchFamily="18" charset="0"/>
              </a:rPr>
              <a:t>Kimyasal kontrol</a:t>
            </a:r>
          </a:p>
          <a:p>
            <a:pPr marL="0" indent="0">
              <a:buNone/>
            </a:pPr>
            <a:endParaRPr lang="tr-TR" sz="2400" b="1" dirty="0">
              <a:latin typeface="Times New Roman" panose="02020603050405020304" pitchFamily="18" charset="0"/>
              <a:cs typeface="Times New Roman" panose="02020603050405020304" pitchFamily="18" charset="0"/>
            </a:endParaRPr>
          </a:p>
          <a:p>
            <a:pPr marL="0" indent="0">
              <a:buNone/>
            </a:pPr>
            <a:r>
              <a:rPr lang="tr-TR" sz="2000" b="1" dirty="0">
                <a:latin typeface="Times New Roman" panose="02020603050405020304" pitchFamily="18" charset="0"/>
                <a:cs typeface="Times New Roman" panose="02020603050405020304" pitchFamily="18" charset="0"/>
              </a:rPr>
              <a:t>Kimyasal indikatörlerin sınıflandırılması-2</a:t>
            </a:r>
          </a:p>
          <a:p>
            <a:pPr marL="0" indent="0">
              <a:buNone/>
            </a:pPr>
            <a:r>
              <a:rPr lang="tr-TR" sz="2000" b="1" dirty="0">
                <a:latin typeface="Times New Roman" panose="02020603050405020304" pitchFamily="18" charset="0"/>
                <a:cs typeface="Times New Roman" panose="02020603050405020304" pitchFamily="18" charset="0"/>
              </a:rPr>
              <a:t>Tip III Tek değişkenli indikatörler: </a:t>
            </a:r>
            <a:r>
              <a:rPr lang="tr-TR" sz="2000" dirty="0">
                <a:latin typeface="Times New Roman" panose="02020603050405020304" pitchFamily="18" charset="0"/>
                <a:cs typeface="Times New Roman" panose="02020603050405020304" pitchFamily="18" charset="0"/>
              </a:rPr>
              <a:t>Sterilizasyon sürecinin sıcaklık ya da zaman gibi tek</a:t>
            </a:r>
          </a:p>
          <a:p>
            <a:pPr marL="0" indent="0">
              <a:buNone/>
            </a:pPr>
            <a:r>
              <a:rPr lang="tr-TR" sz="2000" dirty="0">
                <a:latin typeface="Times New Roman" panose="02020603050405020304" pitchFamily="18" charset="0"/>
                <a:cs typeface="Times New Roman" panose="02020603050405020304" pitchFamily="18" charset="0"/>
              </a:rPr>
              <a:t>parametresini </a:t>
            </a:r>
            <a:r>
              <a:rPr lang="tr-TR" sz="2000" dirty="0" err="1">
                <a:latin typeface="Times New Roman" panose="02020603050405020304" pitchFamily="18" charset="0"/>
                <a:cs typeface="Times New Roman" panose="02020603050405020304" pitchFamily="18" charset="0"/>
              </a:rPr>
              <a:t>monitörize</a:t>
            </a:r>
            <a:r>
              <a:rPr lang="tr-TR" sz="2000" dirty="0">
                <a:latin typeface="Times New Roman" panose="02020603050405020304" pitchFamily="18" charset="0"/>
                <a:cs typeface="Times New Roman" panose="02020603050405020304" pitchFamily="18" charset="0"/>
              </a:rPr>
              <a:t> eden indikatörlerdir.</a:t>
            </a:r>
          </a:p>
          <a:p>
            <a:pPr marL="0" indent="0">
              <a:buNone/>
            </a:pPr>
            <a:r>
              <a:rPr lang="tr-TR" sz="2000" b="1" dirty="0">
                <a:latin typeface="Times New Roman" panose="02020603050405020304" pitchFamily="18" charset="0"/>
                <a:cs typeface="Times New Roman" panose="02020603050405020304" pitchFamily="18" charset="0"/>
              </a:rPr>
              <a:t>Tip IV Çok değişkenli indikatörler: </a:t>
            </a:r>
            <a:r>
              <a:rPr lang="tr-TR" sz="2000" dirty="0">
                <a:latin typeface="Times New Roman" panose="02020603050405020304" pitchFamily="18" charset="0"/>
                <a:cs typeface="Times New Roman" panose="02020603050405020304" pitchFamily="18" charset="0"/>
              </a:rPr>
              <a:t>Sıcaklık/süre, süre/buhar kalitesi, süre/buhar kalitesi/</a:t>
            </a:r>
          </a:p>
          <a:p>
            <a:pPr marL="0" indent="0">
              <a:buNone/>
            </a:pPr>
            <a:r>
              <a:rPr lang="tr-TR" sz="2000" dirty="0">
                <a:latin typeface="Times New Roman" panose="02020603050405020304" pitchFamily="18" charset="0"/>
                <a:cs typeface="Times New Roman" panose="02020603050405020304" pitchFamily="18" charset="0"/>
              </a:rPr>
              <a:t>sıcaklık gibi birden fazla parametreyi </a:t>
            </a:r>
            <a:r>
              <a:rPr lang="tr-TR" sz="2000" dirty="0" err="1">
                <a:latin typeface="Times New Roman" panose="02020603050405020304" pitchFamily="18" charset="0"/>
                <a:cs typeface="Times New Roman" panose="02020603050405020304" pitchFamily="18" charset="0"/>
              </a:rPr>
              <a:t>monitörize</a:t>
            </a:r>
            <a:r>
              <a:rPr lang="tr-TR" sz="2000" dirty="0">
                <a:latin typeface="Times New Roman" panose="02020603050405020304" pitchFamily="18" charset="0"/>
                <a:cs typeface="Times New Roman" panose="02020603050405020304" pitchFamily="18" charset="0"/>
              </a:rPr>
              <a:t> edebilen ve sıcaklıktaki 2°C’lik düşüşü</a:t>
            </a:r>
          </a:p>
          <a:p>
            <a:pPr marL="0" indent="0">
              <a:buNone/>
            </a:pPr>
            <a:r>
              <a:rPr lang="tr-TR" sz="2000" dirty="0">
                <a:latin typeface="Times New Roman" panose="02020603050405020304" pitchFamily="18" charset="0"/>
                <a:cs typeface="Times New Roman" panose="02020603050405020304" pitchFamily="18" charset="0"/>
              </a:rPr>
              <a:t>ve test edilen parametredeki %0-25 farklılığı gösterebilen indikatörlerdir.</a:t>
            </a: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35</a:t>
            </a:fld>
            <a:endParaRPr lang="tr-TR" dirty="0"/>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36093224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Autofit/>
          </a:bodyPr>
          <a:lstStyle/>
          <a:p>
            <a:pPr marL="0" indent="0">
              <a:buNone/>
            </a:pPr>
            <a:r>
              <a:rPr lang="tr-TR" sz="2400" b="1" dirty="0">
                <a:latin typeface="Times New Roman" panose="02020603050405020304" pitchFamily="18" charset="0"/>
                <a:cs typeface="Times New Roman" panose="02020603050405020304" pitchFamily="18" charset="0"/>
              </a:rPr>
              <a:t>Kimyasal kontrol</a:t>
            </a:r>
          </a:p>
          <a:p>
            <a:pPr marL="0" indent="0">
              <a:buNone/>
            </a:pPr>
            <a:endParaRPr lang="tr-TR" sz="2400" b="1" dirty="0">
              <a:latin typeface="Times New Roman" panose="02020603050405020304" pitchFamily="18" charset="0"/>
              <a:cs typeface="Times New Roman" panose="02020603050405020304" pitchFamily="18" charset="0"/>
            </a:endParaRPr>
          </a:p>
          <a:p>
            <a:pPr marL="0" indent="0">
              <a:buNone/>
            </a:pPr>
            <a:r>
              <a:rPr lang="tr-TR" sz="2000" b="1" dirty="0">
                <a:latin typeface="Times New Roman" panose="02020603050405020304" pitchFamily="18" charset="0"/>
                <a:cs typeface="Times New Roman" panose="02020603050405020304" pitchFamily="18" charset="0"/>
              </a:rPr>
              <a:t>Kimyasal indikatörlerin sınıflandırılması-3</a:t>
            </a:r>
          </a:p>
          <a:p>
            <a:pPr marL="0" indent="0">
              <a:buNone/>
            </a:pPr>
            <a:r>
              <a:rPr lang="tr-TR" sz="2000" b="1" dirty="0">
                <a:latin typeface="Times New Roman" panose="02020603050405020304" pitchFamily="18" charset="0"/>
                <a:cs typeface="Times New Roman" panose="02020603050405020304" pitchFamily="18" charset="0"/>
              </a:rPr>
              <a:t>Tip V </a:t>
            </a:r>
            <a:r>
              <a:rPr lang="tr-TR" sz="2000" b="1" dirty="0" err="1">
                <a:latin typeface="Times New Roman" panose="02020603050405020304" pitchFamily="18" charset="0"/>
                <a:cs typeface="Times New Roman" panose="02020603050405020304" pitchFamily="18" charset="0"/>
              </a:rPr>
              <a:t>Entegratörler</a:t>
            </a:r>
            <a:r>
              <a:rPr lang="tr-TR" sz="2000" b="1" dirty="0">
                <a:latin typeface="Times New Roman" panose="02020603050405020304" pitchFamily="18" charset="0"/>
                <a:cs typeface="Times New Roman" panose="02020603050405020304" pitchFamily="18" charset="0"/>
              </a:rPr>
              <a:t> </a:t>
            </a:r>
            <a:r>
              <a:rPr lang="tr-TR" sz="2000" dirty="0">
                <a:latin typeface="Times New Roman" panose="02020603050405020304" pitchFamily="18" charset="0"/>
                <a:cs typeface="Times New Roman" panose="02020603050405020304" pitchFamily="18" charset="0"/>
              </a:rPr>
              <a:t>Çok parametreli indikatörlere göre daha dar aralığı </a:t>
            </a:r>
            <a:r>
              <a:rPr lang="tr-TR" sz="2000" dirty="0" err="1">
                <a:latin typeface="Times New Roman" panose="02020603050405020304" pitchFamily="18" charset="0"/>
                <a:cs typeface="Times New Roman" panose="02020603050405020304" pitchFamily="18" charset="0"/>
              </a:rPr>
              <a:t>monitörize</a:t>
            </a:r>
            <a:r>
              <a:rPr lang="tr-TR" sz="2000" dirty="0">
                <a:latin typeface="Times New Roman" panose="02020603050405020304" pitchFamily="18" charset="0"/>
                <a:cs typeface="Times New Roman" panose="02020603050405020304" pitchFamily="18" charset="0"/>
              </a:rPr>
              <a:t> eder. Sıcaklıktaki 1ºC’lik düşüşü ve test edilen parametredeki %0-15 farklılığı gösterebilir. Renk değişimli ya da ilerlemeli şerit şeklinde kullanılabilir.</a:t>
            </a:r>
          </a:p>
          <a:p>
            <a:pPr marL="0" indent="0">
              <a:buNone/>
            </a:pPr>
            <a:r>
              <a:rPr lang="tr-TR" sz="2000" b="1" dirty="0">
                <a:latin typeface="Times New Roman" panose="02020603050405020304" pitchFamily="18" charset="0"/>
                <a:cs typeface="Times New Roman" panose="02020603050405020304" pitchFamily="18" charset="0"/>
              </a:rPr>
              <a:t>Tip VI </a:t>
            </a:r>
            <a:r>
              <a:rPr lang="tr-TR" sz="2000" b="1" dirty="0" err="1">
                <a:latin typeface="Times New Roman" panose="02020603050405020304" pitchFamily="18" charset="0"/>
                <a:cs typeface="Times New Roman" panose="02020603050405020304" pitchFamily="18" charset="0"/>
              </a:rPr>
              <a:t>Emülasyon</a:t>
            </a:r>
            <a:r>
              <a:rPr lang="tr-TR" sz="2000" b="1" dirty="0">
                <a:latin typeface="Times New Roman" panose="02020603050405020304" pitchFamily="18" charset="0"/>
                <a:cs typeface="Times New Roman" panose="02020603050405020304" pitchFamily="18" charset="0"/>
              </a:rPr>
              <a:t> indikatörleri </a:t>
            </a:r>
            <a:r>
              <a:rPr lang="tr-TR" sz="2000" dirty="0" err="1">
                <a:latin typeface="Times New Roman" panose="02020603050405020304" pitchFamily="18" charset="0"/>
                <a:cs typeface="Times New Roman" panose="02020603050405020304" pitchFamily="18" charset="0"/>
              </a:rPr>
              <a:t>Emülatör</a:t>
            </a:r>
            <a:r>
              <a:rPr lang="tr-TR" sz="2000" dirty="0">
                <a:latin typeface="Times New Roman" panose="02020603050405020304" pitchFamily="18" charset="0"/>
                <a:cs typeface="Times New Roman" panose="02020603050405020304" pitchFamily="18" charset="0"/>
              </a:rPr>
              <a:t> olarak isimlendirilen bu indikatörler sıcaklıktaki 1°C’lik düşüşü ve test edilen parametredeki %0-6 farklılığı gösterebilir.</a:t>
            </a: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36</a:t>
            </a:fld>
            <a:endParaRPr lang="tr-TR" dirty="0"/>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9940663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Autofit/>
          </a:bodyPr>
          <a:lstStyle/>
          <a:p>
            <a:pPr marL="0" indent="0">
              <a:buNone/>
            </a:pPr>
            <a:r>
              <a:rPr lang="tr-TR" sz="2400" b="1" dirty="0">
                <a:latin typeface="Times New Roman" panose="02020603050405020304" pitchFamily="18" charset="0"/>
                <a:cs typeface="Times New Roman" panose="02020603050405020304" pitchFamily="18" charset="0"/>
              </a:rPr>
              <a:t>Biyolojik kontrol-1</a:t>
            </a:r>
          </a:p>
          <a:p>
            <a:pPr marL="0" indent="0">
              <a:lnSpc>
                <a:spcPct val="150000"/>
              </a:lnSpc>
              <a:buNone/>
            </a:pPr>
            <a:r>
              <a:rPr lang="tr-TR" sz="2400" dirty="0">
                <a:latin typeface="Times New Roman" panose="02020603050405020304" pitchFamily="18" charset="0"/>
                <a:cs typeface="Times New Roman" panose="02020603050405020304" pitchFamily="18" charset="0"/>
              </a:rPr>
              <a:t>Biyolojik Kontrol; sterilizasyon işleminin biyolojik ölümü gerçekleştirmede yeterli olup olmadığını gösterir. Biyolojik indikatörler içerisinde sterilizasyona en dayanıklı olduğu bilinen bakteri sporları kullanılmaktadır. Biyolojik indikatörler suda veya kültür ortamında süspansiyon halindeki standart bakteri sporlarının plastik, kağıt, alüminyum taşıyıcılarda kurutulması ile elde edilmekte olup, sterilizasyonun izlenmesinde kullanılır.</a:t>
            </a: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37</a:t>
            </a:fld>
            <a:endParaRPr lang="tr-TR" dirty="0"/>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25497453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Autofit/>
          </a:bodyPr>
          <a:lstStyle/>
          <a:p>
            <a:pPr marL="0" indent="0">
              <a:buNone/>
            </a:pPr>
            <a:r>
              <a:rPr lang="tr-TR" sz="2400" b="1" dirty="0">
                <a:latin typeface="Times New Roman" panose="02020603050405020304" pitchFamily="18" charset="0"/>
                <a:cs typeface="Times New Roman" panose="02020603050405020304" pitchFamily="18" charset="0"/>
              </a:rPr>
              <a:t>Biyolojik kontrol-2</a:t>
            </a:r>
          </a:p>
          <a:p>
            <a:r>
              <a:rPr lang="tr-TR" sz="2400" i="1" dirty="0" err="1">
                <a:latin typeface="Times New Roman" panose="02020603050405020304" pitchFamily="18" charset="0"/>
                <a:cs typeface="Times New Roman" panose="02020603050405020304" pitchFamily="18" charset="0"/>
              </a:rPr>
              <a:t>Geobacillus</a:t>
            </a:r>
            <a:r>
              <a:rPr lang="tr-TR" sz="2400" i="1" dirty="0">
                <a:latin typeface="Times New Roman" panose="02020603050405020304" pitchFamily="18" charset="0"/>
                <a:cs typeface="Times New Roman" panose="02020603050405020304" pitchFamily="18" charset="0"/>
              </a:rPr>
              <a:t> </a:t>
            </a:r>
            <a:r>
              <a:rPr lang="tr-TR" sz="2400" i="1" dirty="0" err="1">
                <a:latin typeface="Times New Roman" panose="02020603050405020304" pitchFamily="18" charset="0"/>
                <a:cs typeface="Times New Roman" panose="02020603050405020304" pitchFamily="18" charset="0"/>
              </a:rPr>
              <a:t>stearothermophilus</a:t>
            </a:r>
            <a:endParaRPr lang="tr-TR" sz="2400" i="1"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Biyolojik indikatörler ayrı bir paket veya bohça (</a:t>
            </a:r>
            <a:r>
              <a:rPr lang="tr-TR" sz="2400" dirty="0" err="1">
                <a:latin typeface="Times New Roman" panose="02020603050405020304" pitchFamily="18" charset="0"/>
                <a:cs typeface="Times New Roman" panose="02020603050405020304" pitchFamily="18" charset="0"/>
              </a:rPr>
              <a:t>bkz</a:t>
            </a:r>
            <a:r>
              <a:rPr lang="tr-TR" sz="2400" dirty="0">
                <a:latin typeface="Times New Roman" panose="02020603050405020304" pitchFamily="18" charset="0"/>
                <a:cs typeface="Times New Roman" panose="02020603050405020304" pitchFamily="18" charset="0"/>
              </a:rPr>
              <a:t>: Zorlaştırıcı test paketi) içerisine konularak, </a:t>
            </a:r>
            <a:r>
              <a:rPr lang="tr-TR" sz="2400" dirty="0" err="1">
                <a:latin typeface="Times New Roman" panose="02020603050405020304" pitchFamily="18" charset="0"/>
                <a:cs typeface="Times New Roman" panose="02020603050405020304" pitchFamily="18" charset="0"/>
              </a:rPr>
              <a:t>sterilizatör</a:t>
            </a:r>
            <a:r>
              <a:rPr lang="tr-TR" sz="2400" dirty="0">
                <a:latin typeface="Times New Roman" panose="02020603050405020304" pitchFamily="18" charset="0"/>
                <a:cs typeface="Times New Roman" panose="02020603050405020304" pitchFamily="18" charset="0"/>
              </a:rPr>
              <a:t> üreticisi tarafından belirtilen bir nokta yoksa </a:t>
            </a:r>
            <a:r>
              <a:rPr lang="tr-TR" sz="2400" dirty="0" err="1">
                <a:latin typeface="Times New Roman" panose="02020603050405020304" pitchFamily="18" charset="0"/>
                <a:cs typeface="Times New Roman" panose="02020603050405020304" pitchFamily="18" charset="0"/>
              </a:rPr>
              <a:t>sterilizatörün</a:t>
            </a:r>
            <a:r>
              <a:rPr lang="tr-TR" sz="2400" dirty="0">
                <a:latin typeface="Times New Roman" panose="02020603050405020304" pitchFamily="18" charset="0"/>
                <a:cs typeface="Times New Roman" panose="02020603050405020304" pitchFamily="18" charset="0"/>
              </a:rPr>
              <a:t> kapak, köşeler ve vakum çıkışları gibi sterilizasyon koşullarının en zor gerçekleşeceği düşünülen bölgelerine yerleştirilir.</a:t>
            </a:r>
          </a:p>
          <a:p>
            <a:pPr>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Çevrim sonunda, üretici firma önerileri doğrultusunda tüp kırılır.</a:t>
            </a:r>
          </a:p>
          <a:p>
            <a:pPr>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Tüpün kırıldığından ve sıvı </a:t>
            </a:r>
            <a:r>
              <a:rPr lang="tr-TR" sz="2400" dirty="0" err="1">
                <a:latin typeface="Times New Roman" panose="02020603050405020304" pitchFamily="18" charset="0"/>
                <a:cs typeface="Times New Roman" panose="02020603050405020304" pitchFamily="18" charset="0"/>
              </a:rPr>
              <a:t>besiyeri</a:t>
            </a:r>
            <a:r>
              <a:rPr lang="tr-TR" sz="2400" dirty="0">
                <a:latin typeface="Times New Roman" panose="02020603050405020304" pitchFamily="18" charset="0"/>
                <a:cs typeface="Times New Roman" panose="02020603050405020304" pitchFamily="18" charset="0"/>
              </a:rPr>
              <a:t> ile spor taşıyıcısının karıştığından emin olunmalıdır.</a:t>
            </a:r>
          </a:p>
          <a:p>
            <a:pPr>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Ardından tüp </a:t>
            </a:r>
            <a:r>
              <a:rPr lang="tr-TR" sz="2400" dirty="0" err="1">
                <a:latin typeface="Times New Roman" panose="02020603050405020304" pitchFamily="18" charset="0"/>
                <a:cs typeface="Times New Roman" panose="02020603050405020304" pitchFamily="18" charset="0"/>
              </a:rPr>
              <a:t>inkübatöre</a:t>
            </a:r>
            <a:r>
              <a:rPr lang="tr-TR" sz="2400" dirty="0">
                <a:latin typeface="Times New Roman" panose="02020603050405020304" pitchFamily="18" charset="0"/>
                <a:cs typeface="Times New Roman" panose="02020603050405020304" pitchFamily="18" charset="0"/>
              </a:rPr>
              <a:t> yerleştirilmeli ve uygun sıcaklıkta </a:t>
            </a:r>
            <a:r>
              <a:rPr lang="tr-TR" sz="2400" dirty="0" err="1">
                <a:latin typeface="Times New Roman" panose="02020603050405020304" pitchFamily="18" charset="0"/>
                <a:cs typeface="Times New Roman" panose="02020603050405020304" pitchFamily="18" charset="0"/>
              </a:rPr>
              <a:t>inkübe</a:t>
            </a:r>
            <a:r>
              <a:rPr lang="tr-TR" sz="2400" dirty="0">
                <a:latin typeface="Times New Roman" panose="02020603050405020304" pitchFamily="18" charset="0"/>
                <a:cs typeface="Times New Roman" panose="02020603050405020304" pitchFamily="18" charset="0"/>
              </a:rPr>
              <a:t> edilmelidir.</a:t>
            </a:r>
          </a:p>
          <a:p>
            <a:pPr>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İndikatöre uygun </a:t>
            </a:r>
            <a:r>
              <a:rPr lang="tr-TR" sz="2400" dirty="0" err="1">
                <a:latin typeface="Times New Roman" panose="02020603050405020304" pitchFamily="18" charset="0"/>
                <a:cs typeface="Times New Roman" panose="02020603050405020304" pitchFamily="18" charset="0"/>
              </a:rPr>
              <a:t>inkübatör</a:t>
            </a:r>
            <a:r>
              <a:rPr lang="tr-TR" sz="2400" dirty="0">
                <a:latin typeface="Times New Roman" panose="02020603050405020304" pitchFamily="18" charset="0"/>
                <a:cs typeface="Times New Roman" panose="02020603050405020304" pitchFamily="18" charset="0"/>
              </a:rPr>
              <a:t> kullanılmalıdır. İndikatörlerin farklı </a:t>
            </a:r>
            <a:r>
              <a:rPr lang="tr-TR" sz="2400" dirty="0" err="1">
                <a:latin typeface="Times New Roman" panose="02020603050405020304" pitchFamily="18" charset="0"/>
                <a:cs typeface="Times New Roman" panose="02020603050405020304" pitchFamily="18" charset="0"/>
              </a:rPr>
              <a:t>inkübatörlerde</a:t>
            </a:r>
            <a:r>
              <a:rPr lang="tr-TR" sz="2400" dirty="0">
                <a:latin typeface="Times New Roman" panose="02020603050405020304" pitchFamily="18" charset="0"/>
                <a:cs typeface="Times New Roman" panose="02020603050405020304" pitchFamily="18" charset="0"/>
              </a:rPr>
              <a:t> </a:t>
            </a:r>
            <a:r>
              <a:rPr lang="tr-TR" sz="2400" dirty="0" err="1">
                <a:latin typeface="Times New Roman" panose="02020603050405020304" pitchFamily="18" charset="0"/>
                <a:cs typeface="Times New Roman" panose="02020603050405020304" pitchFamily="18" charset="0"/>
              </a:rPr>
              <a:t>inkübe</a:t>
            </a:r>
            <a:r>
              <a:rPr lang="tr-TR" sz="2400" dirty="0">
                <a:latin typeface="Times New Roman" panose="02020603050405020304" pitchFamily="18" charset="0"/>
                <a:cs typeface="Times New Roman" panose="02020603050405020304" pitchFamily="18" charset="0"/>
              </a:rPr>
              <a:t> edilmesi hatalı sonuçlara neden olabilir.</a:t>
            </a: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38</a:t>
            </a:fld>
            <a:endParaRPr lang="tr-TR" dirty="0"/>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23525125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Autofit/>
          </a:bodyPr>
          <a:lstStyle/>
          <a:p>
            <a:pPr marL="0" indent="0">
              <a:buNone/>
            </a:pPr>
            <a:r>
              <a:rPr lang="tr-TR" sz="2400" b="1" dirty="0">
                <a:latin typeface="Times New Roman" panose="02020603050405020304" pitchFamily="18" charset="0"/>
                <a:cs typeface="Times New Roman" panose="02020603050405020304" pitchFamily="18" charset="0"/>
              </a:rPr>
              <a:t>Biyolojik kontrol-3</a:t>
            </a:r>
          </a:p>
          <a:p>
            <a:r>
              <a:rPr lang="tr-TR" sz="2400" i="1" dirty="0" err="1">
                <a:latin typeface="Times New Roman" panose="02020603050405020304" pitchFamily="18" charset="0"/>
                <a:cs typeface="Times New Roman" panose="02020603050405020304" pitchFamily="18" charset="0"/>
              </a:rPr>
              <a:t>Geobacillus</a:t>
            </a:r>
            <a:r>
              <a:rPr lang="tr-TR" sz="2400" i="1" dirty="0">
                <a:latin typeface="Times New Roman" panose="02020603050405020304" pitchFamily="18" charset="0"/>
                <a:cs typeface="Times New Roman" panose="02020603050405020304" pitchFamily="18" charset="0"/>
              </a:rPr>
              <a:t> </a:t>
            </a:r>
            <a:r>
              <a:rPr lang="tr-TR" sz="2400" i="1" dirty="0" err="1">
                <a:latin typeface="Times New Roman" panose="02020603050405020304" pitchFamily="18" charset="0"/>
                <a:cs typeface="Times New Roman" panose="02020603050405020304" pitchFamily="18" charset="0"/>
              </a:rPr>
              <a:t>stearothermophilus</a:t>
            </a:r>
            <a:endParaRPr lang="tr-TR" sz="2400" i="1"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Biyolojik indikatörler ayrı bir paket veya bohça (</a:t>
            </a:r>
            <a:r>
              <a:rPr lang="tr-TR" sz="2400" dirty="0" err="1">
                <a:latin typeface="Times New Roman" panose="02020603050405020304" pitchFamily="18" charset="0"/>
                <a:cs typeface="Times New Roman" panose="02020603050405020304" pitchFamily="18" charset="0"/>
              </a:rPr>
              <a:t>bkz</a:t>
            </a:r>
            <a:r>
              <a:rPr lang="tr-TR" sz="2400" dirty="0">
                <a:latin typeface="Times New Roman" panose="02020603050405020304" pitchFamily="18" charset="0"/>
                <a:cs typeface="Times New Roman" panose="02020603050405020304" pitchFamily="18" charset="0"/>
              </a:rPr>
              <a:t>: Zorlaştırıcı test paketi) içerisine konularak, </a:t>
            </a:r>
            <a:r>
              <a:rPr lang="tr-TR" sz="2400" dirty="0" err="1">
                <a:latin typeface="Times New Roman" panose="02020603050405020304" pitchFamily="18" charset="0"/>
                <a:cs typeface="Times New Roman" panose="02020603050405020304" pitchFamily="18" charset="0"/>
              </a:rPr>
              <a:t>sterilizatör</a:t>
            </a:r>
            <a:r>
              <a:rPr lang="tr-TR" sz="2400" dirty="0">
                <a:latin typeface="Times New Roman" panose="02020603050405020304" pitchFamily="18" charset="0"/>
                <a:cs typeface="Times New Roman" panose="02020603050405020304" pitchFamily="18" charset="0"/>
              </a:rPr>
              <a:t> üreticisi tarafından belirtilen bir nokta yoksa </a:t>
            </a:r>
            <a:r>
              <a:rPr lang="tr-TR" sz="2400" dirty="0" err="1">
                <a:latin typeface="Times New Roman" panose="02020603050405020304" pitchFamily="18" charset="0"/>
                <a:cs typeface="Times New Roman" panose="02020603050405020304" pitchFamily="18" charset="0"/>
              </a:rPr>
              <a:t>sterilizatörün</a:t>
            </a:r>
            <a:r>
              <a:rPr lang="tr-TR" sz="2400" dirty="0">
                <a:latin typeface="Times New Roman" panose="02020603050405020304" pitchFamily="18" charset="0"/>
                <a:cs typeface="Times New Roman" panose="02020603050405020304" pitchFamily="18" charset="0"/>
              </a:rPr>
              <a:t> kapak, köşeler ve vakum çıkışları gibi sterilizasyon koşullarının en zor gerçekleşeceği düşünülen bölgelerine yerleştirilir.</a:t>
            </a:r>
          </a:p>
          <a:p>
            <a:pPr>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Çevrim sonunda, üretici firma önerileri doğrultusunda tüp kırılır.</a:t>
            </a:r>
          </a:p>
          <a:p>
            <a:pPr>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Tüpün kırıldığından ve sıvı </a:t>
            </a:r>
            <a:r>
              <a:rPr lang="tr-TR" sz="2400" dirty="0" err="1">
                <a:latin typeface="Times New Roman" panose="02020603050405020304" pitchFamily="18" charset="0"/>
                <a:cs typeface="Times New Roman" panose="02020603050405020304" pitchFamily="18" charset="0"/>
              </a:rPr>
              <a:t>besiyeri</a:t>
            </a:r>
            <a:r>
              <a:rPr lang="tr-TR" sz="2400" dirty="0">
                <a:latin typeface="Times New Roman" panose="02020603050405020304" pitchFamily="18" charset="0"/>
                <a:cs typeface="Times New Roman" panose="02020603050405020304" pitchFamily="18" charset="0"/>
              </a:rPr>
              <a:t> ile spor taşıyıcısının karıştığından emin olunmalıdır.</a:t>
            </a:r>
          </a:p>
          <a:p>
            <a:pPr>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Ardından tüp </a:t>
            </a:r>
            <a:r>
              <a:rPr lang="tr-TR" sz="2400" dirty="0" err="1">
                <a:latin typeface="Times New Roman" panose="02020603050405020304" pitchFamily="18" charset="0"/>
                <a:cs typeface="Times New Roman" panose="02020603050405020304" pitchFamily="18" charset="0"/>
              </a:rPr>
              <a:t>inkübatöre</a:t>
            </a:r>
            <a:r>
              <a:rPr lang="tr-TR" sz="2400" dirty="0">
                <a:latin typeface="Times New Roman" panose="02020603050405020304" pitchFamily="18" charset="0"/>
                <a:cs typeface="Times New Roman" panose="02020603050405020304" pitchFamily="18" charset="0"/>
              </a:rPr>
              <a:t> yerleştirilmeli ve uygun sıcaklıkta </a:t>
            </a:r>
            <a:r>
              <a:rPr lang="tr-TR" sz="2400" dirty="0" err="1">
                <a:latin typeface="Times New Roman" panose="02020603050405020304" pitchFamily="18" charset="0"/>
                <a:cs typeface="Times New Roman" panose="02020603050405020304" pitchFamily="18" charset="0"/>
              </a:rPr>
              <a:t>inkübe</a:t>
            </a:r>
            <a:r>
              <a:rPr lang="tr-TR" sz="2400" dirty="0">
                <a:latin typeface="Times New Roman" panose="02020603050405020304" pitchFamily="18" charset="0"/>
                <a:cs typeface="Times New Roman" panose="02020603050405020304" pitchFamily="18" charset="0"/>
              </a:rPr>
              <a:t> edilmelidir.</a:t>
            </a:r>
          </a:p>
          <a:p>
            <a:pPr>
              <a:buFont typeface="Wingdings" panose="05000000000000000000" pitchFamily="2" charset="2"/>
              <a:buChar char="ü"/>
            </a:pPr>
            <a:r>
              <a:rPr lang="tr-TR" sz="2400" dirty="0">
                <a:latin typeface="Times New Roman" panose="02020603050405020304" pitchFamily="18" charset="0"/>
                <a:cs typeface="Times New Roman" panose="02020603050405020304" pitchFamily="18" charset="0"/>
              </a:rPr>
              <a:t>İndikatöre uygun </a:t>
            </a:r>
            <a:r>
              <a:rPr lang="tr-TR" sz="2400" dirty="0" err="1">
                <a:latin typeface="Times New Roman" panose="02020603050405020304" pitchFamily="18" charset="0"/>
                <a:cs typeface="Times New Roman" panose="02020603050405020304" pitchFamily="18" charset="0"/>
              </a:rPr>
              <a:t>inkübatör</a:t>
            </a:r>
            <a:r>
              <a:rPr lang="tr-TR" sz="2400" dirty="0">
                <a:latin typeface="Times New Roman" panose="02020603050405020304" pitchFamily="18" charset="0"/>
                <a:cs typeface="Times New Roman" panose="02020603050405020304" pitchFamily="18" charset="0"/>
              </a:rPr>
              <a:t> kullanılmalıdır. İndikatörlerin farklı </a:t>
            </a:r>
            <a:r>
              <a:rPr lang="tr-TR" sz="2400" dirty="0" err="1">
                <a:latin typeface="Times New Roman" panose="02020603050405020304" pitchFamily="18" charset="0"/>
                <a:cs typeface="Times New Roman" panose="02020603050405020304" pitchFamily="18" charset="0"/>
              </a:rPr>
              <a:t>inkübatörlerde</a:t>
            </a:r>
            <a:r>
              <a:rPr lang="tr-TR" sz="2400" dirty="0">
                <a:latin typeface="Times New Roman" panose="02020603050405020304" pitchFamily="18" charset="0"/>
                <a:cs typeface="Times New Roman" panose="02020603050405020304" pitchFamily="18" charset="0"/>
              </a:rPr>
              <a:t> </a:t>
            </a:r>
            <a:r>
              <a:rPr lang="tr-TR" sz="2400" dirty="0" err="1">
                <a:latin typeface="Times New Roman" panose="02020603050405020304" pitchFamily="18" charset="0"/>
                <a:cs typeface="Times New Roman" panose="02020603050405020304" pitchFamily="18" charset="0"/>
              </a:rPr>
              <a:t>inkübe</a:t>
            </a:r>
            <a:r>
              <a:rPr lang="tr-TR" sz="2400" dirty="0">
                <a:latin typeface="Times New Roman" panose="02020603050405020304" pitchFamily="18" charset="0"/>
                <a:cs typeface="Times New Roman" panose="02020603050405020304" pitchFamily="18" charset="0"/>
              </a:rPr>
              <a:t> edilmesi hatalı sonuçlara neden olabilir.</a:t>
            </a: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39</a:t>
            </a:fld>
            <a:endParaRPr lang="tr-TR" dirty="0"/>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23788931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Autofit/>
          </a:bodyPr>
          <a:lstStyle/>
          <a:p>
            <a:pPr marL="0" indent="0">
              <a:buNone/>
            </a:pPr>
            <a:r>
              <a:rPr lang="tr-TR" sz="2400" b="1" dirty="0">
                <a:latin typeface="Times New Roman" panose="02020603050405020304" pitchFamily="18" charset="0"/>
                <a:cs typeface="Times New Roman" panose="02020603050405020304" pitchFamily="18" charset="0"/>
              </a:rPr>
              <a:t>Biyolojik kontrol-4</a:t>
            </a:r>
          </a:p>
          <a:p>
            <a:pPr marL="0" indent="0">
              <a:buNone/>
            </a:pPr>
            <a:r>
              <a:rPr lang="tr-TR" sz="2400" dirty="0">
                <a:latin typeface="Times New Roman" panose="02020603050405020304" pitchFamily="18" charset="0"/>
                <a:cs typeface="Times New Roman" panose="02020603050405020304" pitchFamily="18" charset="0"/>
              </a:rPr>
              <a:t>Biyolojik indikatör sonucu pozitif olan tıbbi cihazlar hastalara kullanıldı ise hasta enfeksiyon kontrol komitesi tarafından takibe alınır. Pozitif indikatöre neden olabilecek aşağıdaki nedenler araştırılmalıdır.</a:t>
            </a:r>
          </a:p>
          <a:p>
            <a:pPr marL="0" indent="0">
              <a:buNone/>
            </a:pPr>
            <a:r>
              <a:rPr lang="tr-TR" sz="2400" dirty="0">
                <a:latin typeface="Times New Roman" panose="02020603050405020304" pitchFamily="18" charset="0"/>
                <a:cs typeface="Times New Roman" panose="02020603050405020304" pitchFamily="18" charset="0"/>
              </a:rPr>
              <a:t>Buhar </a:t>
            </a:r>
            <a:r>
              <a:rPr lang="tr-TR" sz="2400" dirty="0" err="1">
                <a:latin typeface="Times New Roman" panose="02020603050405020304" pitchFamily="18" charset="0"/>
                <a:cs typeface="Times New Roman" panose="02020603050405020304" pitchFamily="18" charset="0"/>
              </a:rPr>
              <a:t>sterilizatörlerde</a:t>
            </a:r>
            <a:endParaRPr lang="tr-TR" sz="2400" dirty="0">
              <a:latin typeface="Times New Roman" panose="02020603050405020304" pitchFamily="18" charset="0"/>
              <a:cs typeface="Times New Roman" panose="02020603050405020304" pitchFamily="18" charset="0"/>
            </a:endParaRPr>
          </a:p>
          <a:p>
            <a:pPr marL="0" indent="0">
              <a:buNone/>
            </a:pPr>
            <a:r>
              <a:rPr lang="tr-TR" sz="2400" dirty="0">
                <a:latin typeface="Times New Roman" panose="02020603050405020304" pitchFamily="18" charset="0"/>
                <a:cs typeface="Times New Roman" panose="02020603050405020304" pitchFamily="18" charset="0"/>
              </a:rPr>
              <a:t>● Yetersiz hava tahliyesi,</a:t>
            </a:r>
          </a:p>
          <a:p>
            <a:pPr marL="0" indent="0">
              <a:buNone/>
            </a:pPr>
            <a:r>
              <a:rPr lang="tr-TR" sz="2400" dirty="0">
                <a:latin typeface="Times New Roman" panose="02020603050405020304" pitchFamily="18" charset="0"/>
                <a:cs typeface="Times New Roman" panose="02020603050405020304" pitchFamily="18" charset="0"/>
              </a:rPr>
              <a:t>● Uygun olmayan buhar kalitesi,</a:t>
            </a:r>
          </a:p>
          <a:p>
            <a:pPr marL="0" indent="0">
              <a:buNone/>
            </a:pPr>
            <a:r>
              <a:rPr lang="tr-TR" sz="2400" dirty="0">
                <a:latin typeface="Times New Roman" panose="02020603050405020304" pitchFamily="18" charset="0"/>
                <a:cs typeface="Times New Roman" panose="02020603050405020304" pitchFamily="18" charset="0"/>
              </a:rPr>
              <a:t>● Sterilizasyon sıcaklık ve süresinin yetersizliği,</a:t>
            </a:r>
          </a:p>
          <a:p>
            <a:pPr marL="0" indent="0">
              <a:buNone/>
            </a:pPr>
            <a:r>
              <a:rPr lang="tr-TR" sz="2400" dirty="0">
                <a:latin typeface="Times New Roman" panose="02020603050405020304" pitchFamily="18" charset="0"/>
                <a:cs typeface="Times New Roman" panose="02020603050405020304" pitchFamily="18" charset="0"/>
              </a:rPr>
              <a:t>● Paketleme materyalinin uygun olmayışı,</a:t>
            </a:r>
          </a:p>
          <a:p>
            <a:pPr marL="0" indent="0">
              <a:buNone/>
            </a:pPr>
            <a:r>
              <a:rPr lang="tr-TR" sz="2400" dirty="0">
                <a:latin typeface="Times New Roman" panose="02020603050405020304" pitchFamily="18" charset="0"/>
                <a:cs typeface="Times New Roman" panose="02020603050405020304" pitchFamily="18" charset="0"/>
              </a:rPr>
              <a:t>● Paketleme ve/veya yükleme hataları.</a:t>
            </a: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40</a:t>
            </a:fld>
            <a:endParaRPr lang="tr-TR" dirty="0"/>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3592028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Autofit/>
          </a:bodyPr>
          <a:lstStyle/>
          <a:p>
            <a:pPr marL="0" indent="0">
              <a:buNone/>
            </a:pPr>
            <a:r>
              <a:rPr lang="tr-TR" sz="2400" b="1" dirty="0">
                <a:latin typeface="Times New Roman" panose="02020603050405020304" pitchFamily="18" charset="0"/>
                <a:cs typeface="Times New Roman" panose="02020603050405020304" pitchFamily="18" charset="0"/>
              </a:rPr>
              <a:t>Biyolojik kontrol-5</a:t>
            </a:r>
          </a:p>
          <a:p>
            <a:pPr marL="0" indent="0">
              <a:buNone/>
            </a:pPr>
            <a:r>
              <a:rPr lang="tr-TR" sz="2400" dirty="0">
                <a:latin typeface="Times New Roman" panose="02020603050405020304" pitchFamily="18" charset="0"/>
                <a:cs typeface="Times New Roman" panose="02020603050405020304" pitchFamily="18" charset="0"/>
              </a:rPr>
              <a:t>Düşük sıcaklık </a:t>
            </a:r>
            <a:r>
              <a:rPr lang="tr-TR" sz="2400" dirty="0" err="1">
                <a:latin typeface="Times New Roman" panose="02020603050405020304" pitchFamily="18" charset="0"/>
                <a:cs typeface="Times New Roman" panose="02020603050405020304" pitchFamily="18" charset="0"/>
              </a:rPr>
              <a:t>sterilizatörlerde</a:t>
            </a:r>
            <a:endParaRPr lang="tr-TR" sz="2400" dirty="0">
              <a:latin typeface="Times New Roman" panose="02020603050405020304" pitchFamily="18" charset="0"/>
              <a:cs typeface="Times New Roman" panose="02020603050405020304" pitchFamily="18" charset="0"/>
            </a:endParaRPr>
          </a:p>
          <a:p>
            <a:pPr marL="0" indent="0">
              <a:buNone/>
            </a:pPr>
            <a:r>
              <a:rPr lang="tr-TR" sz="2400" dirty="0">
                <a:latin typeface="Times New Roman" panose="02020603050405020304" pitchFamily="18" charset="0"/>
                <a:cs typeface="Times New Roman" panose="02020603050405020304" pitchFamily="18" charset="0"/>
              </a:rPr>
              <a:t>● Ortam neminin uygun olmaması,</a:t>
            </a:r>
          </a:p>
          <a:p>
            <a:pPr marL="0" indent="0">
              <a:buNone/>
            </a:pPr>
            <a:r>
              <a:rPr lang="tr-TR" sz="2400" dirty="0">
                <a:latin typeface="Times New Roman" panose="02020603050405020304" pitchFamily="18" charset="0"/>
                <a:cs typeface="Times New Roman" panose="02020603050405020304" pitchFamily="18" charset="0"/>
              </a:rPr>
              <a:t>● Gaz konsantrasyonunun yetersizliği,</a:t>
            </a:r>
          </a:p>
          <a:p>
            <a:pPr marL="0" indent="0">
              <a:buNone/>
            </a:pPr>
            <a:r>
              <a:rPr lang="tr-TR" sz="2400" dirty="0">
                <a:latin typeface="Times New Roman" panose="02020603050405020304" pitchFamily="18" charset="0"/>
                <a:cs typeface="Times New Roman" panose="02020603050405020304" pitchFamily="18" charset="0"/>
              </a:rPr>
              <a:t>● Sterilizasyon sıcaklık ve süresinin yetersizliği,</a:t>
            </a:r>
          </a:p>
          <a:p>
            <a:pPr marL="0" indent="0">
              <a:buNone/>
            </a:pPr>
            <a:r>
              <a:rPr lang="tr-TR" sz="2400" dirty="0">
                <a:latin typeface="Times New Roman" panose="02020603050405020304" pitchFamily="18" charset="0"/>
                <a:cs typeface="Times New Roman" panose="02020603050405020304" pitchFamily="18" charset="0"/>
              </a:rPr>
              <a:t>● Paketleme materyalinin uygun olmayışı,</a:t>
            </a:r>
          </a:p>
          <a:p>
            <a:pPr marL="0" indent="0">
              <a:buNone/>
            </a:pPr>
            <a:r>
              <a:rPr lang="tr-TR" sz="2400" dirty="0">
                <a:latin typeface="Times New Roman" panose="02020603050405020304" pitchFamily="18" charset="0"/>
                <a:cs typeface="Times New Roman" panose="02020603050405020304" pitchFamily="18" charset="0"/>
              </a:rPr>
              <a:t>● Paketleme ve/veya yükleme hataları.</a:t>
            </a:r>
            <a:endParaRPr lang="tr-TR" sz="2400" b="1" dirty="0">
              <a:latin typeface="Times New Roman" panose="02020603050405020304" pitchFamily="18" charset="0"/>
              <a:cs typeface="Times New Roman" panose="02020603050405020304" pitchFamily="18" charset="0"/>
            </a:endParaRP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41</a:t>
            </a:fld>
            <a:endParaRPr lang="tr-TR" dirty="0"/>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3160653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4" name="İçerik Yer Tutucusu 3"/>
          <p:cNvSpPr>
            <a:spLocks noGrp="1"/>
          </p:cNvSpPr>
          <p:nvPr>
            <p:ph sz="half" idx="4294967295"/>
          </p:nvPr>
        </p:nvSpPr>
        <p:spPr>
          <a:xfrm>
            <a:off x="1289538" y="1383323"/>
            <a:ext cx="10533185" cy="4770194"/>
          </a:xfrm>
        </p:spPr>
        <p:txBody>
          <a:bodyPr>
            <a:noAutofit/>
          </a:bodyPr>
          <a:lstStyle/>
          <a:p>
            <a:pPr marL="0" indent="0">
              <a:lnSpc>
                <a:spcPct val="150000"/>
              </a:lnSpc>
              <a:buNone/>
            </a:pPr>
            <a:r>
              <a:rPr lang="tr-TR" sz="2400" b="1" dirty="0">
                <a:latin typeface="Times New Roman" panose="02020603050405020304" pitchFamily="18" charset="0"/>
                <a:cs typeface="Times New Roman" panose="02020603050405020304" pitchFamily="18" charset="0"/>
              </a:rPr>
              <a:t>Zorlaştırıcı test paketi (PCD-</a:t>
            </a:r>
            <a:r>
              <a:rPr lang="tr-TR" sz="2400" b="1" dirty="0" err="1">
                <a:latin typeface="Times New Roman" panose="02020603050405020304" pitchFamily="18" charset="0"/>
                <a:cs typeface="Times New Roman" panose="02020603050405020304" pitchFamily="18" charset="0"/>
              </a:rPr>
              <a:t>Process</a:t>
            </a:r>
            <a:r>
              <a:rPr lang="tr-TR" sz="2400" b="1" dirty="0">
                <a:latin typeface="Times New Roman" panose="02020603050405020304" pitchFamily="18" charset="0"/>
                <a:cs typeface="Times New Roman" panose="02020603050405020304" pitchFamily="18" charset="0"/>
              </a:rPr>
              <a:t> Challenge Device)</a:t>
            </a:r>
          </a:p>
          <a:p>
            <a:pPr marL="0" indent="0">
              <a:lnSpc>
                <a:spcPct val="150000"/>
              </a:lnSpc>
              <a:buNone/>
            </a:pPr>
            <a:r>
              <a:rPr lang="tr-TR" sz="2400" dirty="0">
                <a:latin typeface="Times New Roman" panose="02020603050405020304" pitchFamily="18" charset="0"/>
                <a:cs typeface="Times New Roman" panose="02020603050405020304" pitchFamily="18" charset="0"/>
              </a:rPr>
              <a:t>    Steril edilecek malzeme içinde, önceden belirlenmiş sterilizasyon koşullarının gerçekleşip gerçekleşmediğini test etmeye yönelik olarak, en zor koşulları taklit edecek şekilde hazırlanmış test paketidir.</a:t>
            </a:r>
            <a:endParaRPr lang="tr-TR" sz="2400" b="1" dirty="0">
              <a:latin typeface="Times New Roman" panose="02020603050405020304" pitchFamily="18" charset="0"/>
              <a:cs typeface="Times New Roman" panose="02020603050405020304" pitchFamily="18" charset="0"/>
            </a:endParaRPr>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42</a:t>
            </a:fld>
            <a:endParaRPr lang="tr-TR" dirty="0"/>
          </a:p>
        </p:txBody>
      </p:sp>
      <p:sp>
        <p:nvSpPr>
          <p:cNvPr id="3" name="Metin kutusu 2"/>
          <p:cNvSpPr txBox="1"/>
          <p:nvPr/>
        </p:nvSpPr>
        <p:spPr>
          <a:xfrm>
            <a:off x="2161309" y="1828800"/>
            <a:ext cx="184731" cy="369332"/>
          </a:xfrm>
          <a:prstGeom prst="rect">
            <a:avLst/>
          </a:prstGeom>
          <a:noFill/>
        </p:spPr>
        <p:txBody>
          <a:bodyPr wrap="none" rtlCol="0">
            <a:spAutoFit/>
          </a:bodyPr>
          <a:lstStyle/>
          <a:p>
            <a:endParaRPr lang="tr-TR" dirty="0"/>
          </a:p>
        </p:txBody>
      </p:sp>
      <p:sp>
        <p:nvSpPr>
          <p:cNvPr id="9" name="Metin kutusu 8"/>
          <p:cNvSpPr txBox="1"/>
          <p:nvPr/>
        </p:nvSpPr>
        <p:spPr>
          <a:xfrm>
            <a:off x="3301258" y="811158"/>
            <a:ext cx="5743880" cy="738664"/>
          </a:xfrm>
          <a:prstGeom prst="rect">
            <a:avLst/>
          </a:prstGeom>
          <a:noFill/>
        </p:spPr>
        <p:txBody>
          <a:bodyPr wrap="none" rtlCol="0">
            <a:spAutoFit/>
          </a:bodyPr>
          <a:lstStyle/>
          <a:p>
            <a:r>
              <a:rPr lang="tr-TR" sz="2400" dirty="0">
                <a:solidFill>
                  <a:srgbClr val="00B0F0"/>
                </a:solidFill>
                <a:latin typeface="Times New Roman" panose="02020603050405020304" pitchFamily="18" charset="0"/>
                <a:ea typeface="Times New Roman"/>
                <a:cs typeface="Times New Roman" panose="02020603050405020304" pitchFamily="18" charset="0"/>
                <a:sym typeface="Times New Roman"/>
              </a:rPr>
              <a:t>STERİLİZASYONUN RUTİN İZLENMESİ</a:t>
            </a:r>
          </a:p>
          <a:p>
            <a:endParaRPr lang="tr-TR" dirty="0">
              <a:solidFill>
                <a:srgbClr val="00B0F0"/>
              </a:solidFill>
            </a:endParaRPr>
          </a:p>
        </p:txBody>
      </p:sp>
    </p:spTree>
    <p:extLst>
      <p:ext uri="{BB962C8B-B14F-4D97-AF65-F5344CB8AC3E}">
        <p14:creationId xmlns:p14="http://schemas.microsoft.com/office/powerpoint/2010/main" val="10845685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pic>
        <p:nvPicPr>
          <p:cNvPr id="3" name="İçerik Yer Tutucusu 2"/>
          <p:cNvPicPr>
            <a:picLocks noGrp="1" noChangeAspect="1"/>
          </p:cNvPicPr>
          <p:nvPr>
            <p:ph sz="half" idx="4294967295"/>
          </p:nvPr>
        </p:nvPicPr>
        <p:blipFill>
          <a:blip r:embed="rId3"/>
          <a:stretch>
            <a:fillRect/>
          </a:stretch>
        </p:blipFill>
        <p:spPr>
          <a:xfrm>
            <a:off x="4349336" y="1718269"/>
            <a:ext cx="3097036" cy="3755461"/>
          </a:xfrm>
          <a:prstGeom prst="rect">
            <a:avLst/>
          </a:prstGeom>
        </p:spPr>
      </p:pic>
      <p:pic>
        <p:nvPicPr>
          <p:cNvPr id="7" name="Google Shape;323;g2ea15ffc163_0_213"/>
          <p:cNvPicPr preferRelativeResize="0"/>
          <p:nvPr/>
        </p:nvPicPr>
        <p:blipFill rotWithShape="1">
          <a:blip r:embed="rId4">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43</a:t>
            </a:fld>
            <a:endParaRPr lang="tr-TR"/>
          </a:p>
        </p:txBody>
      </p:sp>
      <p:sp>
        <p:nvSpPr>
          <p:cNvPr id="8" name="Dikdörtgen 7"/>
          <p:cNvSpPr/>
          <p:nvPr/>
        </p:nvSpPr>
        <p:spPr>
          <a:xfrm>
            <a:off x="0" y="373985"/>
            <a:ext cx="12191999" cy="461665"/>
          </a:xfrm>
          <a:prstGeom prst="rect">
            <a:avLst/>
          </a:prstGeom>
        </p:spPr>
        <p:txBody>
          <a:bodyPr wrap="square">
            <a:spAutoFit/>
          </a:bodyPr>
          <a:lstStyle/>
          <a:p>
            <a:pPr lvl="0" algn="ctr">
              <a:buClr>
                <a:srgbClr val="000000"/>
              </a:buClr>
              <a:buSzPts val="2400"/>
            </a:pPr>
            <a:r>
              <a:rPr lang="tr-TR" sz="2400" b="1" dirty="0">
                <a:solidFill>
                  <a:srgbClr val="002060"/>
                </a:solidFill>
                <a:latin typeface="Times New Roman" panose="02020603050405020304" pitchFamily="18" charset="0"/>
                <a:ea typeface="Times New Roman"/>
                <a:cs typeface="Times New Roman" panose="02020603050405020304" pitchFamily="18" charset="0"/>
                <a:sym typeface="Times New Roman"/>
              </a:rPr>
              <a:t>BUGÜN NELER ÖĞRENDİK?</a:t>
            </a:r>
            <a:endParaRPr lang="tr-TR" sz="24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40494734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pic>
        <p:nvPicPr>
          <p:cNvPr id="3" name="İçerik Yer Tutucusu 2"/>
          <p:cNvPicPr>
            <a:picLocks noGrp="1" noChangeAspect="1"/>
          </p:cNvPicPr>
          <p:nvPr>
            <p:ph sz="half" idx="4294967295"/>
          </p:nvPr>
        </p:nvPicPr>
        <p:blipFill>
          <a:blip r:embed="rId3"/>
          <a:stretch>
            <a:fillRect/>
          </a:stretch>
        </p:blipFill>
        <p:spPr>
          <a:xfrm>
            <a:off x="4013329" y="1813994"/>
            <a:ext cx="5084505" cy="3907875"/>
          </a:xfrm>
          <a:prstGeom prst="rect">
            <a:avLst/>
          </a:prstGeom>
        </p:spPr>
      </p:pic>
      <p:pic>
        <p:nvPicPr>
          <p:cNvPr id="7" name="Google Shape;323;g2ea15ffc163_0_213"/>
          <p:cNvPicPr preferRelativeResize="0"/>
          <p:nvPr/>
        </p:nvPicPr>
        <p:blipFill rotWithShape="1">
          <a:blip r:embed="rId4">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44</a:t>
            </a:fld>
            <a:endParaRPr lang="tr-TR"/>
          </a:p>
        </p:txBody>
      </p:sp>
      <p:sp>
        <p:nvSpPr>
          <p:cNvPr id="8" name="Dikdörtgen 7"/>
          <p:cNvSpPr/>
          <p:nvPr/>
        </p:nvSpPr>
        <p:spPr>
          <a:xfrm>
            <a:off x="0" y="405488"/>
            <a:ext cx="12192000" cy="461665"/>
          </a:xfrm>
          <a:prstGeom prst="rect">
            <a:avLst/>
          </a:prstGeom>
        </p:spPr>
        <p:txBody>
          <a:bodyPr wrap="square">
            <a:spAutoFit/>
          </a:bodyPr>
          <a:lstStyle/>
          <a:p>
            <a:pPr lvl="0" algn="ctr">
              <a:buClr>
                <a:srgbClr val="000000"/>
              </a:buClr>
              <a:buSzPts val="2400"/>
            </a:pPr>
            <a:r>
              <a:rPr lang="tr-TR" sz="2400" b="1" dirty="0">
                <a:solidFill>
                  <a:srgbClr val="002060"/>
                </a:solidFill>
                <a:latin typeface="Times New Roman" panose="02020603050405020304" pitchFamily="18" charset="0"/>
                <a:ea typeface="Times New Roman"/>
                <a:cs typeface="Times New Roman" panose="02020603050405020304" pitchFamily="18" charset="0"/>
                <a:sym typeface="Times New Roman"/>
              </a:rPr>
              <a:t>SORU VE ÖNERİLER</a:t>
            </a:r>
            <a:endParaRPr lang="tr-TR" sz="24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9288703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3"/>
          <p:cNvSpPr>
            <a:spLocks noGrp="1"/>
          </p:cNvSpPr>
          <p:nvPr>
            <p:ph sz="half" idx="4294967295"/>
          </p:nvPr>
        </p:nvSpPr>
        <p:spPr>
          <a:xfrm>
            <a:off x="1289538" y="1383323"/>
            <a:ext cx="10533185" cy="4770194"/>
          </a:xfrm>
        </p:spPr>
        <p:txBody>
          <a:bodyPr>
            <a:normAutofit/>
          </a:bodyPr>
          <a:lstStyle/>
          <a:p>
            <a:pPr marL="0" indent="0">
              <a:buNone/>
            </a:pPr>
            <a:r>
              <a:rPr lang="tr-TR" sz="2400" dirty="0" err="1">
                <a:latin typeface="Times New Roman" panose="02020603050405020304" pitchFamily="18" charset="0"/>
                <a:cs typeface="Times New Roman" panose="02020603050405020304" pitchFamily="18" charset="0"/>
              </a:rPr>
              <a:t>Validasyon</a:t>
            </a:r>
            <a:r>
              <a:rPr lang="tr-TR" sz="2400" dirty="0">
                <a:latin typeface="Times New Roman" panose="02020603050405020304" pitchFamily="18" charset="0"/>
                <a:cs typeface="Times New Roman" panose="02020603050405020304" pitchFamily="18" charset="0"/>
              </a:rPr>
              <a:t> </a:t>
            </a:r>
          </a:p>
          <a:p>
            <a:pPr marL="0" indent="0">
              <a:buNone/>
            </a:pPr>
            <a:r>
              <a:rPr lang="tr-TR" sz="2400" dirty="0">
                <a:latin typeface="Times New Roman" panose="02020603050405020304" pitchFamily="18" charset="0"/>
                <a:cs typeface="Times New Roman" panose="02020603050405020304" pitchFamily="18" charset="0"/>
              </a:rPr>
              <a:t>Sterilizasyonun rutin izlenmesi</a:t>
            </a:r>
          </a:p>
          <a:p>
            <a:pPr marL="0" indent="0">
              <a:buNone/>
            </a:pPr>
            <a:endParaRPr lang="tr-TR" sz="2400" dirty="0">
              <a:latin typeface="Times New Roman" panose="02020603050405020304" pitchFamily="18" charset="0"/>
              <a:cs typeface="Times New Roman" panose="02020603050405020304" pitchFamily="18" charset="0"/>
            </a:endParaRPr>
          </a:p>
        </p:txBody>
      </p:sp>
      <p:pic>
        <p:nvPicPr>
          <p:cNvPr id="7" name="Google Shape;323;g2ea15ffc163_0_213"/>
          <p:cNvPicPr preferRelativeResize="0"/>
          <p:nvPr/>
        </p:nvPicPr>
        <p:blipFill rotWithShape="1">
          <a:blip r:embed="rId2">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45</a:t>
            </a:fld>
            <a:endParaRPr lang="tr-TR"/>
          </a:p>
        </p:txBody>
      </p:sp>
      <p:sp>
        <p:nvSpPr>
          <p:cNvPr id="9" name="Dikdörtgen 8"/>
          <p:cNvSpPr/>
          <p:nvPr/>
        </p:nvSpPr>
        <p:spPr>
          <a:xfrm>
            <a:off x="1" y="385351"/>
            <a:ext cx="12191999" cy="461665"/>
          </a:xfrm>
          <a:prstGeom prst="rect">
            <a:avLst/>
          </a:prstGeom>
        </p:spPr>
        <p:txBody>
          <a:bodyPr wrap="square">
            <a:spAutoFit/>
          </a:bodyPr>
          <a:lstStyle/>
          <a:p>
            <a:pPr lvl="0" algn="ctr">
              <a:buClr>
                <a:srgbClr val="000000"/>
              </a:buClr>
              <a:buSzPts val="2400"/>
            </a:pPr>
            <a:r>
              <a:rPr lang="tr-TR" sz="2400" b="1" dirty="0">
                <a:solidFill>
                  <a:srgbClr val="002060"/>
                </a:solidFill>
                <a:latin typeface="Times New Roman" panose="02020603050405020304" pitchFamily="18" charset="0"/>
                <a:ea typeface="Times New Roman"/>
                <a:cs typeface="Times New Roman" panose="02020603050405020304" pitchFamily="18" charset="0"/>
                <a:sym typeface="Times New Roman"/>
              </a:rPr>
              <a:t>ÖNERİLEN HAFTALIK ÇALIŞMALAR</a:t>
            </a:r>
            <a:endParaRPr lang="tr-TR" sz="24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4880479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3"/>
          <p:cNvSpPr>
            <a:spLocks noGrp="1"/>
          </p:cNvSpPr>
          <p:nvPr>
            <p:ph sz="half" idx="4294967295"/>
          </p:nvPr>
        </p:nvSpPr>
        <p:spPr>
          <a:xfrm>
            <a:off x="1289538" y="1383323"/>
            <a:ext cx="10533185" cy="4770194"/>
          </a:xfrm>
        </p:spPr>
        <p:txBody>
          <a:bodyPr>
            <a:normAutofit/>
          </a:bodyPr>
          <a:lstStyle/>
          <a:p>
            <a:pPr marL="0" indent="0" algn="just">
              <a:buNone/>
            </a:pPr>
            <a:r>
              <a:rPr lang="tr-TR" sz="2400" dirty="0" err="1">
                <a:latin typeface="Times New Roman" panose="02020603050405020304" pitchFamily="18" charset="0"/>
                <a:cs typeface="Times New Roman" panose="02020603050405020304" pitchFamily="18" charset="0"/>
              </a:rPr>
              <a:t>Zenciroğlu</a:t>
            </a:r>
            <a:r>
              <a:rPr lang="tr-TR" sz="2400" dirty="0">
                <a:latin typeface="Times New Roman" panose="02020603050405020304" pitchFamily="18" charset="0"/>
                <a:cs typeface="Times New Roman" panose="02020603050405020304" pitchFamily="18" charset="0"/>
              </a:rPr>
              <a:t>, D. (2024). Dezenfeksiyon Antisepsi Sterilizasyon Rehberi.</a:t>
            </a:r>
          </a:p>
          <a:p>
            <a:pPr marL="0" indent="0" algn="just">
              <a:buNone/>
            </a:pPr>
            <a:r>
              <a:rPr lang="tr-TR" sz="2400" dirty="0" err="1">
                <a:latin typeface="Times New Roman" panose="02020603050405020304" pitchFamily="18" charset="0"/>
                <a:cs typeface="Times New Roman" panose="02020603050405020304" pitchFamily="18" charset="0"/>
              </a:rPr>
              <a:t>Altındiş</a:t>
            </a:r>
            <a:r>
              <a:rPr lang="tr-TR" sz="2400" dirty="0">
                <a:latin typeface="Times New Roman" panose="02020603050405020304" pitchFamily="18" charset="0"/>
                <a:cs typeface="Times New Roman" panose="02020603050405020304" pitchFamily="18" charset="0"/>
              </a:rPr>
              <a:t>, M. (2021). Hemşireler için Mikrobiyoloji. Ankara: </a:t>
            </a:r>
            <a:r>
              <a:rPr lang="tr-TR" sz="2400" dirty="0" err="1">
                <a:latin typeface="Times New Roman" panose="02020603050405020304" pitchFamily="18" charset="0"/>
                <a:cs typeface="Times New Roman" panose="02020603050405020304" pitchFamily="18" charset="0"/>
              </a:rPr>
              <a:t>NobelTıp</a:t>
            </a:r>
            <a:r>
              <a:rPr lang="tr-TR" sz="2400" dirty="0">
                <a:latin typeface="Times New Roman" panose="02020603050405020304" pitchFamily="18" charset="0"/>
                <a:cs typeface="Times New Roman" panose="02020603050405020304" pitchFamily="18" charset="0"/>
              </a:rPr>
              <a:t> Kitabevi.</a:t>
            </a:r>
          </a:p>
        </p:txBody>
      </p:sp>
      <p:pic>
        <p:nvPicPr>
          <p:cNvPr id="7" name="Google Shape;323;g2ea15ffc163_0_213"/>
          <p:cNvPicPr preferRelativeResize="0"/>
          <p:nvPr/>
        </p:nvPicPr>
        <p:blipFill rotWithShape="1">
          <a:blip r:embed="rId2">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46</a:t>
            </a:fld>
            <a:endParaRPr lang="tr-TR"/>
          </a:p>
        </p:txBody>
      </p:sp>
      <p:sp>
        <p:nvSpPr>
          <p:cNvPr id="8" name="Dikdörtgen 7"/>
          <p:cNvSpPr/>
          <p:nvPr/>
        </p:nvSpPr>
        <p:spPr>
          <a:xfrm>
            <a:off x="1" y="283101"/>
            <a:ext cx="12191999" cy="461665"/>
          </a:xfrm>
          <a:prstGeom prst="rect">
            <a:avLst/>
          </a:prstGeom>
        </p:spPr>
        <p:txBody>
          <a:bodyPr wrap="square">
            <a:spAutoFit/>
          </a:bodyPr>
          <a:lstStyle/>
          <a:p>
            <a:pPr lvl="0" algn="ctr">
              <a:buClr>
                <a:srgbClr val="000000"/>
              </a:buClr>
              <a:buSzPts val="2400"/>
            </a:pPr>
            <a:r>
              <a:rPr lang="tr-TR" sz="2400" b="1" dirty="0">
                <a:solidFill>
                  <a:srgbClr val="002060"/>
                </a:solidFill>
                <a:latin typeface="Times New Roman" panose="02020603050405020304" pitchFamily="18" charset="0"/>
                <a:ea typeface="Times New Roman"/>
                <a:cs typeface="Times New Roman" panose="02020603050405020304" pitchFamily="18" charset="0"/>
                <a:sym typeface="Times New Roman"/>
              </a:rPr>
              <a:t>KAYNAKÇA</a:t>
            </a:r>
            <a:endParaRPr lang="tr-TR" sz="24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5113560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3"/>
          <p:cNvSpPr>
            <a:spLocks noGrp="1"/>
          </p:cNvSpPr>
          <p:nvPr>
            <p:ph sz="half" idx="4294967295"/>
          </p:nvPr>
        </p:nvSpPr>
        <p:spPr>
          <a:xfrm>
            <a:off x="1289538" y="1420269"/>
            <a:ext cx="10533185" cy="4770194"/>
          </a:xfrm>
        </p:spPr>
        <p:txBody>
          <a:bodyPr>
            <a:normAutofit/>
          </a:bodyPr>
          <a:lstStyle/>
          <a:p>
            <a:r>
              <a:rPr lang="tr-TR" sz="2400" dirty="0">
                <a:latin typeface="Times New Roman" panose="02020603050405020304" pitchFamily="18" charset="0"/>
                <a:cs typeface="Times New Roman" panose="02020603050405020304" pitchFamily="18" charset="0"/>
              </a:rPr>
              <a:t>Setlerin kodlanması ve dokümantasyonu</a:t>
            </a:r>
            <a:endParaRPr lang="en-US" sz="2400" dirty="0">
              <a:latin typeface="Times New Roman" panose="02020603050405020304" pitchFamily="18" charset="0"/>
              <a:cs typeface="Times New Roman" panose="02020603050405020304" pitchFamily="18" charset="0"/>
            </a:endParaRPr>
          </a:p>
        </p:txBody>
      </p:sp>
      <p:pic>
        <p:nvPicPr>
          <p:cNvPr id="7" name="Google Shape;323;g2ea15ffc163_0_213"/>
          <p:cNvPicPr preferRelativeResize="0"/>
          <p:nvPr/>
        </p:nvPicPr>
        <p:blipFill rotWithShape="1">
          <a:blip r:embed="rId2">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47</a:t>
            </a:fld>
            <a:endParaRPr lang="tr-TR"/>
          </a:p>
        </p:txBody>
      </p:sp>
      <p:sp>
        <p:nvSpPr>
          <p:cNvPr id="8" name="Dikdörtgen 7"/>
          <p:cNvSpPr/>
          <p:nvPr/>
        </p:nvSpPr>
        <p:spPr>
          <a:xfrm>
            <a:off x="0" y="295191"/>
            <a:ext cx="12191999" cy="461665"/>
          </a:xfrm>
          <a:prstGeom prst="rect">
            <a:avLst/>
          </a:prstGeom>
        </p:spPr>
        <p:txBody>
          <a:bodyPr wrap="square">
            <a:spAutoFit/>
          </a:bodyPr>
          <a:lstStyle/>
          <a:p>
            <a:pPr lvl="0" algn="ctr">
              <a:buClr>
                <a:srgbClr val="000000"/>
              </a:buClr>
              <a:buSzPts val="2400"/>
            </a:pPr>
            <a:r>
              <a:rPr lang="tr-TR" sz="2400" b="1" dirty="0">
                <a:solidFill>
                  <a:srgbClr val="002060"/>
                </a:solidFill>
                <a:latin typeface="Times New Roman" panose="02020603050405020304" pitchFamily="18" charset="0"/>
                <a:ea typeface="Times New Roman"/>
                <a:cs typeface="Times New Roman" panose="02020603050405020304" pitchFamily="18" charset="0"/>
                <a:sym typeface="Times New Roman"/>
              </a:rPr>
              <a:t>BİR SONRAKİ DERS HAKKINDA</a:t>
            </a:r>
            <a:endParaRPr lang="tr-TR" sz="24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42870701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6" name="İçerik Yer Tutucusu 2"/>
          <p:cNvSpPr>
            <a:spLocks noGrp="1"/>
          </p:cNvSpPr>
          <p:nvPr>
            <p:ph idx="1"/>
          </p:nvPr>
        </p:nvSpPr>
        <p:spPr>
          <a:xfrm>
            <a:off x="1240220" y="1208690"/>
            <a:ext cx="10710042" cy="5391807"/>
          </a:xfrm>
        </p:spPr>
        <p:txBody>
          <a:bodyPr>
            <a:normAutofit/>
          </a:bodyPr>
          <a:lstStyle/>
          <a:p>
            <a:pPr marL="0" indent="0" algn="ctr">
              <a:buNone/>
            </a:pPr>
            <a:endParaRPr lang="tr-TR" dirty="0">
              <a:solidFill>
                <a:srgbClr val="002060"/>
              </a:solidFill>
              <a:ea typeface="Times New Roman"/>
              <a:cs typeface="Times New Roman"/>
              <a:sym typeface="Times New Roman"/>
            </a:endParaRPr>
          </a:p>
          <a:p>
            <a:pPr marL="0" indent="0" algn="ctr">
              <a:buNone/>
            </a:pPr>
            <a:endParaRPr lang="tr-TR" dirty="0">
              <a:solidFill>
                <a:srgbClr val="002060"/>
              </a:solidFill>
              <a:ea typeface="Times New Roman"/>
              <a:cs typeface="Times New Roman"/>
              <a:sym typeface="Times New Roman"/>
            </a:endParaRPr>
          </a:p>
          <a:p>
            <a:pPr marL="0" indent="0" algn="ctr">
              <a:buNone/>
            </a:pPr>
            <a:r>
              <a:rPr lang="tr-TR" dirty="0">
                <a:solidFill>
                  <a:srgbClr val="002060"/>
                </a:solidFill>
                <a:ea typeface="Times New Roman"/>
                <a:cs typeface="Times New Roman"/>
                <a:sym typeface="Times New Roman"/>
              </a:rPr>
              <a:t>Dr. </a:t>
            </a:r>
            <a:r>
              <a:rPr lang="tr-TR" dirty="0" err="1">
                <a:solidFill>
                  <a:srgbClr val="002060"/>
                </a:solidFill>
                <a:ea typeface="Times New Roman"/>
                <a:cs typeface="Times New Roman"/>
                <a:sym typeface="Times New Roman"/>
              </a:rPr>
              <a:t>Öğr</a:t>
            </a:r>
            <a:r>
              <a:rPr lang="tr-TR" dirty="0">
                <a:solidFill>
                  <a:srgbClr val="002060"/>
                </a:solidFill>
                <a:ea typeface="Times New Roman"/>
                <a:cs typeface="Times New Roman"/>
                <a:sym typeface="Times New Roman"/>
              </a:rPr>
              <a:t>. Üyesi Sevinç Baba’nın Sterilizasyon ve Cerrahi Asepsi</a:t>
            </a:r>
            <a:br>
              <a:rPr lang="tr-TR" dirty="0">
                <a:solidFill>
                  <a:srgbClr val="002060"/>
                </a:solidFill>
                <a:ea typeface="Times New Roman"/>
                <a:cs typeface="Times New Roman"/>
                <a:sym typeface="Times New Roman"/>
              </a:rPr>
            </a:br>
            <a:br>
              <a:rPr lang="tr-TR" dirty="0">
                <a:solidFill>
                  <a:srgbClr val="002060"/>
                </a:solidFill>
                <a:ea typeface="Times New Roman"/>
                <a:cs typeface="Times New Roman"/>
                <a:sym typeface="Times New Roman"/>
              </a:rPr>
            </a:br>
            <a:r>
              <a:rPr lang="tr-TR" dirty="0">
                <a:solidFill>
                  <a:srgbClr val="002060"/>
                </a:solidFill>
                <a:ea typeface="Times New Roman"/>
                <a:cs typeface="Times New Roman"/>
                <a:sym typeface="Times New Roman"/>
              </a:rPr>
              <a:t>Dersine ait sunumlar özel olduğu için burada yer alan  metin ve görsellerin, </a:t>
            </a:r>
            <a:br>
              <a:rPr lang="tr-TR" dirty="0">
                <a:solidFill>
                  <a:srgbClr val="002060"/>
                </a:solidFill>
                <a:ea typeface="Times New Roman"/>
                <a:cs typeface="Times New Roman"/>
                <a:sym typeface="Times New Roman"/>
              </a:rPr>
            </a:br>
            <a:r>
              <a:rPr lang="tr-TR" dirty="0">
                <a:solidFill>
                  <a:srgbClr val="002060"/>
                </a:solidFill>
                <a:ea typeface="Times New Roman"/>
                <a:cs typeface="Times New Roman"/>
                <a:sym typeface="Times New Roman"/>
              </a:rPr>
              <a:t>dersin öğretim üyesinden </a:t>
            </a:r>
            <a:br>
              <a:rPr lang="tr-TR" dirty="0">
                <a:solidFill>
                  <a:srgbClr val="002060"/>
                </a:solidFill>
                <a:ea typeface="Times New Roman"/>
                <a:cs typeface="Times New Roman"/>
                <a:sym typeface="Times New Roman"/>
              </a:rPr>
            </a:br>
            <a:r>
              <a:rPr lang="tr-TR" b="1" dirty="0">
                <a:solidFill>
                  <a:srgbClr val="002060"/>
                </a:solidFill>
                <a:ea typeface="Times New Roman"/>
                <a:cs typeface="Times New Roman"/>
                <a:sym typeface="Times New Roman"/>
              </a:rPr>
              <a:t>izin alınmaksızın sosyal medya ya da farklı alanlarda kullanılması</a:t>
            </a:r>
            <a:r>
              <a:rPr lang="tr-TR" dirty="0">
                <a:solidFill>
                  <a:srgbClr val="002060"/>
                </a:solidFill>
                <a:ea typeface="Times New Roman"/>
                <a:cs typeface="Times New Roman"/>
                <a:sym typeface="Times New Roman"/>
              </a:rPr>
              <a:t>, </a:t>
            </a:r>
            <a:br>
              <a:rPr lang="tr-TR" dirty="0">
                <a:solidFill>
                  <a:srgbClr val="002060"/>
                </a:solidFill>
                <a:ea typeface="Times New Roman"/>
                <a:cs typeface="Times New Roman"/>
                <a:sym typeface="Times New Roman"/>
              </a:rPr>
            </a:br>
            <a:r>
              <a:rPr lang="tr-TR" b="1" i="1" u="sng" dirty="0">
                <a:solidFill>
                  <a:srgbClr val="FF0000"/>
                </a:solidFill>
                <a:ea typeface="Times New Roman"/>
                <a:cs typeface="Times New Roman"/>
                <a:sym typeface="Times New Roman"/>
              </a:rPr>
              <a:t>6698 Sayılı Kanun </a:t>
            </a:r>
            <a:r>
              <a:rPr lang="tr-TR" dirty="0">
                <a:solidFill>
                  <a:srgbClr val="002060"/>
                </a:solidFill>
                <a:ea typeface="Times New Roman"/>
                <a:cs typeface="Times New Roman"/>
                <a:sym typeface="Times New Roman"/>
              </a:rPr>
              <a:t>ile güvence altına alınan kişisel verilerin ve özel hayatın korunmasına yönelik düzenlemelere aykırıdır.</a:t>
            </a:r>
            <a:br>
              <a:rPr lang="tr-TR" dirty="0">
                <a:solidFill>
                  <a:srgbClr val="002060"/>
                </a:solidFill>
                <a:ea typeface="Times New Roman"/>
                <a:cs typeface="Times New Roman"/>
                <a:sym typeface="Times New Roman"/>
              </a:rPr>
            </a:br>
            <a:endParaRPr lang="tr-TR" sz="2400" dirty="0"/>
          </a:p>
        </p:txBody>
      </p:sp>
      <p:pic>
        <p:nvPicPr>
          <p:cNvPr id="7" name="Google Shape;323;g2ea15ffc163_0_213"/>
          <p:cNvPicPr preferRelativeResize="0"/>
          <p:nvPr/>
        </p:nvPicPr>
        <p:blipFill rotWithShape="1">
          <a:blip r:embed="rId3">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48</a:t>
            </a:fld>
            <a:endParaRPr lang="tr-TR"/>
          </a:p>
        </p:txBody>
      </p:sp>
    </p:spTree>
    <p:extLst>
      <p:ext uri="{BB962C8B-B14F-4D97-AF65-F5344CB8AC3E}">
        <p14:creationId xmlns:p14="http://schemas.microsoft.com/office/powerpoint/2010/main" val="6703811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0" y="-13188"/>
            <a:ext cx="12215446" cy="6871188"/>
          </a:xfrm>
          <a:prstGeom prst="rect">
            <a:avLst/>
          </a:prstGeom>
        </p:spPr>
      </p:pic>
      <p:sp>
        <p:nvSpPr>
          <p:cNvPr id="6" name="İçerik Yer Tutucusu 2"/>
          <p:cNvSpPr>
            <a:spLocks noGrp="1"/>
          </p:cNvSpPr>
          <p:nvPr>
            <p:ph idx="1"/>
          </p:nvPr>
        </p:nvSpPr>
        <p:spPr>
          <a:xfrm>
            <a:off x="1240220" y="1208690"/>
            <a:ext cx="6494080" cy="5391807"/>
          </a:xfrm>
        </p:spPr>
        <p:txBody>
          <a:bodyPr>
            <a:normAutofit/>
          </a:bodyPr>
          <a:lstStyle/>
          <a:p>
            <a:pPr marL="0" lvl="0" indent="0" algn="ctr">
              <a:lnSpc>
                <a:spcPct val="100000"/>
              </a:lnSpc>
              <a:spcBef>
                <a:spcPts val="0"/>
              </a:spcBef>
              <a:buClr>
                <a:srgbClr val="000000"/>
              </a:buClr>
              <a:buSzPts val="2400"/>
              <a:buNone/>
            </a:pPr>
            <a:endParaRPr lang="tr-TR" i="1" u="sng" dirty="0">
              <a:solidFill>
                <a:srgbClr val="172652"/>
              </a:solidFill>
              <a:ea typeface="Times New Roman"/>
              <a:cs typeface="Times New Roman"/>
              <a:sym typeface="Times New Roman"/>
            </a:endParaRPr>
          </a:p>
          <a:p>
            <a:pPr marL="0" lvl="0" indent="0" algn="ctr">
              <a:lnSpc>
                <a:spcPct val="100000"/>
              </a:lnSpc>
              <a:spcBef>
                <a:spcPts val="0"/>
              </a:spcBef>
              <a:buClr>
                <a:srgbClr val="000000"/>
              </a:buClr>
              <a:buSzPts val="2400"/>
              <a:buNone/>
            </a:pPr>
            <a:endParaRPr lang="tr-TR" i="1" u="sng" dirty="0">
              <a:solidFill>
                <a:srgbClr val="172652"/>
              </a:solidFill>
              <a:ea typeface="Times New Roman"/>
              <a:cs typeface="Times New Roman"/>
              <a:sym typeface="Times New Roman"/>
            </a:endParaRPr>
          </a:p>
          <a:p>
            <a:pPr marL="0" lvl="0" indent="0" algn="ctr">
              <a:lnSpc>
                <a:spcPct val="100000"/>
              </a:lnSpc>
              <a:spcBef>
                <a:spcPts val="0"/>
              </a:spcBef>
              <a:buClr>
                <a:srgbClr val="000000"/>
              </a:buClr>
              <a:buSzPts val="2400"/>
              <a:buNone/>
            </a:pPr>
            <a:endParaRPr lang="tr-TR" i="1" u="sng" dirty="0">
              <a:solidFill>
                <a:srgbClr val="172652"/>
              </a:solidFill>
              <a:ea typeface="Times New Roman"/>
              <a:cs typeface="Times New Roman"/>
              <a:sym typeface="Times New Roman"/>
            </a:endParaRPr>
          </a:p>
          <a:p>
            <a:pPr algn="ctr">
              <a:lnSpc>
                <a:spcPct val="150000"/>
              </a:lnSpc>
            </a:pPr>
            <a:r>
              <a:rPr lang="tr-TR" dirty="0"/>
              <a:t>“Kendiniz için değil, bağlı bulunduğunuz ulus için elbirliği ile çalışınız. Çalışmaların en yükseği budur.”</a:t>
            </a:r>
          </a:p>
          <a:p>
            <a:pPr lvl="0" algn="ctr">
              <a:lnSpc>
                <a:spcPct val="100000"/>
              </a:lnSpc>
              <a:spcBef>
                <a:spcPts val="0"/>
              </a:spcBef>
              <a:buClr>
                <a:srgbClr val="000000"/>
              </a:buClr>
              <a:buSzPts val="2400"/>
            </a:pPr>
            <a:endParaRPr lang="tr-TR" i="1" u="sng" dirty="0">
              <a:solidFill>
                <a:srgbClr val="172652"/>
              </a:solidFill>
              <a:ea typeface="Times New Roman"/>
              <a:cs typeface="Times New Roman"/>
              <a:sym typeface="Times New Roman"/>
            </a:endParaRPr>
          </a:p>
          <a:p>
            <a:pPr lvl="0" algn="ctr">
              <a:lnSpc>
                <a:spcPct val="100000"/>
              </a:lnSpc>
              <a:spcBef>
                <a:spcPts val="0"/>
              </a:spcBef>
              <a:buClr>
                <a:srgbClr val="000000"/>
              </a:buClr>
              <a:buSzPts val="2400"/>
            </a:pPr>
            <a:r>
              <a:rPr lang="tr-TR" b="1" dirty="0">
                <a:solidFill>
                  <a:srgbClr val="172652"/>
                </a:solidFill>
                <a:ea typeface="Times New Roman"/>
                <a:cs typeface="Times New Roman"/>
                <a:sym typeface="Times New Roman"/>
              </a:rPr>
              <a:t>                              Mustafa Kemal ATATÜRK</a:t>
            </a:r>
          </a:p>
          <a:p>
            <a:pPr marL="0" lvl="0" indent="0" algn="ctr">
              <a:lnSpc>
                <a:spcPct val="100000"/>
              </a:lnSpc>
              <a:spcBef>
                <a:spcPts val="0"/>
              </a:spcBef>
              <a:buClr>
                <a:srgbClr val="000000"/>
              </a:buClr>
              <a:buSzPts val="2400"/>
              <a:buNone/>
            </a:pPr>
            <a:endParaRPr lang="tr-TR" i="1" u="sng" dirty="0">
              <a:solidFill>
                <a:srgbClr val="172652"/>
              </a:solidFill>
              <a:ea typeface="Times New Roman"/>
              <a:cs typeface="Times New Roman"/>
              <a:sym typeface="Times New Roman"/>
            </a:endParaRPr>
          </a:p>
        </p:txBody>
      </p:sp>
      <p:pic>
        <p:nvPicPr>
          <p:cNvPr id="7" name="Google Shape;323;g2ea15ffc163_0_229" descr="kişi, şahıs, insan yüzü, giyim, askeri üniforma içeren bir resim&#10;&#10;Açıklama otomatik olarak oluşturuldu"/>
          <p:cNvPicPr preferRelativeResize="0"/>
          <p:nvPr/>
        </p:nvPicPr>
        <p:blipFill rotWithShape="1">
          <a:blip r:embed="rId3">
            <a:alphaModFix/>
          </a:blip>
          <a:srcRect l="16533"/>
          <a:stretch/>
        </p:blipFill>
        <p:spPr>
          <a:xfrm>
            <a:off x="8421447" y="1542485"/>
            <a:ext cx="3570201" cy="4620704"/>
          </a:xfrm>
          <a:prstGeom prst="rect">
            <a:avLst/>
          </a:prstGeom>
          <a:noFill/>
          <a:ln>
            <a:noFill/>
          </a:ln>
        </p:spPr>
      </p:pic>
      <p:pic>
        <p:nvPicPr>
          <p:cNvPr id="8" name="Google Shape;323;g2ea15ffc163_0_213"/>
          <p:cNvPicPr preferRelativeResize="0"/>
          <p:nvPr/>
        </p:nvPicPr>
        <p:blipFill rotWithShape="1">
          <a:blip r:embed="rId4">
            <a:alphaModFix/>
          </a:blip>
          <a:srcRect/>
          <a:stretch/>
        </p:blipFill>
        <p:spPr>
          <a:xfrm>
            <a:off x="10726678" y="104832"/>
            <a:ext cx="1465322" cy="860924"/>
          </a:xfrm>
          <a:prstGeom prst="rect">
            <a:avLst/>
          </a:prstGeom>
          <a:noFill/>
          <a:ln>
            <a:noFill/>
          </a:ln>
        </p:spPr>
      </p:pic>
      <p:sp>
        <p:nvSpPr>
          <p:cNvPr id="2" name="Slayt Numarası Yer Tutucusu 1"/>
          <p:cNvSpPr>
            <a:spLocks noGrp="1"/>
          </p:cNvSpPr>
          <p:nvPr>
            <p:ph type="sldNum" sz="quarter" idx="12"/>
          </p:nvPr>
        </p:nvSpPr>
        <p:spPr/>
        <p:txBody>
          <a:bodyPr/>
          <a:lstStyle/>
          <a:p>
            <a:fld id="{125D401F-286E-468B-9BCD-6DE50C180B4C}" type="slidenum">
              <a:rPr lang="tr-TR" smtClean="0"/>
              <a:t>49</a:t>
            </a:fld>
            <a:endParaRPr lang="tr-TR" dirty="0"/>
          </a:p>
        </p:txBody>
      </p:sp>
    </p:spTree>
    <p:extLst>
      <p:ext uri="{BB962C8B-B14F-4D97-AF65-F5344CB8AC3E}">
        <p14:creationId xmlns:p14="http://schemas.microsoft.com/office/powerpoint/2010/main" val="21919399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br>
              <a:rPr lang="tr-TR" dirty="0"/>
            </a:br>
            <a:endParaRPr lang="tr-TR" dirty="0"/>
          </a:p>
        </p:txBody>
      </p:sp>
      <p:sp>
        <p:nvSpPr>
          <p:cNvPr id="3" name="İçerik Yer Tutucusu 2"/>
          <p:cNvSpPr>
            <a:spLocks noGrp="1"/>
          </p:cNvSpPr>
          <p:nvPr>
            <p:ph idx="1"/>
          </p:nvPr>
        </p:nvSpPr>
        <p:spPr/>
        <p:txBody>
          <a:bodyPr/>
          <a:lstStyle/>
          <a:p>
            <a:endParaRPr lang="tr-TR" dirty="0"/>
          </a:p>
          <a:p>
            <a:endParaRPr lang="tr-TR" dirty="0"/>
          </a:p>
        </p:txBody>
      </p:sp>
      <p:pic>
        <p:nvPicPr>
          <p:cNvPr id="4" name="Resim 3"/>
          <p:cNvPicPr>
            <a:picLocks noChangeAspect="1"/>
          </p:cNvPicPr>
          <p:nvPr/>
        </p:nvPicPr>
        <p:blipFill>
          <a:blip r:embed="rId2"/>
          <a:stretch>
            <a:fillRect/>
          </a:stretch>
        </p:blipFill>
        <p:spPr>
          <a:xfrm>
            <a:off x="0" y="1"/>
            <a:ext cx="12192000" cy="6858000"/>
          </a:xfrm>
          <a:prstGeom prst="rect">
            <a:avLst/>
          </a:prstGeom>
        </p:spPr>
      </p:pic>
      <p:pic>
        <p:nvPicPr>
          <p:cNvPr id="5" name="Google Shape;323;g2ea15ffc163_0_213"/>
          <p:cNvPicPr preferRelativeResize="0"/>
          <p:nvPr/>
        </p:nvPicPr>
        <p:blipFill rotWithShape="1">
          <a:blip r:embed="rId3">
            <a:alphaModFix/>
          </a:blip>
          <a:srcRect/>
          <a:stretch/>
        </p:blipFill>
        <p:spPr>
          <a:xfrm>
            <a:off x="10149254" y="365125"/>
            <a:ext cx="1761392" cy="1039755"/>
          </a:xfrm>
          <a:prstGeom prst="rect">
            <a:avLst/>
          </a:prstGeom>
          <a:noFill/>
          <a:ln>
            <a:noFill/>
          </a:ln>
        </p:spPr>
      </p:pic>
      <p:sp>
        <p:nvSpPr>
          <p:cNvPr id="6" name="Slayt Numarası Yer Tutucusu 5"/>
          <p:cNvSpPr>
            <a:spLocks noGrp="1"/>
          </p:cNvSpPr>
          <p:nvPr>
            <p:ph type="sldNum" sz="quarter" idx="12"/>
          </p:nvPr>
        </p:nvSpPr>
        <p:spPr/>
        <p:txBody>
          <a:bodyPr/>
          <a:lstStyle/>
          <a:p>
            <a:fld id="{125D401F-286E-468B-9BCD-6DE50C180B4C}" type="slidenum">
              <a:rPr lang="tr-TR" smtClean="0"/>
              <a:t>50</a:t>
            </a:fld>
            <a:endParaRPr lang="tr-TR"/>
          </a:p>
        </p:txBody>
      </p:sp>
    </p:spTree>
    <p:extLst>
      <p:ext uri="{BB962C8B-B14F-4D97-AF65-F5344CB8AC3E}">
        <p14:creationId xmlns:p14="http://schemas.microsoft.com/office/powerpoint/2010/main" val="1750133479"/>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2185</TotalTime>
  <Words>2669</Words>
  <Application>Microsoft Macintosh PowerPoint</Application>
  <PresentationFormat>Geniş ekran</PresentationFormat>
  <Paragraphs>325</Paragraphs>
  <Slides>50</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50</vt:i4>
      </vt:variant>
    </vt:vector>
  </HeadingPairs>
  <TitlesOfParts>
    <vt:vector size="56" baseType="lpstr">
      <vt:lpstr>Arial</vt:lpstr>
      <vt:lpstr>Calibri</vt:lpstr>
      <vt:lpstr>Calibri Light</vt:lpstr>
      <vt:lpstr>Times New Roman</vt:lpstr>
      <vt:lpstr>Wingdings</vt:lpstr>
      <vt:lpstr>Office Teması</vt:lpstr>
      <vt:lpstr>  </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kaydemir</dc:creator>
  <cp:lastModifiedBy>Kıvanç Derya PEKER</cp:lastModifiedBy>
  <cp:revision>196</cp:revision>
  <dcterms:created xsi:type="dcterms:W3CDTF">2024-07-10T08:02:52Z</dcterms:created>
  <dcterms:modified xsi:type="dcterms:W3CDTF">2025-11-05T08:23:25Z</dcterms:modified>
</cp:coreProperties>
</file>