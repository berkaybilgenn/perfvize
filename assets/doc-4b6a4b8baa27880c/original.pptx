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media/image43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91" r:id="rId2"/>
    <p:sldId id="292" r:id="rId3"/>
    <p:sldId id="293" r:id="rId4"/>
    <p:sldId id="256" r:id="rId5"/>
    <p:sldId id="294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9" r:id="rId38"/>
    <p:sldId id="288" r:id="rId39"/>
    <p:sldId id="295" r:id="rId40"/>
    <p:sldId id="296" r:id="rId41"/>
    <p:sldId id="297" r:id="rId42"/>
    <p:sldId id="290" r:id="rId4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30" y="5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45657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5565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44421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00595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30215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94904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749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53095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41091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64295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60241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6841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181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3459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vesis.gelisim.edu.tr/aozbey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://noyantemucinogus.com.tr/mitral-kapak-hastaliklari/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1619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/>
          <p:cNvSpPr txBox="1"/>
          <p:nvPr/>
        </p:nvSpPr>
        <p:spPr>
          <a:xfrm>
            <a:off x="236220" y="1097280"/>
            <a:ext cx="11889106" cy="4906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srgbClr val="2E324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Bölümün Adı			:</a:t>
            </a: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PERFÜZYON</a:t>
            </a: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srgbClr val="2E324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srgbClr val="2E324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Dersi Kodu ve Adı		:</a:t>
            </a: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Yetişkin </a:t>
            </a:r>
            <a:r>
              <a:rPr kumimoji="0" lang="tr-TR" sz="24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Perfüzyon</a:t>
            </a: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1 (PER245)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srgbClr val="2E324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Dersin Haftası		</a:t>
            </a:r>
            <a:r>
              <a:rPr kumimoji="0" lang="tr-TR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2E324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:4.hafta</a:t>
            </a:r>
            <a:endParaRPr kumimoji="0" lang="tr-TR" sz="2400" b="1" i="0" u="none" strike="noStrike" kern="0" cap="none" spc="0" normalizeH="0" baseline="0" noProof="0" dirty="0">
              <a:ln>
                <a:noFill/>
              </a:ln>
              <a:solidFill>
                <a:srgbClr val="2E324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srgbClr val="2E324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Dersin Günü ve Saati	: </a:t>
            </a: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Cuma (15.00-15.50/16.00-16.50/17.00-17.45)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srgbClr val="2E324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Ders Kredi/AKTS Bilgileri	:</a:t>
            </a: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3/6,0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srgbClr val="2E324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Sınav Şekli/ Not Dağılımı	:</a:t>
            </a: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YAZILI SINAV/HER SORU 10 PUAN (10 SORULU)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srgbClr val="2E324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Dersin </a:t>
            </a:r>
            <a:r>
              <a:rPr kumimoji="0" lang="tr-T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2E324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Öğr</a:t>
            </a: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srgbClr val="2E324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Elemanı		:</a:t>
            </a: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ÖĞR. GÖR. ABİDİN ÖZBEY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srgbClr val="2E324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E-posta ve Telefon		:</a:t>
            </a: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aozbey@gelisim.edu.tr</a:t>
            </a:r>
            <a:endParaRPr kumimoji="0" lang="tr-TR" sz="2400" b="1" i="0" u="none" strike="noStrike" kern="0" cap="none" spc="0" normalizeH="0" baseline="0" noProof="0" dirty="0">
              <a:ln>
                <a:noFill/>
              </a:ln>
              <a:solidFill>
                <a:srgbClr val="2E324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1" i="0" u="none" strike="noStrike" kern="0" cap="none" spc="0" normalizeH="0" baseline="0" noProof="0" dirty="0" err="1">
                <a:ln>
                  <a:noFill/>
                </a:ln>
                <a:solidFill>
                  <a:srgbClr val="2E324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Öğr</a:t>
            </a: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srgbClr val="2E324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Elemanı Odası		:</a:t>
            </a: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 BLOK GİRİŞ KAT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srgbClr val="2E324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Danışmanlık Bilgileri	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srgbClr val="2E324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GBS Linki			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srgbClr val="2E324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ALMS Linki			:</a:t>
            </a:r>
            <a:r>
              <a:rPr kumimoji="0" lang="tr-TR" sz="900" b="1" i="0" u="none" strike="noStrike" kern="0" cap="none" spc="0" normalizeH="0" baseline="0" noProof="0" dirty="0">
                <a:ln>
                  <a:noFill/>
                </a:ln>
                <a:solidFill>
                  <a:srgbClr val="2E324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:https://lms.gelisim.edu.tr/almsp/u/course?classId=WDJLL3VBREwyV2FReUorV09UcjJ0dw&amp;activityId=RnB0RlF6REtRQktEdW55RGRyT0RrQQ&amp;type=1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1" i="0" u="none" strike="noStrike" kern="0" cap="none" spc="0" normalizeH="0" baseline="0" noProof="0" dirty="0">
                <a:ln>
                  <a:noFill/>
                </a:ln>
                <a:solidFill>
                  <a:srgbClr val="2E324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AVESİS Linki		:</a:t>
            </a:r>
            <a:r>
              <a:rPr kumimoji="0" lang="tr-TR" sz="2400" b="0" i="0" u="sng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hlinkClick r:id="rId3"/>
              </a:rPr>
              <a:t>https</a:t>
            </a:r>
            <a:r>
              <a:rPr kumimoji="0" lang="tr-TR" sz="2400" b="0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hlinkClick r:id="rId3"/>
              </a:rPr>
              <a:t>://avesis.gelisim.edu.tr/</a:t>
            </a:r>
            <a:r>
              <a:rPr kumimoji="0" lang="tr-TR" sz="2400" b="0" i="0" u="sng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hlinkClick r:id="rId3"/>
              </a:rPr>
              <a:t>aozbey</a:t>
            </a:r>
            <a:endParaRPr kumimoji="0" lang="tr-TR" sz="2400" b="1" i="0" u="none" strike="noStrike" kern="0" cap="none" spc="0" normalizeH="0" baseline="0" noProof="0" dirty="0">
              <a:ln>
                <a:noFill/>
              </a:ln>
              <a:solidFill>
                <a:srgbClr val="2E324B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936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3429000" y="685800"/>
            <a:ext cx="48586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0"/>
            <a:r>
              <a:rPr lang="tr-TR" sz="2400" b="1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14 HAFTALIK DERS KONULARI</a:t>
            </a:r>
            <a:endParaRPr lang="tr-TR" sz="2400" b="1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533400" y="2057400"/>
            <a:ext cx="11125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3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1.HAFTA  </a:t>
            </a:r>
            <a:r>
              <a:rPr kumimoji="0" lang="tr-TR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Mediasten</a:t>
            </a:r>
            <a:r>
              <a:rPr kumimoji="0" lang="tr-TR" sz="3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 Anatomi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3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2.HAFTA Kalp ve Damar Anatomi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3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3.HAFTA </a:t>
            </a:r>
            <a:r>
              <a:rPr kumimoji="0" lang="tr-TR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Perfüzyon</a:t>
            </a:r>
            <a:r>
              <a:rPr kumimoji="0" lang="tr-TR" sz="3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ve Akciğer Fizyolojisi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3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4.HAFTA Mitral Kapak Hastalıkları ve cerrahisi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3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5.HAFTA KPB Doğruları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3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6. HAFTA Erişkin Koroner Kalp Hastalığının cerrahi tedavisi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3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7.8.9.10.HAFTALAR Aorta </a:t>
            </a:r>
            <a:r>
              <a:rPr kumimoji="0" lang="tr-TR" sz="3200" b="0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diseksiyonu</a:t>
            </a:r>
            <a:r>
              <a:rPr kumimoji="0" lang="tr-TR" sz="32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ve cerrahisi</a:t>
            </a:r>
          </a:p>
        </p:txBody>
      </p:sp>
    </p:spTree>
    <p:extLst>
      <p:ext uri="{BB962C8B-B14F-4D97-AF65-F5344CB8AC3E}">
        <p14:creationId xmlns:p14="http://schemas.microsoft.com/office/powerpoint/2010/main" val="3249587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96126" y="2286000"/>
            <a:ext cx="5200650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62330" algn="ctr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MİTRAL</a:t>
            </a:r>
            <a:r>
              <a:rPr sz="5400" spc="-254" dirty="0"/>
              <a:t> </a:t>
            </a:r>
            <a:r>
              <a:rPr sz="5400" dirty="0"/>
              <a:t>KA</a:t>
            </a:r>
            <a:r>
              <a:rPr sz="5400" spc="-620" dirty="0"/>
              <a:t>P</a:t>
            </a:r>
            <a:r>
              <a:rPr sz="5400" dirty="0"/>
              <a:t>AK</a:t>
            </a:r>
            <a:r>
              <a:rPr sz="5400" spc="-125" dirty="0"/>
              <a:t> </a:t>
            </a:r>
            <a:r>
              <a:rPr sz="5400" spc="15" dirty="0"/>
              <a:t>HA</a:t>
            </a:r>
            <a:r>
              <a:rPr sz="5400" spc="-15" dirty="0"/>
              <a:t>S</a:t>
            </a:r>
            <a:r>
              <a:rPr sz="5400" spc="-530" dirty="0"/>
              <a:t>T</a:t>
            </a:r>
            <a:r>
              <a:rPr sz="5400" spc="5" dirty="0"/>
              <a:t>A</a:t>
            </a:r>
            <a:r>
              <a:rPr sz="5400" spc="10" dirty="0"/>
              <a:t>LIKLAR</a:t>
            </a:r>
            <a:r>
              <a:rPr sz="5400" spc="15" dirty="0"/>
              <a:t>I</a:t>
            </a:r>
            <a:r>
              <a:rPr sz="5400" spc="-295" dirty="0"/>
              <a:t> </a:t>
            </a:r>
            <a:r>
              <a:rPr sz="5400" spc="-25" dirty="0"/>
              <a:t>VE</a:t>
            </a:r>
            <a:endParaRPr sz="5400" dirty="0"/>
          </a:p>
          <a:p>
            <a:pPr marR="6350" algn="ctr">
              <a:lnSpc>
                <a:spcPct val="100000"/>
              </a:lnSpc>
              <a:spcBef>
                <a:spcPts val="5"/>
              </a:spcBef>
            </a:pPr>
            <a:r>
              <a:rPr sz="5400" spc="-10" dirty="0"/>
              <a:t>CERRAHİSİ</a:t>
            </a:r>
            <a:endParaRPr sz="5400" dirty="0"/>
          </a:p>
        </p:txBody>
      </p:sp>
      <p:sp>
        <p:nvSpPr>
          <p:cNvPr id="4" name="Dikdörtgen 3"/>
          <p:cNvSpPr/>
          <p:nvPr/>
        </p:nvSpPr>
        <p:spPr>
          <a:xfrm>
            <a:off x="3124200" y="685800"/>
            <a:ext cx="57899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2400" b="1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HAFTALIK ÖĞRENİM KAZANIMLARI</a:t>
            </a:r>
            <a:endParaRPr lang="tr-TR" sz="2400" b="1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4267200" y="762000"/>
            <a:ext cx="23493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2400" b="1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GÜNLÜK AKIŞ</a:t>
            </a:r>
            <a:endParaRPr lang="tr-TR" sz="2400" b="1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Google Shape;163;g2ea15ffc163_0_29"/>
          <p:cNvPicPr preferRelativeResize="0"/>
          <p:nvPr/>
        </p:nvPicPr>
        <p:blipFill rotWithShape="1">
          <a:blip r:embed="rId2">
            <a:alphaModFix/>
          </a:blip>
          <a:srcRect l="26333" t="23998" r="20703" b="21593"/>
          <a:stretch/>
        </p:blipFill>
        <p:spPr>
          <a:xfrm>
            <a:off x="457200" y="2667000"/>
            <a:ext cx="2860040" cy="234885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62;g2ea15ffc163_0_29"/>
          <p:cNvSpPr txBox="1"/>
          <p:nvPr/>
        </p:nvSpPr>
        <p:spPr>
          <a:xfrm>
            <a:off x="3317240" y="3048000"/>
            <a:ext cx="5856900" cy="3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>
              <a:buClr>
                <a:srgbClr val="000000"/>
              </a:buClr>
              <a:buSzPts val="2000"/>
              <a:buFont typeface="Arial"/>
              <a:buNone/>
            </a:pPr>
            <a:r>
              <a:rPr lang="tr-TR" sz="2800" kern="1200" dirty="0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15.00-15.50</a:t>
            </a:r>
            <a:r>
              <a:rPr lang="tr-TR" sz="2800" kern="1200" dirty="0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1. DERS</a:t>
            </a:r>
            <a:endParaRPr sz="2800" kern="1200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 rtl="0">
              <a:buClr>
                <a:srgbClr val="000000"/>
              </a:buClr>
              <a:buSzPts val="2000"/>
              <a:buFont typeface="Arial"/>
              <a:buNone/>
            </a:pPr>
            <a:r>
              <a:rPr lang="tr-TR" sz="2800" kern="1200" dirty="0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16.00-16.50</a:t>
            </a:r>
            <a:r>
              <a:rPr lang="tr-TR" sz="2800" kern="1200" dirty="0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 2. DERS</a:t>
            </a:r>
            <a:endParaRPr sz="2800" kern="1200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 rtl="0">
              <a:buClr>
                <a:srgbClr val="000000"/>
              </a:buClr>
              <a:buSzPts val="2000"/>
              <a:buFont typeface="Arial"/>
              <a:buNone/>
            </a:pPr>
            <a:r>
              <a:rPr lang="tr-TR" sz="2800" kern="1200" dirty="0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17.00-17.45/ </a:t>
            </a:r>
            <a:r>
              <a:rPr lang="tr-TR" sz="2800" kern="1200" dirty="0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DERS</a:t>
            </a:r>
            <a:endParaRPr sz="2800" kern="1200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 rtl="0">
              <a:buClr>
                <a:srgbClr val="000000"/>
              </a:buClr>
              <a:buSzPts val="2800"/>
              <a:buFont typeface="Arial"/>
              <a:buNone/>
            </a:pPr>
            <a:endParaRPr sz="3200" kern="1200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1978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9279" y="605468"/>
            <a:ext cx="3276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/>
              <a:t>İçindekiler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4384" y="1319463"/>
            <a:ext cx="3604895" cy="5228996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95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Mitral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kapak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nedir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?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Mitral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kapak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patolojileri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Mitral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darlık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nedir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Mitral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yetmezlik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Tanı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yöntemleri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Mitral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kapak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cerrahi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yöntemleri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Kapak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tercihi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MVR’de</a:t>
            </a:r>
            <a:r>
              <a:rPr sz="24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kanülasyon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Örnek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Vaka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54641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Mitral</a:t>
            </a:r>
            <a:r>
              <a:rPr b="1" spc="-20" dirty="0"/>
              <a:t> Kapak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2187905"/>
            <a:ext cx="5947410" cy="36548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 3"/>
              <a:buChar char=""/>
              <a:tabLst>
                <a:tab pos="355600" algn="l"/>
                <a:tab pos="423545" algn="l"/>
              </a:tabLst>
            </a:pPr>
            <a:r>
              <a:rPr sz="1450" dirty="0">
                <a:solidFill>
                  <a:srgbClr val="90C225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Kalbin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sol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atrium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ile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sol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ventrikül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arasında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bulunan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ve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akciğerlerden</a:t>
            </a:r>
            <a:r>
              <a:rPr sz="20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oksijenlenerek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kalbe</a:t>
            </a:r>
            <a:r>
              <a:rPr sz="20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gelen</a:t>
            </a:r>
            <a:r>
              <a:rPr sz="20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kanın</a:t>
            </a:r>
            <a:r>
              <a:rPr sz="20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tüm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vücuda</a:t>
            </a:r>
            <a:r>
              <a:rPr sz="20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dağıtılması</a:t>
            </a:r>
            <a:r>
              <a:rPr sz="20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için</a:t>
            </a:r>
            <a:r>
              <a:rPr sz="20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atriumdan</a:t>
            </a:r>
            <a:r>
              <a:rPr sz="20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ventriküle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geçiş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noktasında</a:t>
            </a:r>
            <a:r>
              <a:rPr sz="20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bulunan,</a:t>
            </a:r>
            <a:r>
              <a:rPr sz="20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iki</a:t>
            </a:r>
            <a:r>
              <a:rPr sz="20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yaprakçıktan</a:t>
            </a:r>
            <a:r>
              <a:rPr sz="20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oluşan</a:t>
            </a:r>
            <a:r>
              <a:rPr sz="20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semilunar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bir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kapaktır.</a:t>
            </a:r>
            <a:endParaRPr sz="20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Kanın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diyastol</a:t>
            </a:r>
            <a:r>
              <a:rPr sz="20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sırasında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sol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atriyumdan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sol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ventriküle</a:t>
            </a:r>
            <a:endParaRPr sz="2000" dirty="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geçmesi</a:t>
            </a:r>
            <a:r>
              <a:rPr sz="20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sırasında</a:t>
            </a:r>
            <a:r>
              <a:rPr sz="20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açılır.</a:t>
            </a:r>
            <a:endParaRPr sz="20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Sistol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sırasında</a:t>
            </a:r>
            <a:r>
              <a:rPr sz="20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ise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geriye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doğru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akımı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engellemeye</a:t>
            </a:r>
            <a:endParaRPr sz="2000" dirty="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çalışır.</a:t>
            </a:r>
            <a:endParaRPr sz="20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08089" y="475462"/>
            <a:ext cx="5273675" cy="55659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10" y="571212"/>
            <a:ext cx="1059749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Mitral</a:t>
            </a:r>
            <a:r>
              <a:rPr b="1" spc="-25" dirty="0"/>
              <a:t> </a:t>
            </a:r>
            <a:r>
              <a:rPr b="1" dirty="0"/>
              <a:t>Kapak</a:t>
            </a:r>
            <a:r>
              <a:rPr b="1" spc="-30" dirty="0"/>
              <a:t> </a:t>
            </a:r>
            <a:r>
              <a:rPr b="1" spc="-10" dirty="0"/>
              <a:t>Patolojileri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84400" y="1389598"/>
            <a:ext cx="6011799" cy="1320233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95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Darlık</a:t>
            </a:r>
            <a:endParaRPr sz="20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Yetersizlik</a:t>
            </a:r>
            <a:endParaRPr sz="20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Korda</a:t>
            </a:r>
            <a:r>
              <a:rPr sz="2000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tendinea</a:t>
            </a:r>
            <a:r>
              <a:rPr sz="2000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patolojileri</a:t>
            </a:r>
            <a:endParaRPr sz="20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5407" y="2962262"/>
            <a:ext cx="5664327" cy="28969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10" y="507215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Korda</a:t>
            </a:r>
            <a:r>
              <a:rPr b="1" spc="-235" dirty="0"/>
              <a:t> </a:t>
            </a:r>
            <a:r>
              <a:rPr b="1" spc="-45" dirty="0"/>
              <a:t>Tendenea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2187905"/>
            <a:ext cx="3338829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5600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Kalbin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içinde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bulunan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mitral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ve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triküspit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kapakçıkları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kalp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kaslarına</a:t>
            </a:r>
            <a:r>
              <a:rPr sz="2400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bağlayan</a:t>
            </a:r>
            <a:r>
              <a:rPr sz="2400" spc="-1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ipliksi 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yapılardır.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Görevleri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kalp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atımı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esnasında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kanın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atriuma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geri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kaçağınıı engellemektir.</a:t>
            </a:r>
            <a:endParaRPr sz="24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36185" y="852182"/>
            <a:ext cx="7259192" cy="54603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4345" y="53340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20" dirty="0"/>
              <a:t>Patolojileri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7194" y="1797825"/>
            <a:ext cx="257235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Elongasyon,</a:t>
            </a:r>
            <a:endParaRPr sz="28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3527" y="2403485"/>
            <a:ext cx="3855592" cy="286423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60240" y="1612775"/>
            <a:ext cx="1892959" cy="54783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30348" y="1612775"/>
            <a:ext cx="2494852" cy="6538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9796" y="2484361"/>
            <a:ext cx="2889757" cy="381038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36182" y="2266587"/>
            <a:ext cx="3855592" cy="40091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544218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Mitral</a:t>
            </a:r>
            <a:r>
              <a:rPr b="1" spc="-20" dirty="0"/>
              <a:t> </a:t>
            </a:r>
            <a:r>
              <a:rPr b="1" spc="-10" dirty="0"/>
              <a:t>darlığı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109" y="1515871"/>
            <a:ext cx="5906770" cy="3444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07645" indent="-3429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Ekokardiyografide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mitral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kapak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alanının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normal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çaplarının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altında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olması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mitral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kapak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darlığı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olarak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tanımlanır.Mitral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kapak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darlığı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kapağın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kapak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altı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dokularının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sertleşmesi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ve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açılıp</a:t>
            </a: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kapanma fonksiyonlarının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kısıtlanması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ile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ortaya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çıkar.</a:t>
            </a:r>
            <a:endParaRPr sz="18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Mitral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kapağın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daralması,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kalpte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atriumdan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ventriküle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geçmesi</a:t>
            </a:r>
            <a:r>
              <a:rPr sz="18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gereken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kanın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geçemeyip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atriumda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göllenmesi,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ritim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bozuklukları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gelişmesi,</a:t>
            </a: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pıhtılaşmaya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eğilimin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artması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ve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zamanla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akciğer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damarlarına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yansıyarak</a:t>
            </a: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akciğer</a:t>
            </a:r>
            <a:r>
              <a:rPr sz="18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tansiyonunun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yükselmesi,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akciğerlerde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kalpte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sıvı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toplanması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gibi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problemlere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yol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açabilen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bir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hastalıktır.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45071" y="744042"/>
            <a:ext cx="5149723" cy="52591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3600" y="533400"/>
            <a:ext cx="7696200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5800" y="533400"/>
            <a:ext cx="35052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/>
              <a:t>Belirtileri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1524000"/>
            <a:ext cx="7999730" cy="23056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95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Kanın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geride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akciğerlerde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birikmesi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sonucu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akciğer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içi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basıncı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artar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;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Nefes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darlığı,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Öksürük,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Çarpıntı,</a:t>
            </a:r>
            <a:endParaRPr sz="1800" dirty="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5600" algn="l"/>
              </a:tabLst>
            </a:pP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Kanlı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balgam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(pulmoner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ödem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ya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da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pulmoner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konjesyon)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gibi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şikayetlere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sebep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olur.</a:t>
            </a:r>
            <a:endParaRPr sz="18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0" y="3657600"/>
            <a:ext cx="8572500" cy="272770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6800" y="53340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5" dirty="0"/>
              <a:t>Tedavisi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508795"/>
            <a:ext cx="5116195" cy="82804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  <a:tab pos="612775" algn="l"/>
              </a:tabLst>
            </a:pP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1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cm2'ye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kadar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olan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darlıklarda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doktor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takibi,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  <a:tab pos="612775" algn="l"/>
              </a:tabLst>
            </a:pP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1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cm2'den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az</a:t>
            </a: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olanlarda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cerrahi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girişim</a:t>
            </a:r>
            <a:endParaRPr sz="18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7616" y="2133600"/>
            <a:ext cx="6076950" cy="42116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0" y="620067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Mitral</a:t>
            </a:r>
            <a:r>
              <a:rPr b="1" spc="-15" dirty="0"/>
              <a:t> </a:t>
            </a:r>
            <a:r>
              <a:rPr b="1" spc="-10" dirty="0"/>
              <a:t>yetmezliği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1487170"/>
            <a:ext cx="78505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 3"/>
              <a:buChar char=""/>
              <a:tabLst>
                <a:tab pos="355600" algn="l"/>
                <a:tab pos="492125" algn="l"/>
              </a:tabLst>
            </a:pPr>
            <a:r>
              <a:rPr sz="1450" dirty="0">
                <a:solidFill>
                  <a:srgbClr val="90C225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Mitral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kapağın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sol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ventrikülün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kasılması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sırasında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tam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kapanamaması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ve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bunun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sonucunda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sol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ventrikülden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sol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atriuma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kanın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geri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kaçmasıdır.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132" y="2415552"/>
            <a:ext cx="5287280" cy="39477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5558" y="869047"/>
            <a:ext cx="8213090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Font typeface="Wingdings 3"/>
              <a:buChar char=""/>
              <a:tabLst>
                <a:tab pos="355600" algn="l"/>
                <a:tab pos="424180" algn="l"/>
              </a:tabLst>
            </a:pPr>
            <a:r>
              <a:rPr sz="1450" dirty="0">
                <a:solidFill>
                  <a:srgbClr val="90C225"/>
                </a:solidFill>
                <a:latin typeface="Times New Roman"/>
                <a:cs typeface="Times New Roman"/>
              </a:rPr>
              <a:t>	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Mitral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yetmezliği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toplumumuzda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artan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yaş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ortalaması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ile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birlikte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nispeten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daha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sık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gözlenmeye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başlamıştır.</a:t>
            </a: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Dejeneratif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nedenli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mitral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yetmezliği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daha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sık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gözlense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iskemik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ya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da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romatizmal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nedenli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yetmezlikler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de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azımsanmayacak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ölçüde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gözlenebilmektedir.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Kalp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her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kasıldığında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kapalı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kalması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gereken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mitral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kapaktaki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kaçağa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bağlı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olarak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atriuma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ve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akciğerlere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kanın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kaçması,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vücuda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gitmesi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gereken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kanın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ise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yeteri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miktarda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yönlendirilememesi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ile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sonuçlanır.</a:t>
            </a:r>
            <a:endParaRPr sz="1800" dirty="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1204" y="2852052"/>
            <a:ext cx="3660899" cy="383166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86400" y="3294749"/>
            <a:ext cx="6449059" cy="29462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2580" y="533400"/>
            <a:ext cx="564449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/>
              <a:t>BELİRTİLERİ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1653" y="1600200"/>
            <a:ext cx="3176270" cy="2870016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Efor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ile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gelen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nefes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darığı,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Ritim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bozuklukları,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Çarpıntı,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Göğüs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ağrısı,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Halsizlik,</a:t>
            </a:r>
            <a:endParaRPr sz="2400" dirty="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52800" y="3244343"/>
            <a:ext cx="9518650" cy="3613657"/>
            <a:chOff x="3761104" y="2255433"/>
            <a:chExt cx="9518650" cy="3613657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61104" y="2367827"/>
              <a:ext cx="5321300" cy="338886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99704" y="2255433"/>
              <a:ext cx="5480050" cy="361365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310" y="2061305"/>
            <a:ext cx="5339690" cy="1690206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İntra</a:t>
            </a:r>
            <a:r>
              <a:rPr sz="2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aortik</a:t>
            </a:r>
            <a:r>
              <a:rPr sz="2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balon</a:t>
            </a:r>
            <a:r>
              <a:rPr sz="2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pompası</a:t>
            </a:r>
            <a:endParaRPr sz="2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ilaç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tedavisi</a:t>
            </a:r>
            <a:endParaRPr sz="2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hareket</a:t>
            </a:r>
            <a:r>
              <a:rPr sz="2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kısıtlaması</a:t>
            </a:r>
            <a:endParaRPr sz="2800" dirty="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9600" y="762000"/>
            <a:ext cx="20574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0" y="53340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70" dirty="0"/>
              <a:t>Tanı</a:t>
            </a:r>
            <a:r>
              <a:rPr b="1" spc="-195" dirty="0"/>
              <a:t> </a:t>
            </a:r>
            <a:r>
              <a:rPr b="1" spc="-10" dirty="0"/>
              <a:t>yöntemleri;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5263" y="2853045"/>
            <a:ext cx="3053690" cy="1131079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Ekokardiografi</a:t>
            </a:r>
            <a:endParaRPr sz="2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Anjiografi</a:t>
            </a:r>
            <a:endParaRPr sz="28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953" y="1569123"/>
            <a:ext cx="5919597" cy="48540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5486" y="529268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Mitral</a:t>
            </a:r>
            <a:r>
              <a:rPr b="1" spc="-25" dirty="0"/>
              <a:t> </a:t>
            </a:r>
            <a:r>
              <a:rPr b="1" dirty="0"/>
              <a:t>Kapak</a:t>
            </a:r>
            <a:r>
              <a:rPr b="1" spc="-30" dirty="0"/>
              <a:t> </a:t>
            </a:r>
            <a:r>
              <a:rPr b="1" spc="-10" dirty="0"/>
              <a:t>Cerrahisi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354" y="2246050"/>
            <a:ext cx="163982" cy="17764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219200" y="1676400"/>
            <a:ext cx="3719195" cy="4421723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8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000" b="1" dirty="0">
                <a:solidFill>
                  <a:srgbClr val="3E7818"/>
                </a:solidFill>
                <a:latin typeface="Trebuchet MS"/>
                <a:cs typeface="Trebuchet MS"/>
              </a:rPr>
              <a:t>Kapalı</a:t>
            </a:r>
            <a:r>
              <a:rPr sz="2000" b="1" spc="-15" dirty="0">
                <a:solidFill>
                  <a:srgbClr val="3E7818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3E7818"/>
                </a:solidFill>
                <a:latin typeface="Trebuchet MS"/>
                <a:cs typeface="Trebuchet MS"/>
              </a:rPr>
              <a:t>yöntem</a:t>
            </a:r>
            <a:endParaRPr sz="2000" dirty="0">
              <a:latin typeface="Trebuchet MS"/>
              <a:cs typeface="Trebuchet MS"/>
            </a:endParaRPr>
          </a:p>
          <a:p>
            <a:pPr marL="833755" indent="-821055">
              <a:lnSpc>
                <a:spcPct val="100000"/>
              </a:lnSpc>
              <a:spcBef>
                <a:spcPts val="78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833755" algn="l"/>
              </a:tabLst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Kapalı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mitral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komissurotomi</a:t>
            </a:r>
            <a:endParaRPr sz="20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78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000" spc="-10" dirty="0">
                <a:solidFill>
                  <a:srgbClr val="3E7818"/>
                </a:solidFill>
                <a:latin typeface="Trebuchet MS"/>
                <a:cs typeface="Trebuchet MS"/>
              </a:rPr>
              <a:t>Onarım</a:t>
            </a:r>
            <a:endParaRPr sz="2000" dirty="0">
              <a:latin typeface="Trebuchet MS"/>
              <a:cs typeface="Trebuchet MS"/>
            </a:endParaRPr>
          </a:p>
          <a:p>
            <a:pPr marL="684530" indent="-671830">
              <a:lnSpc>
                <a:spcPct val="100000"/>
              </a:lnSpc>
              <a:spcBef>
                <a:spcPts val="795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684530" algn="l"/>
              </a:tabLst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Açık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mitral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komissurotomi</a:t>
            </a:r>
            <a:endParaRPr sz="2000" dirty="0">
              <a:latin typeface="Trebuchet MS"/>
              <a:cs typeface="Trebuchet MS"/>
            </a:endParaRPr>
          </a:p>
          <a:p>
            <a:pPr marL="684530" indent="-671830">
              <a:lnSpc>
                <a:spcPct val="100000"/>
              </a:lnSpc>
              <a:spcBef>
                <a:spcPts val="78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684530" algn="l"/>
              </a:tabLst>
            </a:pP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Annuloplasti</a:t>
            </a:r>
            <a:endParaRPr sz="2000" dirty="0">
              <a:latin typeface="Trebuchet MS"/>
              <a:cs typeface="Trebuchet MS"/>
            </a:endParaRPr>
          </a:p>
          <a:p>
            <a:pPr marL="696595" indent="-683895">
              <a:lnSpc>
                <a:spcPct val="100000"/>
              </a:lnSpc>
              <a:spcBef>
                <a:spcPts val="78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696595" algn="l"/>
              </a:tabLst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Korda</a:t>
            </a:r>
            <a:r>
              <a:rPr sz="2000" spc="-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plasti</a:t>
            </a:r>
            <a:endParaRPr sz="20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795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000" dirty="0">
                <a:solidFill>
                  <a:srgbClr val="3E7818"/>
                </a:solidFill>
                <a:latin typeface="Trebuchet MS"/>
                <a:cs typeface="Trebuchet MS"/>
              </a:rPr>
              <a:t>Kapak</a:t>
            </a:r>
            <a:r>
              <a:rPr sz="2000" spc="-65" dirty="0">
                <a:solidFill>
                  <a:srgbClr val="3E7818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E7818"/>
                </a:solidFill>
                <a:latin typeface="Trebuchet MS"/>
                <a:cs typeface="Trebuchet MS"/>
              </a:rPr>
              <a:t>replasmanı</a:t>
            </a:r>
            <a:endParaRPr sz="2000" dirty="0">
              <a:latin typeface="Trebuchet MS"/>
              <a:cs typeface="Trebuchet MS"/>
            </a:endParaRPr>
          </a:p>
          <a:p>
            <a:pPr marL="696595" indent="-683895">
              <a:lnSpc>
                <a:spcPct val="100000"/>
              </a:lnSpc>
              <a:spcBef>
                <a:spcPts val="78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696595" algn="l"/>
              </a:tabLst>
            </a:pP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Mekanik</a:t>
            </a:r>
            <a:endParaRPr sz="2000" dirty="0">
              <a:latin typeface="Trebuchet MS"/>
              <a:cs typeface="Trebuchet MS"/>
            </a:endParaRPr>
          </a:p>
          <a:p>
            <a:pPr marL="696595" indent="-683895">
              <a:lnSpc>
                <a:spcPct val="100000"/>
              </a:lnSpc>
              <a:spcBef>
                <a:spcPts val="78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696595" algn="l"/>
              </a:tabLst>
            </a:pP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Biyoprotez</a:t>
            </a:r>
            <a:endParaRPr sz="20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795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000" dirty="0">
                <a:solidFill>
                  <a:srgbClr val="3E7818"/>
                </a:solidFill>
                <a:latin typeface="Trebuchet MS"/>
                <a:cs typeface="Trebuchet MS"/>
              </a:rPr>
              <a:t>Kapak</a:t>
            </a:r>
            <a:r>
              <a:rPr sz="2000" spc="-70" dirty="0">
                <a:solidFill>
                  <a:srgbClr val="3E7818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E7818"/>
                </a:solidFill>
                <a:latin typeface="Trebuchet MS"/>
                <a:cs typeface="Trebuchet MS"/>
              </a:rPr>
              <a:t>nakli</a:t>
            </a:r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47800" y="287389"/>
            <a:ext cx="8230361" cy="6090411"/>
            <a:chOff x="1447800" y="287389"/>
            <a:chExt cx="8230361" cy="6090411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800" y="287389"/>
              <a:ext cx="8230361" cy="129247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4437" y="1579867"/>
              <a:ext cx="3566414" cy="479793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33800" y="705793"/>
            <a:ext cx="10515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Ring</a:t>
            </a:r>
            <a:r>
              <a:rPr b="1" spc="-270" dirty="0"/>
              <a:t> </a:t>
            </a:r>
            <a:r>
              <a:rPr b="1" spc="-10" dirty="0"/>
              <a:t>Annuloplasti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2362200"/>
            <a:ext cx="3529837" cy="324332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66395" y="1447800"/>
            <a:ext cx="6734809" cy="5161280"/>
            <a:chOff x="677329" y="1193800"/>
            <a:chExt cx="6734809" cy="516128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1113" y="3416160"/>
              <a:ext cx="3749421" cy="29385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7329" y="1746376"/>
              <a:ext cx="2091055" cy="168262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30419" y="1193800"/>
              <a:ext cx="2781427" cy="22162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100" y="2241175"/>
            <a:ext cx="4950325" cy="30482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62400" y="609600"/>
            <a:ext cx="10515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/>
              <a:t>Kordoplasti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17994" y="1718691"/>
            <a:ext cx="2664205" cy="45297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5665" y="539334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Kapak</a:t>
            </a:r>
            <a:r>
              <a:rPr b="1" spc="-35" dirty="0"/>
              <a:t> </a:t>
            </a:r>
            <a:r>
              <a:rPr b="1" spc="-10" dirty="0"/>
              <a:t>tercihi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25921" y="1363935"/>
            <a:ext cx="4744085" cy="473206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b="1" dirty="0">
                <a:solidFill>
                  <a:srgbClr val="404040"/>
                </a:solidFill>
                <a:latin typeface="Trebuchet MS"/>
                <a:cs typeface="Trebuchet MS"/>
              </a:rPr>
              <a:t>Mekanik</a:t>
            </a:r>
            <a:r>
              <a:rPr sz="2400" b="1" spc="-1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404040"/>
                </a:solidFill>
                <a:latin typeface="Trebuchet MS"/>
                <a:cs typeface="Trebuchet MS"/>
              </a:rPr>
              <a:t>kapak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En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sık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tercih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edilir.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Çok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uzun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süre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kullanılabilir.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Kan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akımı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daha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iyidir.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Antikoagülasyon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gerekir.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İnfektif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endokarditte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tercih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edilmemelidir.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Diyet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ve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aktivite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kısıtlaması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Açılma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ve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kapanma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sesi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mevcuttur.</a:t>
            </a:r>
            <a:endParaRPr sz="2400" dirty="0">
              <a:latin typeface="Trebuchet MS"/>
              <a:cs typeface="Trebuchet MS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1088" y="1270000"/>
            <a:ext cx="5762625" cy="201930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2582" y="3973512"/>
            <a:ext cx="5486400" cy="17335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 txBox="1"/>
          <p:nvPr/>
        </p:nvSpPr>
        <p:spPr>
          <a:xfrm>
            <a:off x="516039" y="1051746"/>
            <a:ext cx="5521325" cy="5524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80555"/>
              <a:tabLst>
                <a:tab pos="354965" algn="l"/>
              </a:tabLst>
            </a:pPr>
            <a:r>
              <a:rPr lang="tr-TR" sz="4000" b="1" dirty="0" smtClean="0">
                <a:solidFill>
                  <a:srgbClr val="404040"/>
                </a:solidFill>
                <a:latin typeface="Trebuchet MS"/>
                <a:cs typeface="Trebuchet MS"/>
              </a:rPr>
              <a:t>   </a:t>
            </a:r>
            <a:r>
              <a:rPr sz="4000" b="1" dirty="0" err="1" smtClean="0">
                <a:solidFill>
                  <a:srgbClr val="404040"/>
                </a:solidFill>
                <a:latin typeface="Trebuchet MS"/>
                <a:cs typeface="Trebuchet MS"/>
              </a:rPr>
              <a:t>Biyoprotez</a:t>
            </a:r>
            <a:r>
              <a:rPr sz="4000" b="1" spc="-95" dirty="0" smtClean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4000" b="1" spc="-10" dirty="0">
                <a:solidFill>
                  <a:srgbClr val="404040"/>
                </a:solidFill>
                <a:latin typeface="Trebuchet MS"/>
                <a:cs typeface="Trebuchet MS"/>
              </a:rPr>
              <a:t>Kapak</a:t>
            </a:r>
            <a:endParaRPr sz="4000" b="1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60"/>
              </a:spcBef>
              <a:buClr>
                <a:srgbClr val="90C225"/>
              </a:buClr>
              <a:buFont typeface="Wingdings 3"/>
              <a:buChar char=""/>
            </a:pP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800" spc="-25" dirty="0">
                <a:solidFill>
                  <a:srgbClr val="404040"/>
                </a:solidFill>
                <a:latin typeface="Trebuchet MS"/>
                <a:cs typeface="Trebuchet MS"/>
              </a:rPr>
              <a:t>Yaşlı</a:t>
            </a:r>
            <a:r>
              <a:rPr sz="28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ve</a:t>
            </a:r>
            <a:r>
              <a:rPr sz="2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hamile</a:t>
            </a:r>
            <a:r>
              <a:rPr sz="2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kalmayı</a:t>
            </a:r>
            <a:r>
              <a:rPr sz="2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düşünenlerde</a:t>
            </a:r>
            <a:r>
              <a:rPr sz="2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tercih</a:t>
            </a:r>
            <a:r>
              <a:rPr sz="2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edilir.</a:t>
            </a:r>
            <a:endParaRPr sz="2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İnfektif</a:t>
            </a:r>
            <a:r>
              <a:rPr sz="2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endokarditte</a:t>
            </a: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daha</a:t>
            </a:r>
            <a:r>
              <a:rPr sz="2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iyi</a:t>
            </a:r>
            <a:r>
              <a:rPr sz="2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sonuçlara</a:t>
            </a:r>
            <a:r>
              <a:rPr sz="2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sahiptir.</a:t>
            </a:r>
            <a:endParaRPr sz="2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Antikoagülasyon</a:t>
            </a:r>
            <a:r>
              <a:rPr sz="2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gerekmez.</a:t>
            </a:r>
            <a:endParaRPr sz="2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Uzun</a:t>
            </a:r>
            <a:r>
              <a:rPr sz="2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süre</a:t>
            </a:r>
            <a:r>
              <a:rPr sz="2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(8-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10</a:t>
            </a:r>
            <a:r>
              <a:rPr sz="2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yıl)</a:t>
            </a:r>
            <a:r>
              <a:rPr sz="2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sonra</a:t>
            </a: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bozulabilir.</a:t>
            </a:r>
            <a:endParaRPr sz="2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Sessizdir.</a:t>
            </a:r>
            <a:endParaRPr sz="2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endParaRPr sz="1450" dirty="0">
              <a:latin typeface="Wingdings 3"/>
              <a:cs typeface="Wingdings 3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8200" y="3644764"/>
            <a:ext cx="3171824" cy="285750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37364" y="4936421"/>
            <a:ext cx="1828800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0304" y="53340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Mitral</a:t>
            </a:r>
            <a:r>
              <a:rPr b="1" spc="-40" dirty="0"/>
              <a:t> </a:t>
            </a:r>
            <a:r>
              <a:rPr b="1" dirty="0"/>
              <a:t>Kapak</a:t>
            </a:r>
            <a:r>
              <a:rPr b="1" spc="-45" dirty="0"/>
              <a:t> </a:t>
            </a:r>
            <a:r>
              <a:rPr b="1" dirty="0"/>
              <a:t>Cerrahisinde</a:t>
            </a:r>
            <a:r>
              <a:rPr b="1" spc="-40" dirty="0"/>
              <a:t> </a:t>
            </a:r>
            <a:r>
              <a:rPr b="1" spc="-10" dirty="0"/>
              <a:t>Kanülasyon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2209800"/>
            <a:ext cx="3928719" cy="31111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Bicaval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venöz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kanülasyon</a:t>
            </a:r>
            <a:endParaRPr sz="2400" dirty="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(single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satage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kanül)</a:t>
            </a:r>
            <a:endParaRPr sz="2400" dirty="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5600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Asendan</a:t>
            </a:r>
            <a:r>
              <a:rPr sz="24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aortadan</a:t>
            </a:r>
            <a:r>
              <a:rPr sz="24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atrerial kanülasyon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Kardiyopileji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(Antegrat)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Vent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Extra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Vent</a:t>
            </a:r>
            <a:endParaRPr sz="24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5029" y="1721488"/>
            <a:ext cx="7506970" cy="502386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5000" y="304800"/>
            <a:ext cx="8378190" cy="609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079">
              <a:lnSpc>
                <a:spcPct val="100000"/>
              </a:lnSpc>
              <a:spcBef>
                <a:spcPts val="100"/>
              </a:spcBef>
            </a:pPr>
            <a:r>
              <a:rPr sz="2400" spc="-55" dirty="0">
                <a:latin typeface="Trebuchet MS"/>
                <a:cs typeface="Trebuchet MS"/>
              </a:rPr>
              <a:t>HASTA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PROFİLİ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400" dirty="0">
              <a:latin typeface="Trebuchet MS"/>
              <a:cs typeface="Trebuchet MS"/>
            </a:endParaRPr>
          </a:p>
          <a:p>
            <a:pPr marL="259079" marR="3088640">
              <a:lnSpc>
                <a:spcPct val="100000"/>
              </a:lnSpc>
            </a:pPr>
            <a:r>
              <a:rPr sz="2400" dirty="0">
                <a:latin typeface="Trebuchet MS"/>
                <a:cs typeface="Trebuchet MS"/>
              </a:rPr>
              <a:t>Ahmet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YILMAZ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55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yaş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170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cm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80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kg </a:t>
            </a:r>
            <a:r>
              <a:rPr sz="2400" spc="-10" dirty="0">
                <a:latin typeface="Trebuchet MS"/>
                <a:cs typeface="Trebuchet MS"/>
              </a:rPr>
              <a:t>BSA=√170*80/3600=1,94</a:t>
            </a:r>
            <a:endParaRPr sz="2400" dirty="0">
              <a:latin typeface="Trebuchet MS"/>
              <a:cs typeface="Trebuchet MS"/>
            </a:endParaRPr>
          </a:p>
          <a:p>
            <a:pPr marL="259079">
              <a:lnSpc>
                <a:spcPct val="100000"/>
              </a:lnSpc>
            </a:pPr>
            <a:r>
              <a:rPr sz="2400" dirty="0">
                <a:latin typeface="Trebuchet MS"/>
                <a:cs typeface="Trebuchet MS"/>
              </a:rPr>
              <a:t>flow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(normo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termi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de)=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BSA*2.4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=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1,94*2.4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=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4,656</a:t>
            </a:r>
            <a:endParaRPr sz="2400" dirty="0">
              <a:latin typeface="Trebuchet MS"/>
              <a:cs typeface="Trebuchet MS"/>
            </a:endParaRPr>
          </a:p>
          <a:p>
            <a:pPr marL="259079">
              <a:lnSpc>
                <a:spcPct val="100000"/>
              </a:lnSpc>
              <a:spcBef>
                <a:spcPts val="835"/>
              </a:spcBef>
            </a:pPr>
            <a:r>
              <a:rPr sz="3600" b="1" spc="-10" dirty="0">
                <a:solidFill>
                  <a:srgbClr val="90C225"/>
                </a:solidFill>
                <a:latin typeface="Trebuchet MS"/>
                <a:cs typeface="Trebuchet MS"/>
              </a:rPr>
              <a:t>BELİRTİLERİ</a:t>
            </a:r>
            <a:endParaRPr sz="3600" dirty="0">
              <a:latin typeface="Trebuchet MS"/>
              <a:cs typeface="Trebuchet MS"/>
            </a:endParaRPr>
          </a:p>
          <a:p>
            <a:pPr marL="342265" indent="-342265">
              <a:lnSpc>
                <a:spcPct val="100000"/>
              </a:lnSpc>
              <a:spcBef>
                <a:spcPts val="3879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42265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Hastanın</a:t>
            </a: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merdiven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çıkarken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nefes</a:t>
            </a:r>
            <a:r>
              <a:rPr sz="18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darlığı,</a:t>
            </a:r>
            <a:endParaRPr sz="1800" dirty="0">
              <a:latin typeface="Trebuchet MS"/>
              <a:cs typeface="Trebuchet MS"/>
            </a:endParaRPr>
          </a:p>
          <a:p>
            <a:pPr marL="410845" indent="-41084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410845" algn="l"/>
              </a:tabLst>
            </a:pP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efor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sonrası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artan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göğüs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ağrısı</a:t>
            </a:r>
            <a:endParaRPr sz="1800" dirty="0">
              <a:latin typeface="Trebuchet MS"/>
              <a:cs typeface="Trebuchet MS"/>
            </a:endParaRPr>
          </a:p>
          <a:p>
            <a:pPr marL="3422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42265" algn="l"/>
              </a:tabLst>
            </a:pP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Çarpıntı</a:t>
            </a: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şikayetleri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ile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hastaneye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başvurmuştur.</a:t>
            </a:r>
            <a:endParaRPr sz="1800" dirty="0">
              <a:latin typeface="Trebuchet MS"/>
              <a:cs typeface="Trebuchet MS"/>
            </a:endParaRPr>
          </a:p>
          <a:p>
            <a:pPr marL="342265" indent="-34226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42265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Hastaya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önce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EKG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kan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tahlilleri,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ECO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tetkikleri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yapılmıştır.</a:t>
            </a:r>
            <a:r>
              <a:rPr sz="18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yapılan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tetkikler</a:t>
            </a:r>
            <a:endParaRPr sz="1800" dirty="0">
              <a:latin typeface="Trebuchet MS"/>
              <a:cs typeface="Trebuchet MS"/>
            </a:endParaRPr>
          </a:p>
          <a:p>
            <a:pPr marL="3429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sonucunda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hastaya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mitral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yetmezlik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tanısı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konulmuştur.</a:t>
            </a:r>
            <a:endParaRPr sz="1800" dirty="0">
              <a:latin typeface="Trebuchet MS"/>
              <a:cs typeface="Trebuchet MS"/>
            </a:endParaRPr>
          </a:p>
          <a:p>
            <a:pPr marL="34290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42900" algn="l"/>
              </a:tabLst>
            </a:pP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Preop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hazırlıklar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için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anestesi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polikliğine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yönlendirilir.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Preop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hazırlıklar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yapılır.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Hastanın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yatışı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yapılır.</a:t>
            </a:r>
            <a:r>
              <a:rPr sz="18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Hasta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bilgilendirilip</a:t>
            </a:r>
            <a:r>
              <a:rPr sz="1800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ameliyat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onamı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alınır.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Kapaklar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hakkında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bilgilendirilir.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Mekanik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kapağın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uygun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olduğu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anlatılır.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1450" dirty="0">
              <a:latin typeface="Wingdings 3"/>
              <a:cs typeface="Wingdings 3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91790"/>
            <a:ext cx="6488176" cy="406620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8000" y="198437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Prime</a:t>
            </a:r>
            <a:r>
              <a:rPr b="1" spc="-85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Hazırlığı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6310" y="1371568"/>
            <a:ext cx="2432050" cy="122872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  <a:tab pos="1426845" algn="l"/>
              </a:tabLst>
            </a:pP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İsolyte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1200cc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%20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Mannitol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150cc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Heparin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2cc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1497" y="3183864"/>
            <a:ext cx="27051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0800" y="228600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Kardiyopleji</a:t>
            </a:r>
            <a:r>
              <a:rPr b="1" spc="-225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Stratejisi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2061305"/>
            <a:ext cx="3014345" cy="3111108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800</a:t>
            </a:r>
            <a:r>
              <a:rPr sz="2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cc</a:t>
            </a:r>
            <a:r>
              <a:rPr sz="2800" spc="-25" dirty="0">
                <a:solidFill>
                  <a:srgbClr val="404040"/>
                </a:solidFill>
                <a:latin typeface="Trebuchet MS"/>
                <a:cs typeface="Trebuchet MS"/>
              </a:rPr>
              <a:t> kan</a:t>
            </a:r>
            <a:endParaRPr sz="2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10</a:t>
            </a:r>
            <a:r>
              <a:rPr sz="2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cc</a:t>
            </a:r>
            <a:r>
              <a:rPr sz="2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Sodyum</a:t>
            </a:r>
            <a:r>
              <a:rPr sz="2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Bikarbonat</a:t>
            </a:r>
            <a:endParaRPr sz="2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10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cc</a:t>
            </a: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magnezyum</a:t>
            </a:r>
            <a:endParaRPr sz="2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24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cc</a:t>
            </a: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Potasyum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0" y="60960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İdame</a:t>
            </a:r>
            <a:r>
              <a:rPr b="1" spc="-40" dirty="0"/>
              <a:t> </a:t>
            </a:r>
            <a:r>
              <a:rPr b="1" dirty="0"/>
              <a:t>olarak</a:t>
            </a:r>
            <a:r>
              <a:rPr b="1" spc="-35" dirty="0"/>
              <a:t> </a:t>
            </a:r>
            <a:r>
              <a:rPr b="1" dirty="0"/>
              <a:t>(</a:t>
            </a:r>
            <a:r>
              <a:rPr b="1" spc="-35" dirty="0"/>
              <a:t> </a:t>
            </a:r>
            <a:r>
              <a:rPr b="1" dirty="0"/>
              <a:t>20</a:t>
            </a:r>
            <a:r>
              <a:rPr b="1" spc="-25" dirty="0"/>
              <a:t> </a:t>
            </a:r>
            <a:r>
              <a:rPr b="1" dirty="0"/>
              <a:t>Dk.</a:t>
            </a:r>
            <a:r>
              <a:rPr b="1" spc="-35" dirty="0"/>
              <a:t> </a:t>
            </a:r>
            <a:r>
              <a:rPr b="1" spc="-20" dirty="0"/>
              <a:t>Bir)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2061305"/>
            <a:ext cx="5276215" cy="163068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400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cc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kan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5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cc</a:t>
            </a:r>
            <a:r>
              <a:rPr sz="18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magnezyum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5cc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Sodyum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Bikarbonat</a:t>
            </a:r>
            <a:endParaRPr sz="1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  <a:tab pos="3353435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kilo*0,3-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0,5</a:t>
            </a:r>
            <a:r>
              <a:rPr sz="1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cc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Potasyum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=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24-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40 cc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potasyum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1200" y="228600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rebuchet MS"/>
                <a:cs typeface="Trebuchet MS"/>
              </a:rPr>
              <a:t>Klasik</a:t>
            </a:r>
            <a:r>
              <a:rPr b="1" spc="-95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Mitral</a:t>
            </a:r>
            <a:r>
              <a:rPr b="1" spc="-90" dirty="0">
                <a:latin typeface="Trebuchet MS"/>
                <a:cs typeface="Trebuchet MS"/>
              </a:rPr>
              <a:t> </a:t>
            </a:r>
            <a:r>
              <a:rPr b="1" dirty="0">
                <a:latin typeface="Trebuchet MS"/>
                <a:cs typeface="Trebuchet MS"/>
              </a:rPr>
              <a:t>Kapak</a:t>
            </a:r>
            <a:r>
              <a:rPr b="1" spc="-105" dirty="0">
                <a:latin typeface="Trebuchet MS"/>
                <a:cs typeface="Trebuchet MS"/>
              </a:rPr>
              <a:t> </a:t>
            </a:r>
            <a:r>
              <a:rPr b="1" spc="-10" dirty="0">
                <a:latin typeface="Trebuchet MS"/>
                <a:cs typeface="Trebuchet MS"/>
              </a:rPr>
              <a:t>Operasyonu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287297"/>
            <a:ext cx="6334760" cy="476948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65"/>
              </a:spcBef>
              <a:buClr>
                <a:srgbClr val="90C225"/>
              </a:buClr>
              <a:buSzPct val="79545"/>
              <a:buFont typeface="Wingdings 3"/>
              <a:buChar char=""/>
              <a:tabLst>
                <a:tab pos="354965" algn="l"/>
              </a:tabLst>
            </a:pPr>
            <a:r>
              <a:rPr sz="2200" b="1" dirty="0">
                <a:solidFill>
                  <a:srgbClr val="404040"/>
                </a:solidFill>
                <a:latin typeface="Trebuchet MS"/>
                <a:cs typeface="Trebuchet MS"/>
              </a:rPr>
              <a:t>Median</a:t>
            </a:r>
            <a:r>
              <a:rPr sz="2200" b="1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Trebuchet MS"/>
                <a:cs typeface="Trebuchet MS"/>
              </a:rPr>
              <a:t>sternotomi</a:t>
            </a:r>
            <a:endParaRPr sz="22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70"/>
              </a:spcBef>
              <a:buClr>
                <a:srgbClr val="90C225"/>
              </a:buClr>
              <a:buSzPct val="79545"/>
              <a:buFont typeface="Wingdings 3"/>
              <a:buChar char=""/>
              <a:tabLst>
                <a:tab pos="354965" algn="l"/>
              </a:tabLst>
            </a:pPr>
            <a:r>
              <a:rPr sz="2200" b="1" dirty="0">
                <a:solidFill>
                  <a:srgbClr val="404040"/>
                </a:solidFill>
                <a:latin typeface="Trebuchet MS"/>
                <a:cs typeface="Trebuchet MS"/>
              </a:rPr>
              <a:t>Sistemik</a:t>
            </a:r>
            <a:r>
              <a:rPr sz="2200" b="1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Trebuchet MS"/>
                <a:cs typeface="Trebuchet MS"/>
              </a:rPr>
              <a:t>heparinizasyon</a:t>
            </a:r>
            <a:endParaRPr sz="22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90C225"/>
              </a:buClr>
              <a:buSzPct val="79545"/>
              <a:buFont typeface="Wingdings 3"/>
              <a:buChar char=""/>
              <a:tabLst>
                <a:tab pos="354965" algn="l"/>
              </a:tabLst>
            </a:pPr>
            <a:r>
              <a:rPr sz="2200" b="1" spc="-10" dirty="0">
                <a:solidFill>
                  <a:srgbClr val="404040"/>
                </a:solidFill>
                <a:latin typeface="Trebuchet MS"/>
                <a:cs typeface="Trebuchet MS"/>
              </a:rPr>
              <a:t>Kardiyopulmoner</a:t>
            </a:r>
            <a:r>
              <a:rPr sz="2200" b="1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rebuchet MS"/>
                <a:cs typeface="Trebuchet MS"/>
              </a:rPr>
              <a:t>bypassa</a:t>
            </a:r>
            <a:r>
              <a:rPr sz="2200" b="1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Trebuchet MS"/>
                <a:cs typeface="Trebuchet MS"/>
              </a:rPr>
              <a:t>giriş</a:t>
            </a:r>
            <a:endParaRPr sz="2200" dirty="0">
              <a:latin typeface="Trebuchet MS"/>
              <a:cs typeface="Trebuchet MS"/>
            </a:endParaRPr>
          </a:p>
          <a:p>
            <a:pPr marL="844550" indent="-831850">
              <a:lnSpc>
                <a:spcPct val="100000"/>
              </a:lnSpc>
              <a:spcBef>
                <a:spcPts val="470"/>
              </a:spcBef>
              <a:buClr>
                <a:srgbClr val="90C225"/>
              </a:buClr>
              <a:buSzPct val="79545"/>
              <a:buFont typeface="Wingdings 3"/>
              <a:buChar char=""/>
              <a:tabLst>
                <a:tab pos="844550" algn="l"/>
              </a:tabLst>
            </a:pP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Arteryel</a:t>
            </a:r>
            <a:r>
              <a:rPr sz="22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kanülasyon</a:t>
            </a:r>
            <a:endParaRPr sz="2200" dirty="0">
              <a:latin typeface="Trebuchet MS"/>
              <a:cs typeface="Trebuchet MS"/>
            </a:endParaRPr>
          </a:p>
          <a:p>
            <a:pPr marL="859790" indent="-847090">
              <a:lnSpc>
                <a:spcPct val="100000"/>
              </a:lnSpc>
              <a:spcBef>
                <a:spcPts val="470"/>
              </a:spcBef>
              <a:buClr>
                <a:srgbClr val="90C225"/>
              </a:buClr>
              <a:buSzPct val="79545"/>
              <a:buFont typeface="Wingdings 3"/>
              <a:buChar char=""/>
              <a:tabLst>
                <a:tab pos="859790" algn="l"/>
              </a:tabLst>
            </a:pP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Venöz</a:t>
            </a:r>
            <a:r>
              <a:rPr sz="2200" spc="-1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kanülasyon</a:t>
            </a:r>
            <a:endParaRPr sz="2200" dirty="0">
              <a:latin typeface="Trebuchet MS"/>
              <a:cs typeface="Trebuchet MS"/>
            </a:endParaRPr>
          </a:p>
          <a:p>
            <a:pPr marL="844550" indent="-831850">
              <a:lnSpc>
                <a:spcPct val="100000"/>
              </a:lnSpc>
              <a:spcBef>
                <a:spcPts val="480"/>
              </a:spcBef>
              <a:buClr>
                <a:srgbClr val="90C225"/>
              </a:buClr>
              <a:buSzPct val="79545"/>
              <a:buFont typeface="Wingdings 3"/>
              <a:buChar char=""/>
              <a:tabLst>
                <a:tab pos="844550" algn="l"/>
              </a:tabLst>
            </a:pP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Antegrad</a:t>
            </a:r>
            <a:r>
              <a:rPr sz="22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ve</a:t>
            </a:r>
            <a:r>
              <a:rPr sz="22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retrograt</a:t>
            </a:r>
            <a:r>
              <a:rPr sz="22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kardiyopleji</a:t>
            </a:r>
            <a:r>
              <a:rPr sz="22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kanülleri</a:t>
            </a:r>
            <a:endParaRPr sz="22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70"/>
              </a:spcBef>
              <a:buClr>
                <a:srgbClr val="90C225"/>
              </a:buClr>
              <a:buSzPct val="79545"/>
              <a:buFont typeface="Wingdings 3"/>
              <a:buChar char=""/>
              <a:tabLst>
                <a:tab pos="354965" algn="l"/>
              </a:tabLst>
            </a:pPr>
            <a:r>
              <a:rPr sz="2200" b="1" spc="-10" dirty="0">
                <a:solidFill>
                  <a:srgbClr val="404040"/>
                </a:solidFill>
                <a:latin typeface="Trebuchet MS"/>
                <a:cs typeface="Trebuchet MS"/>
              </a:rPr>
              <a:t>Potasyumlu</a:t>
            </a:r>
            <a:r>
              <a:rPr sz="2200" b="1" spc="-1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rebuchet MS"/>
                <a:cs typeface="Trebuchet MS"/>
              </a:rPr>
              <a:t>kan</a:t>
            </a:r>
            <a:r>
              <a:rPr sz="2200" b="1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Trebuchet MS"/>
                <a:cs typeface="Trebuchet MS"/>
              </a:rPr>
              <a:t>kardiyoplejisi</a:t>
            </a:r>
            <a:endParaRPr sz="22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65"/>
              </a:spcBef>
              <a:buClr>
                <a:srgbClr val="90C225"/>
              </a:buClr>
              <a:buSzPct val="79545"/>
              <a:buFont typeface="Wingdings 3"/>
              <a:buChar char=""/>
              <a:tabLst>
                <a:tab pos="354965" algn="l"/>
              </a:tabLst>
            </a:pPr>
            <a:r>
              <a:rPr sz="2200" b="1" spc="-20" dirty="0">
                <a:solidFill>
                  <a:srgbClr val="404040"/>
                </a:solidFill>
                <a:latin typeface="Trebuchet MS"/>
                <a:cs typeface="Trebuchet MS"/>
              </a:rPr>
              <a:t>Kross-</a:t>
            </a:r>
            <a:r>
              <a:rPr sz="2200" b="1" spc="-10" dirty="0">
                <a:solidFill>
                  <a:srgbClr val="404040"/>
                </a:solidFill>
                <a:latin typeface="Trebuchet MS"/>
                <a:cs typeface="Trebuchet MS"/>
              </a:rPr>
              <a:t>klemp</a:t>
            </a:r>
            <a:endParaRPr sz="22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90C225"/>
              </a:buClr>
              <a:buSzPct val="79545"/>
              <a:buFont typeface="Wingdings 3"/>
              <a:buChar char=""/>
              <a:tabLst>
                <a:tab pos="354965" algn="l"/>
              </a:tabLst>
            </a:pPr>
            <a:r>
              <a:rPr sz="2200" b="1" dirty="0">
                <a:solidFill>
                  <a:srgbClr val="404040"/>
                </a:solidFill>
                <a:latin typeface="Trebuchet MS"/>
                <a:cs typeface="Trebuchet MS"/>
              </a:rPr>
              <a:t>sol</a:t>
            </a:r>
            <a:r>
              <a:rPr sz="2200" b="1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rebuchet MS"/>
                <a:cs typeface="Trebuchet MS"/>
              </a:rPr>
              <a:t>atriumun</a:t>
            </a:r>
            <a:r>
              <a:rPr sz="2200" b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Trebuchet MS"/>
                <a:cs typeface="Trebuchet MS"/>
              </a:rPr>
              <a:t>açılması</a:t>
            </a:r>
            <a:endParaRPr sz="22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470"/>
              </a:spcBef>
              <a:buClr>
                <a:srgbClr val="90C225"/>
              </a:buClr>
              <a:buSzPct val="79545"/>
              <a:buFont typeface="Wingdings 3"/>
              <a:buChar char=""/>
              <a:tabLst>
                <a:tab pos="354965" algn="l"/>
              </a:tabLst>
            </a:pPr>
            <a:r>
              <a:rPr sz="2200" b="1" spc="-10" dirty="0">
                <a:solidFill>
                  <a:srgbClr val="404040"/>
                </a:solidFill>
                <a:latin typeface="Trebuchet MS"/>
                <a:cs typeface="Trebuchet MS"/>
              </a:rPr>
              <a:t>Kapağın(mekanik)</a:t>
            </a:r>
            <a:r>
              <a:rPr sz="2200" b="1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b="1" dirty="0">
                <a:solidFill>
                  <a:srgbClr val="404040"/>
                </a:solidFill>
                <a:latin typeface="Trebuchet MS"/>
                <a:cs typeface="Trebuchet MS"/>
              </a:rPr>
              <a:t>kalbe</a:t>
            </a:r>
            <a:r>
              <a:rPr sz="2200" b="1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Trebuchet MS"/>
                <a:cs typeface="Trebuchet MS"/>
              </a:rPr>
              <a:t>yerleştirilmesi</a:t>
            </a:r>
            <a:endParaRPr sz="2200" dirty="0">
              <a:latin typeface="Trebuchet MS"/>
              <a:cs typeface="Trebuchet MS"/>
            </a:endParaRPr>
          </a:p>
          <a:p>
            <a:pPr marL="859790" indent="-847090">
              <a:lnSpc>
                <a:spcPct val="100000"/>
              </a:lnSpc>
              <a:spcBef>
                <a:spcPts val="470"/>
              </a:spcBef>
              <a:buClr>
                <a:srgbClr val="90C225"/>
              </a:buClr>
              <a:buSzPct val="79545"/>
              <a:buFont typeface="Wingdings 3"/>
              <a:buChar char=""/>
              <a:tabLst>
                <a:tab pos="859790" algn="l"/>
              </a:tabLst>
            </a:pP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Kapak</a:t>
            </a:r>
            <a:r>
              <a:rPr sz="22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dikişlerinin</a:t>
            </a:r>
            <a:r>
              <a:rPr sz="22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kalbe</a:t>
            </a:r>
            <a:r>
              <a:rPr sz="22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tespit</a:t>
            </a:r>
            <a:r>
              <a:rPr sz="22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edilmesİ</a:t>
            </a:r>
            <a:endParaRPr sz="2200" dirty="0">
              <a:latin typeface="Trebuchet MS"/>
              <a:cs typeface="Trebuchet MS"/>
            </a:endParaRPr>
          </a:p>
          <a:p>
            <a:pPr marL="2374265" indent="-2361565">
              <a:lnSpc>
                <a:spcPct val="100000"/>
              </a:lnSpc>
              <a:spcBef>
                <a:spcPts val="480"/>
              </a:spcBef>
              <a:buClr>
                <a:srgbClr val="90C225"/>
              </a:buClr>
              <a:buSzPct val="79545"/>
              <a:buFont typeface="Wingdings 3"/>
              <a:buChar char=""/>
              <a:tabLst>
                <a:tab pos="2374265" algn="l"/>
              </a:tabLst>
            </a:pPr>
            <a:r>
              <a:rPr sz="2200" spc="-25" dirty="0">
                <a:solidFill>
                  <a:srgbClr val="404040"/>
                </a:solidFill>
                <a:latin typeface="Trebuchet MS"/>
                <a:cs typeface="Trebuchet MS"/>
              </a:rPr>
              <a:t>….</a:t>
            </a:r>
            <a:endParaRPr sz="2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 rot="10800000" flipH="1" flipV="1">
            <a:off x="958858" y="3322656"/>
            <a:ext cx="381002" cy="2346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50" dirty="0">
                <a:solidFill>
                  <a:srgbClr val="90C225"/>
                </a:solidFill>
                <a:latin typeface="Wingdings 3"/>
                <a:cs typeface="Wingdings 3"/>
              </a:rPr>
              <a:t></a:t>
            </a:r>
            <a:endParaRPr sz="1450" dirty="0">
              <a:latin typeface="Wingdings 3"/>
              <a:cs typeface="Wingdings 3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8147" y="2825634"/>
            <a:ext cx="767385" cy="2346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-50" dirty="0">
                <a:solidFill>
                  <a:srgbClr val="90C225"/>
                </a:solidFill>
                <a:latin typeface="Wingdings 3"/>
                <a:cs typeface="Wingdings 3"/>
              </a:rPr>
              <a:t></a:t>
            </a:r>
            <a:endParaRPr sz="1450">
              <a:latin typeface="Wingdings 3"/>
              <a:cs typeface="Wingdings 3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3305" y="2328612"/>
            <a:ext cx="3960495" cy="1228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5810" marR="5080" indent="-753745">
              <a:lnSpc>
                <a:spcPct val="146200"/>
              </a:lnSpc>
              <a:spcBef>
                <a:spcPts val="1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765810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Dikişlerin</a:t>
            </a:r>
            <a:r>
              <a:rPr sz="18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kapakdan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geçilmesi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Kapağın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anülüse</a:t>
            </a:r>
            <a:r>
              <a:rPr sz="1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yerleştirilmesi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Dikişlerin</a:t>
            </a:r>
            <a:r>
              <a:rPr sz="18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bağlanması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2044" y="3581400"/>
            <a:ext cx="4712970" cy="243268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95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Atriumun</a:t>
            </a:r>
            <a:r>
              <a:rPr sz="1800" b="1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kapatılması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Hava</a:t>
            </a:r>
            <a:r>
              <a:rPr sz="1800" b="1" spc="-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çıkarma</a:t>
            </a:r>
            <a:r>
              <a:rPr sz="1800" b="1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(trendelenburg</a:t>
            </a:r>
            <a:r>
              <a:rPr sz="1800" b="1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pozisyonu)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Kardiyopulmoner</a:t>
            </a:r>
            <a:r>
              <a:rPr sz="1800" b="1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bypasstan</a:t>
            </a:r>
            <a:r>
              <a:rPr sz="1800" b="1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çıkış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Protamin</a:t>
            </a:r>
            <a:r>
              <a:rPr sz="1800" b="1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ile</a:t>
            </a:r>
            <a:r>
              <a:rPr sz="1800" b="1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heparin</a:t>
            </a:r>
            <a:r>
              <a:rPr sz="1800" b="1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nötralizasyonu</a:t>
            </a:r>
            <a:endParaRPr sz="1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Mediastene</a:t>
            </a:r>
            <a:r>
              <a:rPr sz="1800" b="1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dren</a:t>
            </a:r>
            <a:r>
              <a:rPr sz="1800" b="1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yerleştirilmesi</a:t>
            </a:r>
            <a:endParaRPr sz="1800" dirty="0">
              <a:latin typeface="Trebuchet MS"/>
              <a:cs typeface="Trebuchet MS"/>
            </a:endParaRPr>
          </a:p>
          <a:p>
            <a:pPr marL="423545" indent="-41084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423545" algn="l"/>
              </a:tabLst>
            </a:pPr>
            <a:r>
              <a:rPr sz="1800" b="1" dirty="0">
                <a:solidFill>
                  <a:srgbClr val="404040"/>
                </a:solidFill>
                <a:latin typeface="Trebuchet MS"/>
                <a:cs typeface="Trebuchet MS"/>
              </a:rPr>
              <a:t>Hastanın</a:t>
            </a:r>
            <a:r>
              <a:rPr sz="1800" b="1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Trebuchet MS"/>
                <a:cs typeface="Trebuchet MS"/>
              </a:rPr>
              <a:t>kapatılması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1800" y="559306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5" dirty="0"/>
              <a:t>Yoğun</a:t>
            </a:r>
            <a:r>
              <a:rPr b="1" spc="-125" dirty="0"/>
              <a:t> </a:t>
            </a:r>
            <a:r>
              <a:rPr b="1" dirty="0"/>
              <a:t>Bakım</a:t>
            </a:r>
            <a:r>
              <a:rPr b="1" spc="-125" dirty="0"/>
              <a:t> </a:t>
            </a:r>
            <a:r>
              <a:rPr b="1" spc="-10" dirty="0"/>
              <a:t>Süreci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126" y="1678656"/>
            <a:ext cx="8385809" cy="110236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Yoğun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bakıma</a:t>
            </a:r>
            <a:r>
              <a:rPr sz="1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alınan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hasta</a:t>
            </a:r>
            <a:r>
              <a:rPr sz="1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monitörize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edilip</a:t>
            </a:r>
            <a:r>
              <a:rPr sz="18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takip</a:t>
            </a:r>
            <a:r>
              <a:rPr sz="1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edilir.</a:t>
            </a:r>
            <a:endParaRPr sz="18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5600" algn="l"/>
              </a:tabLst>
            </a:pP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Genel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durumuna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göre</a:t>
            </a:r>
            <a:r>
              <a:rPr sz="1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6-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8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saat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sonra</a:t>
            </a:r>
            <a:r>
              <a:rPr sz="1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ekstübe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edilip</a:t>
            </a:r>
            <a:r>
              <a:rPr sz="1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kendi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solunumuna</a:t>
            </a:r>
            <a:r>
              <a:rPr sz="1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bırakılır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ve</a:t>
            </a:r>
            <a:r>
              <a:rPr sz="1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404040"/>
                </a:solidFill>
                <a:latin typeface="Trebuchet MS"/>
                <a:cs typeface="Trebuchet MS"/>
              </a:rPr>
              <a:t>solunum</a:t>
            </a:r>
            <a:r>
              <a:rPr sz="18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egzersizlerine</a:t>
            </a:r>
            <a:r>
              <a:rPr sz="1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rebuchet MS"/>
                <a:cs typeface="Trebuchet MS"/>
              </a:rPr>
              <a:t>başlanır.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3004219"/>
            <a:ext cx="6137529" cy="345236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1676400"/>
            <a:ext cx="10611511" cy="38446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63245" indent="-3429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Operasyondan</a:t>
            </a:r>
            <a:r>
              <a:rPr sz="2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24</a:t>
            </a:r>
            <a:r>
              <a:rPr sz="2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saat</a:t>
            </a:r>
            <a:r>
              <a:rPr sz="2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sonra</a:t>
            </a:r>
            <a:r>
              <a:rPr sz="2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5-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10</a:t>
            </a:r>
            <a:r>
              <a:rPr sz="2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mg</a:t>
            </a:r>
            <a:r>
              <a:rPr sz="2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coumadin</a:t>
            </a:r>
            <a:r>
              <a:rPr sz="2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ile</a:t>
            </a:r>
            <a:r>
              <a:rPr sz="2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antikoagülan</a:t>
            </a: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tedavi başlanır.</a:t>
            </a:r>
            <a:endParaRPr sz="2800" dirty="0">
              <a:latin typeface="Trebuchet MS"/>
              <a:cs typeface="Trebuchet MS"/>
            </a:endParaRPr>
          </a:p>
          <a:p>
            <a:pPr marL="354965" marR="508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Hasta</a:t>
            </a:r>
            <a:r>
              <a:rPr sz="2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yoğun</a:t>
            </a:r>
            <a:r>
              <a:rPr sz="2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bakımda</a:t>
            </a:r>
            <a:r>
              <a:rPr sz="2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48-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72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saat</a:t>
            </a:r>
            <a:r>
              <a:rPr sz="2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süreyle</a:t>
            </a:r>
            <a:r>
              <a:rPr sz="2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takibi</a:t>
            </a:r>
            <a:r>
              <a:rPr sz="2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yapılır.(Monitörizasyon,</a:t>
            </a:r>
            <a:r>
              <a:rPr sz="28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idrar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çıkışı,</a:t>
            </a:r>
            <a:r>
              <a:rPr sz="2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drenden</a:t>
            </a:r>
            <a:r>
              <a:rPr sz="2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gelen</a:t>
            </a:r>
            <a:r>
              <a:rPr sz="2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kan</a:t>
            </a:r>
            <a:r>
              <a:rPr sz="2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miktarı</a:t>
            </a:r>
            <a:r>
              <a:rPr sz="2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takibi,</a:t>
            </a:r>
            <a:r>
              <a:rPr sz="2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kan</a:t>
            </a:r>
            <a:r>
              <a:rPr sz="2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gazı</a:t>
            </a:r>
            <a:r>
              <a:rPr sz="2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takibi…)</a:t>
            </a:r>
            <a:endParaRPr sz="28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015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800" spc="-30" dirty="0">
                <a:solidFill>
                  <a:srgbClr val="404040"/>
                </a:solidFill>
                <a:latin typeface="Trebuchet MS"/>
                <a:cs typeface="Trebuchet MS"/>
              </a:rPr>
              <a:t>Tamponat</a:t>
            </a:r>
            <a:r>
              <a:rPr sz="2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riskine</a:t>
            </a:r>
            <a:r>
              <a:rPr sz="2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karşı</a:t>
            </a:r>
            <a:r>
              <a:rPr sz="2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akciğer</a:t>
            </a:r>
            <a:r>
              <a:rPr sz="2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filmi</a:t>
            </a:r>
            <a:r>
              <a:rPr sz="2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çekilir.</a:t>
            </a:r>
            <a:endParaRPr sz="2800" dirty="0">
              <a:latin typeface="Trebuchet MS"/>
              <a:cs typeface="Trebuchet MS"/>
            </a:endParaRPr>
          </a:p>
          <a:p>
            <a:pPr marL="354965" marR="43815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Durumu</a:t>
            </a:r>
            <a:r>
              <a:rPr sz="2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iyiye</a:t>
            </a:r>
            <a:r>
              <a:rPr sz="2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giden</a:t>
            </a:r>
            <a:r>
              <a:rPr sz="2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hastanın</a:t>
            </a:r>
            <a:r>
              <a:rPr sz="2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drenleri</a:t>
            </a:r>
            <a:r>
              <a:rPr sz="28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ve</a:t>
            </a:r>
            <a:r>
              <a:rPr sz="2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arteriel</a:t>
            </a:r>
            <a:r>
              <a:rPr sz="2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kateteri</a:t>
            </a:r>
            <a:r>
              <a:rPr sz="2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çıkarılarak</a:t>
            </a:r>
            <a:r>
              <a:rPr sz="2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servise alınır.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310" y="1079957"/>
            <a:ext cx="6787490" cy="45781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48590" indent="-342900">
              <a:lnSpc>
                <a:spcPct val="100000"/>
              </a:lnSpc>
              <a:spcBef>
                <a:spcPts val="1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5600" algn="l"/>
              </a:tabLst>
            </a:pP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Serviste</a:t>
            </a:r>
            <a:r>
              <a:rPr sz="28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hastanın</a:t>
            </a:r>
            <a:r>
              <a:rPr sz="28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durumuna</a:t>
            </a:r>
            <a:r>
              <a:rPr sz="28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Trebuchet MS"/>
                <a:cs typeface="Trebuchet MS"/>
              </a:rPr>
              <a:t>göre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birkaç</a:t>
            </a:r>
            <a:r>
              <a:rPr sz="2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gün</a:t>
            </a:r>
            <a:r>
              <a:rPr sz="2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daha</a:t>
            </a:r>
            <a:r>
              <a:rPr sz="2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hasta</a:t>
            </a:r>
            <a:r>
              <a:rPr sz="28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takibi yapılır.</a:t>
            </a:r>
            <a:endParaRPr sz="2800" dirty="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5600" algn="l"/>
              </a:tabLst>
            </a:pP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Serviste</a:t>
            </a:r>
            <a:r>
              <a:rPr sz="28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hastaya</a:t>
            </a:r>
            <a:r>
              <a:rPr sz="28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akciğer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kapasitesini</a:t>
            </a:r>
            <a:r>
              <a:rPr sz="2800" spc="-1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arttırmak</a:t>
            </a:r>
            <a:r>
              <a:rPr sz="28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25" dirty="0">
                <a:solidFill>
                  <a:srgbClr val="404040"/>
                </a:solidFill>
                <a:latin typeface="Trebuchet MS"/>
                <a:cs typeface="Trebuchet MS"/>
              </a:rPr>
              <a:t>ve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sekresyon</a:t>
            </a:r>
            <a:r>
              <a:rPr sz="28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atılımına</a:t>
            </a:r>
            <a:r>
              <a:rPr sz="28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yardımcı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olmak</a:t>
            </a:r>
            <a:r>
              <a:rPr sz="2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için</a:t>
            </a:r>
            <a:r>
              <a:rPr sz="28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triflowla</a:t>
            </a:r>
            <a:r>
              <a:rPr sz="28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egzersiz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yaptırılmaya</a:t>
            </a:r>
            <a:r>
              <a:rPr sz="28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devam</a:t>
            </a:r>
            <a:r>
              <a:rPr sz="28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30" dirty="0">
                <a:solidFill>
                  <a:srgbClr val="404040"/>
                </a:solidFill>
                <a:latin typeface="Trebuchet MS"/>
                <a:cs typeface="Trebuchet MS"/>
              </a:rPr>
              <a:t>edilir.</a:t>
            </a:r>
            <a:r>
              <a:rPr sz="28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Bunun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yanında</a:t>
            </a:r>
            <a:r>
              <a:rPr sz="28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hastanın</a:t>
            </a:r>
            <a:r>
              <a:rPr sz="28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sırtına</a:t>
            </a:r>
            <a:r>
              <a:rPr sz="28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tapotman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masaj</a:t>
            </a:r>
            <a:r>
              <a:rPr sz="2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yapılır.</a:t>
            </a:r>
            <a:endParaRPr sz="2800" dirty="0">
              <a:latin typeface="Trebuchet MS"/>
              <a:cs typeface="Trebuchet MS"/>
            </a:endParaRPr>
          </a:p>
          <a:p>
            <a:pPr marL="355600" marR="43815" indent="-342900">
              <a:lnSpc>
                <a:spcPct val="100000"/>
              </a:lnSpc>
              <a:spcBef>
                <a:spcPts val="1005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5600" algn="l"/>
              </a:tabLst>
            </a:pP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Düzenli</a:t>
            </a:r>
            <a:r>
              <a:rPr sz="2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olarak</a:t>
            </a:r>
            <a:r>
              <a:rPr sz="2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Protrombin</a:t>
            </a:r>
            <a:r>
              <a:rPr sz="28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zamanı </a:t>
            </a:r>
            <a:r>
              <a:rPr sz="2800" dirty="0">
                <a:solidFill>
                  <a:srgbClr val="404040"/>
                </a:solidFill>
                <a:latin typeface="Trebuchet MS"/>
                <a:cs typeface="Trebuchet MS"/>
              </a:rPr>
              <a:t>(PT)</a:t>
            </a:r>
            <a:r>
              <a:rPr sz="28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Trebuchet MS"/>
                <a:cs typeface="Trebuchet MS"/>
              </a:rPr>
              <a:t>bakılır.</a:t>
            </a:r>
            <a:endParaRPr sz="2800" dirty="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4800" y="838200"/>
            <a:ext cx="3581400" cy="5357927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6310" y="633952"/>
            <a:ext cx="9759290" cy="1007968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Hasta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evdeki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süreç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hakkında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bilgilendirilerek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taburcu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edilir.</a:t>
            </a:r>
            <a:endParaRPr sz="2400" dirty="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1.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haftada,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1.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ayda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ve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3.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ayda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kontrole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çağırılır.</a:t>
            </a:r>
            <a:endParaRPr sz="2400" dirty="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400" y="2209800"/>
            <a:ext cx="6227572" cy="414413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/>
          <p:cNvSpPr/>
          <p:nvPr/>
        </p:nvSpPr>
        <p:spPr>
          <a:xfrm>
            <a:off x="3505200" y="762000"/>
            <a:ext cx="43765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2400" b="1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BUGÜN NELER ÖĞRENDİK?</a:t>
            </a:r>
            <a:endParaRPr lang="tr-TR" sz="2400" b="1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2295056" y="2667000"/>
            <a:ext cx="998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 smtClean="0"/>
              <a:t>Mitral Kapak Hastalıkları ve Cerrahisi</a:t>
            </a:r>
            <a:endParaRPr lang="tr-TR" sz="3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9600" y="53340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/>
              <a:t>Kaynakça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pc="-20" dirty="0">
                <a:hlinkClick r:id="rId2"/>
              </a:rPr>
              <a:t>https://kosuyolueah.saglik.gov.tr//TR,284041/mitral-kapak-</a:t>
            </a:r>
            <a:r>
              <a:rPr spc="-10" dirty="0">
                <a:hlinkClick r:id="rId2"/>
              </a:rPr>
              <a:t>ameliyatlari.html</a:t>
            </a: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pc="-20" dirty="0">
                <a:hlinkClick r:id="rId2"/>
              </a:rPr>
              <a:t>https://www.florence.com.tr/mitral-</a:t>
            </a:r>
            <a:r>
              <a:rPr spc="-10" dirty="0">
                <a:hlinkClick r:id="rId2"/>
              </a:rPr>
              <a:t>kapak-hastaliklari</a:t>
            </a: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spc="-10" dirty="0">
                <a:hlinkClick r:id="rId2"/>
              </a:rPr>
              <a:t>http://noyantemucinogus.com.tr/mitral-kapak-hastaliklari/</a:t>
            </a: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u="none" dirty="0">
                <a:solidFill>
                  <a:srgbClr val="404040"/>
                </a:solidFill>
              </a:rPr>
              <a:t>Prof.</a:t>
            </a:r>
            <a:r>
              <a:rPr u="none" spc="-65" dirty="0">
                <a:solidFill>
                  <a:srgbClr val="404040"/>
                </a:solidFill>
              </a:rPr>
              <a:t> </a:t>
            </a:r>
            <a:r>
              <a:rPr u="none" spc="-75" dirty="0">
                <a:solidFill>
                  <a:srgbClr val="404040"/>
                </a:solidFill>
              </a:rPr>
              <a:t>Dr.</a:t>
            </a:r>
            <a:r>
              <a:rPr u="none" spc="-60" dirty="0">
                <a:solidFill>
                  <a:srgbClr val="404040"/>
                </a:solidFill>
              </a:rPr>
              <a:t> </a:t>
            </a:r>
            <a:r>
              <a:rPr u="none" dirty="0">
                <a:solidFill>
                  <a:srgbClr val="404040"/>
                </a:solidFill>
              </a:rPr>
              <a:t>Hasan</a:t>
            </a:r>
            <a:r>
              <a:rPr u="none" spc="-60" dirty="0">
                <a:solidFill>
                  <a:srgbClr val="404040"/>
                </a:solidFill>
              </a:rPr>
              <a:t> </a:t>
            </a:r>
            <a:r>
              <a:rPr u="none" dirty="0">
                <a:solidFill>
                  <a:srgbClr val="404040"/>
                </a:solidFill>
              </a:rPr>
              <a:t>Solak</a:t>
            </a:r>
            <a:r>
              <a:rPr u="none" spc="-60" dirty="0">
                <a:solidFill>
                  <a:srgbClr val="404040"/>
                </a:solidFill>
              </a:rPr>
              <a:t> </a:t>
            </a:r>
            <a:r>
              <a:rPr u="none" dirty="0">
                <a:solidFill>
                  <a:srgbClr val="404040"/>
                </a:solidFill>
              </a:rPr>
              <a:t>Kalp</a:t>
            </a:r>
            <a:r>
              <a:rPr u="none" spc="-70" dirty="0">
                <a:solidFill>
                  <a:srgbClr val="404040"/>
                </a:solidFill>
              </a:rPr>
              <a:t> </a:t>
            </a:r>
            <a:r>
              <a:rPr u="none" dirty="0">
                <a:solidFill>
                  <a:srgbClr val="404040"/>
                </a:solidFill>
              </a:rPr>
              <a:t>Hastalıkları</a:t>
            </a:r>
            <a:r>
              <a:rPr u="none" spc="-75" dirty="0">
                <a:solidFill>
                  <a:srgbClr val="404040"/>
                </a:solidFill>
              </a:rPr>
              <a:t> </a:t>
            </a:r>
            <a:r>
              <a:rPr u="none" dirty="0">
                <a:solidFill>
                  <a:srgbClr val="404040"/>
                </a:solidFill>
              </a:rPr>
              <a:t>ve</a:t>
            </a:r>
            <a:r>
              <a:rPr u="none" spc="-50" dirty="0">
                <a:solidFill>
                  <a:srgbClr val="404040"/>
                </a:solidFill>
              </a:rPr>
              <a:t> </a:t>
            </a:r>
            <a:r>
              <a:rPr u="none" dirty="0">
                <a:solidFill>
                  <a:srgbClr val="404040"/>
                </a:solidFill>
              </a:rPr>
              <a:t>Cerrahisi</a:t>
            </a:r>
            <a:r>
              <a:rPr u="none" spc="-55" dirty="0">
                <a:solidFill>
                  <a:srgbClr val="404040"/>
                </a:solidFill>
              </a:rPr>
              <a:t> </a:t>
            </a:r>
            <a:r>
              <a:rPr u="none" dirty="0">
                <a:solidFill>
                  <a:srgbClr val="404040"/>
                </a:solidFill>
              </a:rPr>
              <a:t>Kitabı</a:t>
            </a:r>
            <a:r>
              <a:rPr u="none" spc="-65" dirty="0">
                <a:solidFill>
                  <a:srgbClr val="404040"/>
                </a:solidFill>
              </a:rPr>
              <a:t> </a:t>
            </a:r>
            <a:r>
              <a:rPr u="none" dirty="0">
                <a:solidFill>
                  <a:srgbClr val="404040"/>
                </a:solidFill>
              </a:rPr>
              <a:t>sayfa</a:t>
            </a:r>
            <a:r>
              <a:rPr u="none" spc="-60" dirty="0">
                <a:solidFill>
                  <a:srgbClr val="404040"/>
                </a:solidFill>
              </a:rPr>
              <a:t> </a:t>
            </a:r>
            <a:r>
              <a:rPr u="none" spc="-25" dirty="0">
                <a:solidFill>
                  <a:srgbClr val="404040"/>
                </a:solidFill>
              </a:rPr>
              <a:t>97</a:t>
            </a: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 3"/>
              <a:buChar char=""/>
              <a:tabLst>
                <a:tab pos="354965" algn="l"/>
              </a:tabLst>
            </a:pPr>
            <a:r>
              <a:rPr u="none" dirty="0">
                <a:solidFill>
                  <a:srgbClr val="404040"/>
                </a:solidFill>
              </a:rPr>
              <a:t>Google</a:t>
            </a:r>
            <a:r>
              <a:rPr u="none" spc="-50" dirty="0">
                <a:solidFill>
                  <a:srgbClr val="404040"/>
                </a:solidFill>
              </a:rPr>
              <a:t> </a:t>
            </a:r>
            <a:r>
              <a:rPr u="none" spc="-10" dirty="0">
                <a:solidFill>
                  <a:srgbClr val="404040"/>
                </a:solidFill>
              </a:rPr>
              <a:t>görseller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3200400" y="762000"/>
            <a:ext cx="49519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4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BİR SONRAKİ DERS HAKKINDA</a:t>
            </a:r>
            <a:endParaRPr kumimoji="0" lang="tr-TR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Metin kutusu 4"/>
          <p:cNvSpPr txBox="1"/>
          <p:nvPr/>
        </p:nvSpPr>
        <p:spPr>
          <a:xfrm>
            <a:off x="3429000" y="2743200"/>
            <a:ext cx="990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 smtClean="0"/>
              <a:t>Temel </a:t>
            </a:r>
            <a:r>
              <a:rPr lang="tr-TR" sz="2400" dirty="0" err="1" smtClean="0"/>
              <a:t>Kardiyopulmonel</a:t>
            </a:r>
            <a:r>
              <a:rPr lang="tr-TR" sz="2400" dirty="0" smtClean="0"/>
              <a:t> </a:t>
            </a:r>
            <a:r>
              <a:rPr lang="tr-TR" sz="2400" dirty="0" err="1" smtClean="0"/>
              <a:t>Baypass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3984700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/>
          <p:cNvSpPr txBox="1"/>
          <p:nvPr/>
        </p:nvSpPr>
        <p:spPr>
          <a:xfrm>
            <a:off x="304800" y="1229360"/>
            <a:ext cx="113182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buClr>
                <a:prstClr val="black"/>
              </a:buClr>
              <a:buSzPts val="2400"/>
            </a:pPr>
            <a:endParaRPr lang="tr-TR" sz="2400" kern="1200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rtl="0">
              <a:buClr>
                <a:prstClr val="black"/>
              </a:buClr>
              <a:buSzPts val="2400"/>
            </a:pPr>
            <a:endParaRPr lang="tr-TR" sz="2400" kern="1200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 rtl="0">
              <a:buClr>
                <a:prstClr val="black"/>
              </a:buClr>
              <a:buSzPts val="2400"/>
            </a:pPr>
            <a:r>
              <a:rPr lang="tr-TR" sz="2400" kern="12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Yetişkin </a:t>
            </a:r>
            <a:r>
              <a:rPr lang="tr-TR" sz="2400" kern="120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Perfüzyon</a:t>
            </a:r>
            <a:r>
              <a:rPr lang="tr-TR" sz="2400" kern="12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 (PER245)</a:t>
            </a:r>
          </a:p>
          <a:p>
            <a:pPr algn="ctr" rtl="0">
              <a:buClr>
                <a:prstClr val="black"/>
              </a:buClr>
              <a:buSzPts val="2400"/>
            </a:pPr>
            <a:r>
              <a:rPr lang="tr-TR" sz="2400" kern="12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tr-TR" sz="2400" kern="12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tr-TR" sz="2400" kern="12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Dersine ait sunumlar </a:t>
            </a:r>
            <a:r>
              <a:rPr lang="tr-TR" sz="2400" kern="12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özel olduğu için burada yer alan  metin ve görsellerin, </a:t>
            </a:r>
            <a:br>
              <a:rPr lang="tr-TR" sz="2400" kern="12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tr-TR" sz="2400" kern="12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dersin öğretim üyesinden </a:t>
            </a:r>
            <a:br>
              <a:rPr lang="tr-TR" sz="2400" kern="12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tr-TR" sz="2400" b="1" kern="12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izin alınmaksızın sosyal medya ya da farklı alanlarda kullanılması</a:t>
            </a:r>
            <a:r>
              <a:rPr lang="tr-TR" sz="2400" kern="12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br>
              <a:rPr lang="tr-TR" sz="2400" kern="12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tr-TR" sz="2400" b="1" i="1" u="sng" kern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6698 Sayılı Kanun </a:t>
            </a:r>
            <a:r>
              <a:rPr lang="tr-TR" sz="2400" kern="12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ile güvence altına alınan kişisel verilerin ve özel hayatın korunmasına yönelik düzenlemelere aykırıdır.</a:t>
            </a:r>
            <a:br>
              <a:rPr lang="tr-TR" sz="2400" kern="12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tr-TR" sz="2400" b="1" kern="1200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076287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344;g2ea15ffc163_0_229" descr="kişi, şahıs, insan yüzü, giyim, askeri üniforma içeren bir resim&#10;&#10;Açıklama otomatik olarak oluşturuldu"/>
          <p:cNvPicPr preferRelativeResize="0"/>
          <p:nvPr/>
        </p:nvPicPr>
        <p:blipFill rotWithShape="1">
          <a:blip r:embed="rId3">
            <a:alphaModFix/>
          </a:blip>
          <a:srcRect l="16533"/>
          <a:stretch/>
        </p:blipFill>
        <p:spPr>
          <a:xfrm>
            <a:off x="7696200" y="1447800"/>
            <a:ext cx="3570201" cy="462070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Metin kutusu 4"/>
          <p:cNvSpPr txBox="1"/>
          <p:nvPr/>
        </p:nvSpPr>
        <p:spPr>
          <a:xfrm>
            <a:off x="1447800" y="487680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Mustafa Kemal ATATÜRK</a:t>
            </a:r>
          </a:p>
        </p:txBody>
      </p:sp>
      <p:sp>
        <p:nvSpPr>
          <p:cNvPr id="6" name="Dikdörtgen 5"/>
          <p:cNvSpPr/>
          <p:nvPr/>
        </p:nvSpPr>
        <p:spPr>
          <a:xfrm>
            <a:off x="838200" y="1905000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tr-TR" sz="3200" b="0" i="0" dirty="0" smtClean="0">
                <a:solidFill>
                  <a:srgbClr val="000000"/>
                </a:solidFill>
                <a:effectLst/>
                <a:latin typeface="mulish-regular"/>
              </a:rPr>
              <a:t>Dünyada her şey için, medeniyet için, hayat için, başarı için, en hakiki mürşit bilimdir, fendir.</a:t>
            </a:r>
            <a:endParaRPr lang="tr-TR" sz="3200" dirty="0"/>
          </a:p>
        </p:txBody>
      </p:sp>
    </p:spTree>
    <p:extLst>
      <p:ext uri="{BB962C8B-B14F-4D97-AF65-F5344CB8AC3E}">
        <p14:creationId xmlns:p14="http://schemas.microsoft.com/office/powerpoint/2010/main" val="8355280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838</Words>
  <Application>Microsoft Office PowerPoint</Application>
  <PresentationFormat>Geniş ekran</PresentationFormat>
  <Paragraphs>190</Paragraphs>
  <Slides>42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42</vt:i4>
      </vt:variant>
    </vt:vector>
  </HeadingPairs>
  <TitlesOfParts>
    <vt:vector size="50" baseType="lpstr">
      <vt:lpstr>Arial</vt:lpstr>
      <vt:lpstr>Calibri</vt:lpstr>
      <vt:lpstr>Calibri Light</vt:lpstr>
      <vt:lpstr>mulish-regular</vt:lpstr>
      <vt:lpstr>Times New Roman</vt:lpstr>
      <vt:lpstr>Trebuchet MS</vt:lpstr>
      <vt:lpstr>Wingdings 3</vt:lpstr>
      <vt:lpstr>Office Teması</vt:lpstr>
      <vt:lpstr>PowerPoint Sunusu</vt:lpstr>
      <vt:lpstr>PowerPoint Sunusu</vt:lpstr>
      <vt:lpstr>PowerPoint Sunusu</vt:lpstr>
      <vt:lpstr>MİTRAL KAPAK HASTALIKLARI VE CERRAHİSİ</vt:lpstr>
      <vt:lpstr>PowerPoint Sunusu</vt:lpstr>
      <vt:lpstr>İçindekiler</vt:lpstr>
      <vt:lpstr>Mitral Kapak</vt:lpstr>
      <vt:lpstr>Mitral Kapak Patolojileri</vt:lpstr>
      <vt:lpstr>Korda Tendenea</vt:lpstr>
      <vt:lpstr>Patolojileri</vt:lpstr>
      <vt:lpstr>Mitral darlığı</vt:lpstr>
      <vt:lpstr>PowerPoint Sunusu</vt:lpstr>
      <vt:lpstr>Belirtileri</vt:lpstr>
      <vt:lpstr>Tedavisi</vt:lpstr>
      <vt:lpstr>Mitral yetmezliği</vt:lpstr>
      <vt:lpstr>PowerPoint Sunusu</vt:lpstr>
      <vt:lpstr>BELİRTİLERİ</vt:lpstr>
      <vt:lpstr>PowerPoint Sunusu</vt:lpstr>
      <vt:lpstr>Tanı yöntemleri;</vt:lpstr>
      <vt:lpstr>Mitral Kapak Cerrahisi</vt:lpstr>
      <vt:lpstr>PowerPoint Sunusu</vt:lpstr>
      <vt:lpstr>Ring Annuloplasti</vt:lpstr>
      <vt:lpstr>Kordoplasti</vt:lpstr>
      <vt:lpstr>Kapak tercihi</vt:lpstr>
      <vt:lpstr>PowerPoint Sunusu</vt:lpstr>
      <vt:lpstr>Mitral Kapak Cerrahisinde Kanülasyon</vt:lpstr>
      <vt:lpstr>PowerPoint Sunusu</vt:lpstr>
      <vt:lpstr>Prime Hazırlığı</vt:lpstr>
      <vt:lpstr>Kardiyopleji Stratejisi</vt:lpstr>
      <vt:lpstr>İdame olarak ( 20 Dk. Bir)</vt:lpstr>
      <vt:lpstr>Klasik Mitral Kapak Operasyonu</vt:lpstr>
      <vt:lpstr>PowerPoint Sunusu</vt:lpstr>
      <vt:lpstr>Yoğun Bakım Süreci</vt:lpstr>
      <vt:lpstr>PowerPoint Sunusu</vt:lpstr>
      <vt:lpstr>PowerPoint Sunusu</vt:lpstr>
      <vt:lpstr>PowerPoint Sunusu</vt:lpstr>
      <vt:lpstr>PowerPoint Sunusu</vt:lpstr>
      <vt:lpstr>Kaynakça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isozb</dc:creator>
  <cp:lastModifiedBy>Yasin Başaran</cp:lastModifiedBy>
  <cp:revision>3</cp:revision>
  <dcterms:created xsi:type="dcterms:W3CDTF">2024-12-27T09:37:38Z</dcterms:created>
  <dcterms:modified xsi:type="dcterms:W3CDTF">2024-12-27T13:51:20Z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2020-10-30T00:00:00Z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2024-12-27T00:00:00Z</vt:filetime>
  </property>
  <property fmtid="{D5CDD505-2E9C-101B-9397-08002B2CF9AE}" pid="5" name="Producer">
    <vt:lpwstr>Microsoft® PowerPoint® 2010</vt:lpwstr>
  </property>
</Properties>
</file>