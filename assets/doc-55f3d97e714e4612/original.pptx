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59" r:id="rId3"/>
    <p:sldId id="271" r:id="rId4"/>
    <p:sldId id="273" r:id="rId5"/>
    <p:sldId id="272" r:id="rId6"/>
    <p:sldId id="274" r:id="rId7"/>
    <p:sldId id="310" r:id="rId8"/>
    <p:sldId id="311" r:id="rId9"/>
    <p:sldId id="312" r:id="rId10"/>
    <p:sldId id="313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278" r:id="rId33"/>
    <p:sldId id="279" r:id="rId34"/>
    <p:sldId id="280" r:id="rId35"/>
    <p:sldId id="281" r:id="rId36"/>
    <p:sldId id="284" r:id="rId37"/>
    <p:sldId id="282" r:id="rId38"/>
    <p:sldId id="283" r:id="rId39"/>
    <p:sldId id="257" r:id="rId4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2101-028C-4C7C-BD50-C9732890444B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13FAA-B49B-438C-9DA4-0021B633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3907-0054-4CE1-BA2E-6D8CEC36E5B7}" type="datetime1">
              <a:rPr lang="tr-TR" smtClean="0"/>
              <a:t>23.12.2024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786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16E5-22D1-424E-9E03-7FE4FCF4E762}" type="datetime1">
              <a:rPr lang="tr-TR" smtClean="0"/>
              <a:t>23.12.2024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5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F9A-8D36-43A8-ABA2-4C9C9E5C79EF}" type="datetime1">
              <a:rPr lang="tr-TR" smtClean="0"/>
              <a:t>23.12.2024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61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83676" y="320675"/>
            <a:ext cx="10556631" cy="1325563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 smtClean="0"/>
              <a:t>Asıl başlık stili için tıklatın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83676" y="1646238"/>
            <a:ext cx="10556631" cy="435133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tr-TR" dirty="0" smtClean="0"/>
              <a:t>Asıl metin stillerini düzenle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tr-TR" dirty="0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1295400" y="6356349"/>
            <a:ext cx="2743200" cy="365125"/>
          </a:xfrm>
        </p:spPr>
        <p:txBody>
          <a:bodyPr/>
          <a:lstStyle/>
          <a:p>
            <a:fld id="{C46BFB63-2AB2-4BA2-8CD9-A68D09A9B742}" type="datetime1">
              <a:rPr lang="tr-TR" smtClean="0"/>
              <a:t>23.12.2024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20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6E8C-C65E-4F63-AEE4-FAD8C582111C}" type="datetime1">
              <a:rPr lang="tr-TR" smtClean="0"/>
              <a:t>23.12.2024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95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4718-B27C-45EE-A76D-390338E2DE09}" type="datetime1">
              <a:rPr lang="tr-TR" smtClean="0"/>
              <a:t>23.12.2024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03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0E79-79FB-4C73-A853-D9D670F075EE}" type="datetime1">
              <a:rPr lang="tr-TR" smtClean="0"/>
              <a:t>23.12.2024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949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B1A0-33BC-4E80-A17D-D3AE4CBABFEA}" type="datetime1">
              <a:rPr lang="tr-TR" smtClean="0"/>
              <a:t>23.12.2024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5EE4-3681-4524-B732-0D6448CCBE17}" type="datetime1">
              <a:rPr lang="tr-TR" smtClean="0"/>
              <a:t>23.12.2024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6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96BB-783D-4D3E-99CD-AC33CF6608D3}" type="datetime1">
              <a:rPr lang="tr-TR" smtClean="0"/>
              <a:t>23.12.2024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9E9FA-750F-4658-A36B-A439B400F2F3}" type="datetime1">
              <a:rPr lang="tr-TR" smtClean="0"/>
              <a:t>23.12.2024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983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D6CC-84C3-4375-AADE-3F6A6FFABFD1}" type="datetime1">
              <a:rPr lang="tr-TR" smtClean="0"/>
              <a:t>23.12.2024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69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dirty="0"/>
              <a:t/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 smtClean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104832"/>
            <a:ext cx="1828800" cy="1184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173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52"/>
            <a:ext cx="12215446" cy="6871188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1188084" y="1296670"/>
            <a:ext cx="1016571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Bölümün Adı			: </a:t>
            </a:r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Perfüzyon</a:t>
            </a:r>
            <a:endParaRPr lang="tr-TR" sz="2400" b="1" dirty="0" smtClean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 Kodu ve Adı		: PER247 Sterilizasyon ve Cerrahi Asepsi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Haftası		: 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tr-TR" sz="2400" b="1" dirty="0" smtClean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Günü ve Saati	: Pazartesi 15.00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 Kredi/AKTS Bilgileri	: 3/6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Sınav Şekli/ Not Dağılımı	: Test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</a:t>
            </a:r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		: Dr. </a:t>
            </a:r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Üyesi Sevinç Baba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E-posta ve Telefon		: sbaba@gelisim.edu.tr</a:t>
            </a:r>
          </a:p>
          <a:p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 Odası		: B Blok 015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Danışmanlık Bilgileri	: Pazartesi 14.00-15.00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GBS Linki			: 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https://gbs.gelisim.edu.tr/ders-detay-17-322-11089-1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ALMS Linki			: https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lms.gelisim.edu.tr/almsp/u/Home/Index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AVESİS Linki		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https://avesis.gelisim.edu.tr/sbaba</a:t>
            </a:r>
          </a:p>
        </p:txBody>
      </p:sp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8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İçerik Yer Tutucusu 8"/>
          <p:cNvSpPr>
            <a:spLocks noGrp="1"/>
          </p:cNvSpPr>
          <p:nvPr>
            <p:ph sz="half" idx="2"/>
          </p:nvPr>
        </p:nvSpPr>
        <p:spPr>
          <a:xfrm>
            <a:off x="1327618" y="1573967"/>
            <a:ext cx="5073182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hakkında genel bilgi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Sterilizasyonda güvenlik testleri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4"/>
          </p:nvPr>
        </p:nvSpPr>
        <p:spPr>
          <a:xfrm>
            <a:off x="6726836" y="1573967"/>
            <a:ext cx="5183188" cy="4615696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Setlerin kodlanması ve dokümantasyonu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Cerrahi malzemenin hazırlanması ve sterilizasyonu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Plastik malzemenin sterilizasyonu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 malzemenin depolanması ve korunması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</a:t>
            </a:fld>
            <a:endParaRPr lang="tr-TR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ikdörtgen 7"/>
          <p:cNvSpPr/>
          <p:nvPr/>
        </p:nvSpPr>
        <p:spPr>
          <a:xfrm>
            <a:off x="0" y="40802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14 HAFTALIK DERS </a:t>
            </a:r>
            <a:r>
              <a:rPr lang="tr-TR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KONULARI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885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Plastik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malzemenin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sterilizasyonunu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öğrenir. </a:t>
            </a:r>
          </a:p>
        </p:txBody>
      </p:sp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28099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HAFTALIK </a:t>
            </a:r>
            <a:r>
              <a:rPr lang="tr-TR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ÖĞRENİM KAZANIMLARI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37398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ÖNCEKİ DERS HAKKINDA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2982208" y="1908036"/>
            <a:ext cx="6827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malzemenin hazırlanması ve sterilizasyonu</a:t>
            </a:r>
          </a:p>
        </p:txBody>
      </p:sp>
    </p:spTree>
    <p:extLst>
      <p:ext uri="{BB962C8B-B14F-4D97-AF65-F5344CB8AC3E}">
        <p14:creationId xmlns:p14="http://schemas.microsoft.com/office/powerpoint/2010/main" val="104289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6869723" y="2479964"/>
            <a:ext cx="4953000" cy="28817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35;g2ea15ffc163_0_29"/>
          <p:cNvPicPr preferRelativeResize="0"/>
          <p:nvPr/>
        </p:nvPicPr>
        <p:blipFill rotWithShape="1">
          <a:blip r:embed="rId3">
            <a:alphaModFix/>
          </a:blip>
          <a:srcRect l="26333" t="23998" r="20703" b="21593"/>
          <a:stretch/>
        </p:blipFill>
        <p:spPr>
          <a:xfrm>
            <a:off x="1593628" y="2622193"/>
            <a:ext cx="1731891" cy="177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4;g2ea15ffc163_0_29"/>
          <p:cNvSpPr txBox="1"/>
          <p:nvPr/>
        </p:nvSpPr>
        <p:spPr>
          <a:xfrm>
            <a:off x="3233735" y="2622193"/>
            <a:ext cx="58569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tr-T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.00-15.50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1.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16.00-16.50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2.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17.00-17.45/ 3.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</a:t>
            </a:fld>
            <a:endParaRPr lang="tr-TR"/>
          </a:p>
        </p:txBody>
      </p:sp>
      <p:sp>
        <p:nvSpPr>
          <p:cNvPr id="10" name="Dikdörtgen 9"/>
          <p:cNvSpPr/>
          <p:nvPr/>
        </p:nvSpPr>
        <p:spPr>
          <a:xfrm>
            <a:off x="66675" y="384093"/>
            <a:ext cx="12125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17265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GÜNLÜK AKIŞ</a:t>
            </a:r>
          </a:p>
        </p:txBody>
      </p:sp>
    </p:spTree>
    <p:extLst>
      <p:ext uri="{BB962C8B-B14F-4D97-AF65-F5344CB8AC3E}">
        <p14:creationId xmlns:p14="http://schemas.microsoft.com/office/powerpoint/2010/main" val="274098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52592" y="1609803"/>
            <a:ext cx="10533185" cy="4770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ETİLEN OKSİT STERİLİZASYONU</a:t>
            </a:r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oksit, renksiz, çok hafif kokusu olan havadan biraz daha ağır, yanıcı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 patlayıcı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toksik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bir gazdır. </a:t>
            </a: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oksit 1859 yılında keşfedilmiş ve ilk olarak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odaya buhar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verme amacıyla kullanılmış, 2. Dünya Savaşı’nda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bakteriyosidal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özelliği olduğu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bulunmuştur. Bütün bilim dallarında olduğu gibi cerrahide yaşanan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gelişmeler yeni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teknikleri, yeni alet ihtiyacını ortaya çıkarmıştır. </a:t>
            </a: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Isıya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neme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duyarlı hassas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aletlerin etilen oksit ile sterilizasyonu gündeme gelmiştir. Etilen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oksit gazı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1960 yılından bu yana sterilizasyon için kullanılmaktadır. </a:t>
            </a: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1514764" y="1005208"/>
            <a:ext cx="98390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PLASTİK MALZEMENİN STERİLİZASYONU</a:t>
            </a:r>
            <a:endParaRPr lang="tr-TR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90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71065" y="1005208"/>
            <a:ext cx="10533185" cy="4770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oksit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sterilazyonu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düşük ısıda (37-55°C) standart sürelerde, basınç, nem ve etilen oksit gazı ile sterilizasyon işleminin gerçekleştirilmesidir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oksit, mikroorganizmaların hücre duvarı ile reaksiyona girerek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irreversibl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alkalileşmeye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sebep olan bir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sterilan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olarak çalışır. Birçok medikal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malzeme ile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uyumlu olup, özellikle ısıya ve neme duyarlı plastik malzemeler için tercih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edilen bir yöntemdir.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867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71065" y="1005208"/>
            <a:ext cx="10533185" cy="4770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sterilizasyonunda %100 etilen oksit gazı veya etilen oksit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gazının patlayıcı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yanıcı özelliğini daha aza indirmek için bazı gazlar (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CFC (Kloroflorokarbonlar), HCFC (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Hidrokloroflorokarbonlar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CO2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kombine edilerek de kullanılıyor. 1996 yılında “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Agency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(EPA)”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“Occupational Safety and Health Administration (OSHA)”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statosforik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ozonu </a:t>
            </a: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koruma paktı neticesinde %12 etilen oksit, %88 CFC </a:t>
            </a:r>
            <a:r>
              <a:rPr lang="da-DK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üretimlerini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durdurmuş, etilen oksit, HCFC karışımı,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sterilizatörlerin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üretimlerinin bir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süre sonra durdurulması kararlaştırmıştır. Etilen oksit, HCFC ve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ile CO2 karışımları hala kullanılmaya devam etmektedir.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732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71065" y="1005208"/>
            <a:ext cx="10533185" cy="4770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ile kullanılan HCFC ve CO2 oranları: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%8.6 EO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%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91.4 HCFC,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%10 EO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%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 HCFC,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%8.5 EO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%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91.5 CO2’dir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%100 etilen oksit patlayıcı ve yanıcı olmasına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rağmen kombine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gazlara oranla çevre ve çalışanlar açısından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güvenlik önlemleri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alındığında daha emniyetlidir. 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sterilizatörleri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düşük, yüksek ve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-atmosferik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basınçla çalışır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Etilen oksit gazı kolayca nüfus olduğu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için steril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malzemeler üzerindeki gaz artıklarını uzaklaştırmak amacı ile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sonunda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havalandırmaya ihtiyaç vardır.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396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71065" y="1005208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sterilizasyonunun avantajları: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Isıya ve neme hassas tüm tıbbi malzeme ve cerrahi aletler kullanılabilir.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Aletlere daha az zarar verir, aşındırıcıdır.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Sporlar dahil bütün mikroorganizmalara [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Creutzfeldt-Jakob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hastalığı (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CJD) hariç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karşı etkilidir.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Paketlenmiş materyal ve alet lümenlerine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penetre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olur.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Uygulanması ve takibi kolaydır.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Medikal aletlerin çoğunluğu ile uyumludur.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Plastik ve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lümenli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aletlerin sterilizasyonu için uygundur.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635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71065" y="1005208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sterilizasyonunun dezavantajları: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Sterilizasyon ve havalandırma süresi uzundur.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Sıvılar steril edilemez, kazan hacmi küçüktür.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Paketleme materyali olarak kumaş kullanılamaz.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Çevre, hasta ve sağlık çalışanları için güvenlik?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Alev bastırıcı ile karıştırılmazsa yanıcı ve patlayıcı bir gazdır.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Toksik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artık bırakabilir.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Kullanıcı hatasına açık.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Karsinojendir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Pahalıdır.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80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71065" y="1005208"/>
            <a:ext cx="10533185" cy="4770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tr-T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“etkinlik düzeyi”: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Havadaki etilen oksit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konsantrasyonunun sekiz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saat zaman-ağırlıklı ortalaması hesaplandığında konsantrasyonun 0.5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olması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anlamına gelir.</a:t>
            </a:r>
          </a:p>
          <a:p>
            <a:pPr>
              <a:lnSpc>
                <a:spcPct val="150000"/>
              </a:lnSpc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TWA (time-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weighted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“zaman-ağırlıklı ortalama”: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Havadaki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konsantrasyonunun sekiz saatlik zaman-ağırlıklı ortalama (TWA)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alındığında, çalışanlardan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hiçbirinin havadaki konsantrasyonu 1 milyon hava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parçacığı içinde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etilen oksit parçacığından (1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daha fazla 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maruz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kalmayacağını garanti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edecektir.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828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71065" y="1005208"/>
            <a:ext cx="10533185" cy="4770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tr-T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(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permissible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exposure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limit) “izin verilen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maruziyet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düzeyi”: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İzin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verilen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maruziyet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düzeyi 1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(8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TWA).</a:t>
            </a:r>
          </a:p>
          <a:p>
            <a:pPr>
              <a:lnSpc>
                <a:spcPct val="150000"/>
              </a:lnSpc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(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excursion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limit) “kısa dönem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maruziyet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sınırı”: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İşveren, 15 dakikalık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 sürede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örnekleme yapılması ve ortalama alınması durumunda, çalışanlardan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hiçbirinin havadaki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konsantrasyonu 1 milyon hava parçacığı içinde 5 etilen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oksit parçacığından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daha fazla 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maruz kalmayacağını garanti edecektir.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339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7" y="672699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OSHA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İçin Medikal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Sürveyans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Rehberi hazırlamıştır. Bu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rehbere göre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Giriş Yolu: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İnhalasyon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Toksikoloji:</a:t>
            </a:r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Yapılan araştırmalar laboratuvar hayvanlarında kanser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insidansında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artma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lösemi, mide, beyin) yavru hayvanlarda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reserbsiyon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spontan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düşükler,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insan popülasyonunda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 düşükler olabileceğini göstermiştir. Hava içindeki etilen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oksit konsantrasyonuna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maruz kalma hayvan ve insanlarda genetik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materyalin bozulduğunu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gösterir bulgulara yol açmıştır. </a:t>
            </a: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sıra hemoglobin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alkilizasyonu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programlanmış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sentezi, kardeş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kromatit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değişiklikleri ve fonksiyonel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sperm anomalileri görülebilir. Etilen oksit sıvı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formunun göze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temasta göz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irritasyonu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kornea yaralanması, cilde temasında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şiddetli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irritasyon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donma ve su toplaması olabilir. Yutulması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gastrik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irritasyon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karaciğer hasarına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 açabilir. Etilen oksit buharlarının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inhalasyonu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solunum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irritasyonu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akciğer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yaralanması, baş ağrısı, bulantı, kusma,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dispne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diyare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siyanoza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yol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açabilir.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506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7" y="672699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OSHA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İçin Medikal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Sürveyans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Rehberi hazırlamıştır. Bu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rehbere göre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Fazla Maruz Kalma Bulgu ve Semptomları</a:t>
            </a:r>
          </a:p>
          <a:p>
            <a:pPr>
              <a:lnSpc>
                <a:spcPct val="150000"/>
              </a:lnSpc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Akut etkileri: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akut fazla maruz kalma erken bulguları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bulantı, kusma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baş ağrısı gözlerde ve solunum yollarında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irritasyondur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Kişi ağzında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garip bir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 hissedebilir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Geç etkileri: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Akciğer ödemi,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uyuklama ve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zayıflık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olabilir. Araştırma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sonuçları kan hücrelerindeki değişikliğin ve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spontan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düşüklerin de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oksite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maruz kalma ile ilişkili olabileceğini düşündürmektedir. Etilen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oksite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sıvı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gaz formlarının cilde teması yanık hatta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alerjik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tipte hassasiyete yol açabilir.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59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7" y="672699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OSHA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İçin Medikal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Sürveyans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Rehberi hazırlamıştır. Bu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rehbere göre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Sürveyans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Önleyici Tedbirler</a:t>
            </a: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oksit çalışanlarının etilen oksit teması olmayanlara benzer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gruplarda daha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çok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kromozomal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harabiyete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maruz kaldıkları düşünülmektedir. Mevcut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durumda yapılmış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sınırlı çalışmalar 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oksitin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lösemiye yol açtığını düşündürmektedir.</a:t>
            </a:r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Hayvan çalışmaları lösemi, beyin ve mide kanserlerinin arttığını göstermektedir.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730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7" y="672699"/>
            <a:ext cx="10533185" cy="4770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ile ilgili koruyucu önlemler alınması gereklidir.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ile ilgili koruyucu önlemler “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Occupational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Safety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Health (WIOSH)”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tarafından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belirlenmiştir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oksitle ilgili koruyucu önlemler alınmazsa öldürücü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olabilir.</a:t>
            </a:r>
          </a:p>
          <a:p>
            <a:pPr>
              <a:lnSpc>
                <a:spcPct val="150000"/>
              </a:lnSpc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oksit işlemi için malzemeler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yerleştirilir. Etilen oksit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cihazı içine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enjekte olur. Etilen oksit sterilizasyon süreci sırası ve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</a:t>
            </a:r>
            <a:r>
              <a:rPr lang="sv-S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rasında etilen oksit kontrollü bir şekilde cihazdan özel havalandırma sistemi </a:t>
            </a:r>
            <a:r>
              <a:rPr lang="sv-S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dışarıya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atılır. Etilen oksit gazı emisyon kontrol cihazına kaldırabileceğinden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daha fazla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verilirse parlama olur. Burada patlamaya neden olacak etken ısıdır.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912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26482" y="1275956"/>
            <a:ext cx="10533185" cy="4770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oksiti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fazla besleme veya diğer problemleri engellemek için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işlemler belirlenmeli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takibi yapılmalıdır.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Malzemenin idamesi,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Ventilasyon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sistemi,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oksitin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depolanması,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İşlemin uygun yapılmasıdır.</a:t>
            </a:r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Kurallara uyulmaması halinde çok ciddi patlamalara neden olabilir. 1994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 1998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yılları arasında endüstriyel sterilizasyonda 10 patlama olmuş. Patlamada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kişi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ölmüş 59 kişi yaralanmıştır. Hastanelerde kullanılan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sterilizatörlerde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potansiyel tehlikedir.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483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26482" y="1275956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Tüm çalışanlara 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oksitin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tüm basamaklarını içeren emniyet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işlemleri yazılı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olarak verilmelidir.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Emniyet kilitleri işlem başlamadan önce gaz kaçağı yönünden kontrol edilmelidir.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Sterilizasyon süreci bittikten sonra veya havalandırma odasında yanlış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anormal bir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yerleşim varsa oda havalandırılmalıdır. Paketlerin uygunsuz şekilde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pozisyonda bulunması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paketler arasında etilen oksit gazı kalmasına neden olabilir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ve havalandırma kabini odası hava emiş kontrol cihazına yönlendirilmelidir.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161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26482" y="1275956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Atık etilen oksit konsantrasyonları sürekli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monitörize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Yanlış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valv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açıp kapamayı veya etilen oksit depo alanında kaçağı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önlemek için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tedbir alınmalıdır.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Cihazın idame ve bakımı düzenli olarak yapılmalıdır.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410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3428" y="444683"/>
            <a:ext cx="10533185" cy="4770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b="1" dirty="0"/>
              <a:t>Etilen Oksit ve Kanser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International Agency for Research on Cancer (IARC)”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Uluslararası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Kanser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Araştırmaları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Temsilciliği 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oksitin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insanlarda kanserojen olduğuna dair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sınırlı kanıt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deney hayvanlarında kanserojen olduğuna dair de yeterli kanıt olduğu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sonucuna varmıştır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IARC’nin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değerlendirmesinin tamamına göre etilen oksit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insanlar için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kanserojendir (Grup 1). Amerikan Ulusal Toksikoloji Programı, etilen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oksiti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mantık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dahilinde kanserojen olduğu tahmin edilen kimyasallar sınıfına sokmaktadır.</a:t>
            </a:r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maruz kalan insanlarda, en sık rapor edilen lenfatik ve </a:t>
            </a:r>
            <a:r>
              <a:rPr lang="tr-T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hematopoietik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kanserlerdir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(örneğin; kemik iliğindeki kanı oluşturan hücrelerin kanseri).</a:t>
            </a:r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çalışmalarda iki grup incelenmiştir.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Etilen oksiti sterilant olarak kullanan hastane personeli,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i-F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Etilen oksit kullanan veya üreten kimya işçileri.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431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3428" y="444683"/>
            <a:ext cx="10533185" cy="4770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b="1" dirty="0"/>
              <a:t>Etilen Oksitle Güvenli Bir Şekilde Çalışmak </a:t>
            </a:r>
            <a:r>
              <a:rPr lang="tr-TR" b="1" dirty="0" smtClean="0"/>
              <a:t>İçin-1</a:t>
            </a:r>
            <a:endParaRPr lang="tr-TR" b="1" dirty="0"/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Etilen oksit aynı zamanda reaktiftir. Yüksek sıcaklıklara maruz kalmasını</a:t>
            </a:r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eser miktarda bile uyumsuz malzemeyle temas etmesi kesinlikle önlenmelidir.</a:t>
            </a:r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Etilen oksit ile çalışılmadan önce, mühendislik kontrollerinin işlemesi, koruyucu</a:t>
            </a:r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koşullarının sağlanması ve kişisel hijyen ölçütlerinin izlenmesi</a:t>
            </a:r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derece önemlidir. Mümkün olan her durumda birleşik sterilizasyon/havalandırma</a:t>
            </a:r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tesisi kullanılmalıdır.</a:t>
            </a:r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Belirlenen çalışma alanına giriş kontrol altında bulundurulmalıdır.</a:t>
            </a:r>
          </a:p>
          <a:p>
            <a:pPr marL="0" indent="0"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Tehlihe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uyarı işaretleri asılmalıdır.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61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3428" y="444683"/>
            <a:ext cx="10533185" cy="4770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b="1" dirty="0"/>
              <a:t>Etilen Oksitle Güvenli Bir Şekilde Çalışmak </a:t>
            </a:r>
            <a:r>
              <a:rPr lang="tr-TR" b="1" dirty="0" smtClean="0"/>
              <a:t>İçin-2</a:t>
            </a:r>
            <a:endParaRPr lang="tr-TR" b="1" dirty="0"/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Sadece yetkili kişiler etilen oksit alanına girebilmelidir.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Etilen oksit alanına girenler etilen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oksitin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tehlikeleri ve güvenli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kullanımı konusunda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uygun eğitim almış olmalıdır.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Bakım ve acil durum personeli, potansiyel zararlarla ilgili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bilgilendirilmelidir. Çalışma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alanına gaz sızması önlenmelidir.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488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3428" y="444683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b="1" dirty="0"/>
              <a:t>Etilen Oksitle Güvenli Bir Şekilde Çalışmak </a:t>
            </a:r>
            <a:r>
              <a:rPr lang="tr-TR" b="1" dirty="0" smtClean="0"/>
              <a:t>İçin-3</a:t>
            </a:r>
            <a:endParaRPr lang="tr-TR" b="1" dirty="0"/>
          </a:p>
          <a:p>
            <a:pPr>
              <a:lnSpc>
                <a:spcPct val="150000"/>
              </a:lnSpc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cihazı ve havalandırma kabinleri steril alan içerisinde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kapalı, havalandırması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olan bir mekanda olmalı. Oda kapısı üzerine:</a:t>
            </a:r>
          </a:p>
          <a:p>
            <a:pPr marL="0" indent="0">
              <a:lnSpc>
                <a:spcPct val="150000"/>
              </a:lnSpc>
              <a:buNone/>
            </a:pP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tr-T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levhası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asılı olmalıdır.</a:t>
            </a:r>
            <a:endParaRPr lang="tr-TR" sz="2000" dirty="0">
              <a:solidFill>
                <a:prstClr val="black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25</a:t>
            </a:fld>
            <a:endParaRPr lang="tr-TR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09" y="2682283"/>
            <a:ext cx="8529622" cy="206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4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3428" y="444683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b="1" dirty="0"/>
              <a:t>Etilen Oksitle Güvenli Bir Şekilde Çalışmak </a:t>
            </a:r>
            <a:r>
              <a:rPr lang="tr-TR" b="1" dirty="0" smtClean="0"/>
              <a:t>İçin-4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Yangın/patlama tehlikesini azaltmak için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kartujlar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konteyner veya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saklama tankı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içinde muhafaza edilmelidir.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Eğer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kartujlu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 yerine tüplü sistem kullanılıyorsa uygun şekilde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etiketlenmiş, mümkün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olan en düşük miktarlardaki tüpler kullanılmalıdır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Tüpleri taşımak için kullanılan tekerlekli araba, kırılmayan, uygun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malzemeden yapılmalıdır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Tüpler düzenli olarak kontrol edilmelidir.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Tüm ateşleme kaynakları (kıvılcım, açık alev, sıcak yüzeyler) ortadan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kaldırılmalı. Sıcaktan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uzak tutulmalıdır.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“Sigara içilmez” işaretleri asılmalıdır.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314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3428" y="444683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Oksitle Güvenli Bir Şekilde Çalışmak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İçin-5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Etilen oksit kullanılan alanlarda yanıcı malzeme (karton, talaş vb.) bulundurulmamalıdır.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Sızıntılar ve havalandırma bozuklukları hemen bildirilmelidir.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Korunmayan kişiler, etilen oksit bulaşmış malzemeyle temastan kaçınmalıdır.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Etilen oksit salınımı varsa hemen uygun bir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respiratör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takıp salınımın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ciddiyeti belirleninceye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kadar bölgeden uzaklaşılmalıdır.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Sızıntı veya dökülme durumlarında, çalışma alanından uzaklaşmak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için olağanüstü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durum eylem planı ve malzemeleri hazır bulundurulmalıdır.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Asit, baz, alkol ve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oksidize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eden ajanlar gibi uyumsuz materyalle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birlikte kullanılmamalıdır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231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63428" y="444683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Oksitle Güvenli Bir Şekilde Çalışmak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İçin-6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Etilen oksit çalışma alanındaki havalandırma sistemi, onaylanmış,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patlamaya dayanıklı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ve güvenlikli elektrik sistemleri kullanılmalıdır.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Uygun bir otomatik yangın söndürme sistemi ile birlikte sızıntı ve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yangın tespit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malzemesinin bulundurulması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düşününülmelidir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Koridor ve çıkışlarda tahliye için engel bulunmaması sağlanmalıdır.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Boş etilen oksit tankı, konteyneri veya borularında, tamamen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temizlendiğinden emin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olmadan, kesinlikle, kaynak, kesme, birleştirme, delme işleri veya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ısı açığa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çıkaracak herhangi bir iş yapılmamalıdır.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Potansiyel olarak tehlikeli olan alanlarda, kesme veya topraklama işi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yapmadan önce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kıvılcım çıkmasını önlemek için, sert yüzeyler iyice ıslatılmalıdır.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Tanklara müdahale etmeden önce sızıntı olup olmadığı kontrol edilmelidir.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381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6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81901" y="1183592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Oksitle Güvenli Bir Şekilde Çalışmak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İçin-7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Transfer işlemlerinde, statik yük oluşmasını önlemek için, tanklar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elektrik anlamında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topraklanmış ve bağlanmış olmalıdır.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Tankın kapağı tank güvenli bir şekilde kullanıma hazır olana kadar çıkarmamalıdır.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Tanklar her zaman dik bir şekilde, duvara rafa veya başka bir sert </a:t>
            </a:r>
            <a:r>
              <a:rPr lang="tr-T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malzemeye sabitlenmelidir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Yağlı ellerle tanklara müdahale edilmemelidir.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Tanklar aşınma ve sızıntıya karşı düzenli olarak kontrol edilmelidir.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Uygun basınç regülatörü kullanılmalıdır.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7616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81901" y="1183592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Oksitle Güvenli Bir Şekilde Çalışmak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İçin-8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Malzemenin tank basıncı ve içeriğine uygun olduğundan emin olunmalı.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Firmanın önerilerine uyulmalıdır.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Malzeme güvenliği veri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evrağındaki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(MSDS) önlemlere uyulmalıdır.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Yangın ve sızıntı durumları için uygun acil durum malzemeleri hazır bulundurulmalıdır.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Alan temiz ve bakımlı tutulmalıdır.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Müdahale malzemesi bulundurulmalıdır.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1688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81901" y="1183592"/>
            <a:ext cx="10533185" cy="47701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Oksitle Güvenli Bir Şekilde Çalışmak </a:t>
            </a:r>
            <a:r>
              <a:rPr lang="tr-T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İçin-9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Uygulanacak düzenlemelere uyulmalıdır.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Gaz kaçağı olması halinde uygulanacak olağanüstü eylem planı hazır bulundurulmalı.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Belli aralıklarla tatbikat uygulanmalıdır.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Etilen oksit odasındaki gaz seviyesi için sesli alarm sistemi kullanılmalıdır.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seviyesi emniyet sınırı üzerine çıktığında sesli alarm veren tespitli sistemlerin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yanında el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dedektörü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kullanılmalıdır.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Olağanüstü durumlardan sonra tekrar birime dönülebilmesi için mevcut gaz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tespiti sağlayacak el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dedektörleri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kullanılabilir konumda olmalıdır.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442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349336" y="1718269"/>
            <a:ext cx="3097036" cy="3755461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BUGÜN NELER ÖĞRENDİK?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47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013329" y="1813994"/>
            <a:ext cx="5084505" cy="3907875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548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SORU VE ÖNERİLER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87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Etilen oksit sterilizasyonu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34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1" y="38535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ÖNERİLEN HAFTALIK ÇALIŞMALAR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804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Zenciroğlu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(2024). Dezenfeksiyon Antisepsi Sterilizasyon Rehberi.</a:t>
            </a:r>
          </a:p>
          <a:p>
            <a:pPr marL="0" indent="0" algn="just">
              <a:buNone/>
            </a:pP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Altındiş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(2021). Hemşireler için Mikrobiyoloji. Ankara: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NobelTıp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Kitabevi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1" y="28310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KAYNAKÇA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135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420269"/>
            <a:ext cx="10533185" cy="4770194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malzemenin depolanması ve korunması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BİR SONRAKİ DERS HAKKINDA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707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10710042" cy="53918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tr-TR" dirty="0" smtClean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r>
              <a:rPr lang="tr-TR" dirty="0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Dr. </a:t>
            </a:r>
            <a:r>
              <a:rPr lang="tr-TR" dirty="0" err="1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Öğr</a:t>
            </a:r>
            <a:r>
              <a:rPr lang="tr-TR" dirty="0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. Üyesi Sevinç Baba’nın Sterilizasyon ve Cerrahi Asepsi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/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/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Dersine ait sunumlar </a:t>
            </a:r>
            <a:r>
              <a:rPr lang="tr-TR" dirty="0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özel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olduğu için burada yer alan  metin ve görsellerin,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 öğretim üyesinden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izin alınmaksızın sosyal medya ya da farklı alanlarda kullanılması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i="1" u="sng" dirty="0">
                <a:solidFill>
                  <a:srgbClr val="FF0000"/>
                </a:solidFill>
                <a:ea typeface="Times New Roman"/>
                <a:cs typeface="Times New Roman"/>
                <a:sym typeface="Times New Roman"/>
              </a:rPr>
              <a:t>6698 Sayılı Kanun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ile güvence altına alınan kişisel verilerin ve özel hayatın korunmasına yönelik düzenlemelere aykırıdır.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endParaRPr lang="tr-TR" sz="2400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038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6494080" cy="5391807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 smtClean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 smtClean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50000"/>
              </a:lnSpc>
            </a:pPr>
            <a:r>
              <a:rPr lang="tr-TR" dirty="0"/>
              <a:t>“Benim Türk milletine, Türk cemiyetine, Türklüğün istikbaline ait ödevlerim bitmemiştir, siz onları tamamlayacaksınız. Siz de, sizden sonrakilere benim sözümü tekrar ediniz.”</a:t>
            </a:r>
            <a:endParaRPr lang="tr-TR" dirty="0"/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b="1" dirty="0">
                <a:solidFill>
                  <a:srgbClr val="172652"/>
                </a:solidFill>
                <a:ea typeface="Times New Roman"/>
                <a:cs typeface="Times New Roman"/>
                <a:sym typeface="Times New Roman"/>
              </a:rPr>
              <a:t>                              Mustafa Kemal ATATÜRK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 smtClean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323;g2ea15ffc163_0_229" descr="kişi, şahıs, insan yüzü, giyim, askeri üniforma içeren bir resim&#10;&#10;Açıklama otomatik olarak oluşturuldu"/>
          <p:cNvPicPr preferRelativeResize="0"/>
          <p:nvPr/>
        </p:nvPicPr>
        <p:blipFill rotWithShape="1">
          <a:blip r:embed="rId3">
            <a:alphaModFix/>
          </a:blip>
          <a:srcRect l="16533"/>
          <a:stretch/>
        </p:blipFill>
        <p:spPr>
          <a:xfrm>
            <a:off x="8421447" y="1542485"/>
            <a:ext cx="3570201" cy="462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193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9254" y="365125"/>
            <a:ext cx="1761392" cy="1039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013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3032</TotalTime>
  <Words>2167</Words>
  <Application>Microsoft Office PowerPoint</Application>
  <PresentationFormat>Geniş ekran</PresentationFormat>
  <Paragraphs>236</Paragraphs>
  <Slides>39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Segoe UI Emoji</vt:lpstr>
      <vt:lpstr>Times New Roman</vt:lpstr>
      <vt:lpstr>Wingdings</vt:lpstr>
      <vt:lpstr>Office Teması</vt:lpstr>
      <vt:lpstr>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kaydemir</dc:creator>
  <cp:lastModifiedBy>Sevinç BABA</cp:lastModifiedBy>
  <cp:revision>234</cp:revision>
  <dcterms:created xsi:type="dcterms:W3CDTF">2024-07-10T08:02:52Z</dcterms:created>
  <dcterms:modified xsi:type="dcterms:W3CDTF">2024-12-23T13:24:43Z</dcterms:modified>
</cp:coreProperties>
</file>