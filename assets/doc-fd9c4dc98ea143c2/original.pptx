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3"/>
  </p:notesMasterIdLst>
  <p:sldIdLst>
    <p:sldId id="256" r:id="rId2"/>
    <p:sldId id="259" r:id="rId3"/>
    <p:sldId id="271" r:id="rId4"/>
    <p:sldId id="273" r:id="rId5"/>
    <p:sldId id="272" r:id="rId6"/>
    <p:sldId id="274" r:id="rId7"/>
    <p:sldId id="310" r:id="rId8"/>
    <p:sldId id="320" r:id="rId9"/>
    <p:sldId id="321" r:id="rId10"/>
    <p:sldId id="311" r:id="rId11"/>
    <p:sldId id="322" r:id="rId12"/>
    <p:sldId id="323" r:id="rId13"/>
    <p:sldId id="291" r:id="rId14"/>
    <p:sldId id="275" r:id="rId15"/>
    <p:sldId id="296" r:id="rId16"/>
    <p:sldId id="324" r:id="rId17"/>
    <p:sldId id="325" r:id="rId18"/>
    <p:sldId id="297" r:id="rId19"/>
    <p:sldId id="326" r:id="rId20"/>
    <p:sldId id="327" r:id="rId21"/>
    <p:sldId id="328" r:id="rId22"/>
    <p:sldId id="329" r:id="rId23"/>
    <p:sldId id="330" r:id="rId24"/>
    <p:sldId id="331" r:id="rId25"/>
    <p:sldId id="332" r:id="rId26"/>
    <p:sldId id="299" r:id="rId27"/>
    <p:sldId id="301" r:id="rId28"/>
    <p:sldId id="312" r:id="rId29"/>
    <p:sldId id="333" r:id="rId30"/>
    <p:sldId id="334" r:id="rId31"/>
    <p:sldId id="335" r:id="rId32"/>
    <p:sldId id="336" r:id="rId33"/>
    <p:sldId id="337" r:id="rId34"/>
    <p:sldId id="338" r:id="rId35"/>
    <p:sldId id="339" r:id="rId36"/>
    <p:sldId id="341" r:id="rId37"/>
    <p:sldId id="340" r:id="rId38"/>
    <p:sldId id="342" r:id="rId39"/>
    <p:sldId id="343" r:id="rId40"/>
    <p:sldId id="344" r:id="rId41"/>
    <p:sldId id="318" r:id="rId42"/>
    <p:sldId id="345" r:id="rId43"/>
    <p:sldId id="319" r:id="rId44"/>
    <p:sldId id="278" r:id="rId45"/>
    <p:sldId id="279" r:id="rId46"/>
    <p:sldId id="280" r:id="rId47"/>
    <p:sldId id="281" r:id="rId48"/>
    <p:sldId id="284" r:id="rId49"/>
    <p:sldId id="282" r:id="rId50"/>
    <p:sldId id="283" r:id="rId51"/>
    <p:sldId id="257" r:id="rId5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26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37"/>
    <p:restoredTop sz="94637"/>
  </p:normalViewPr>
  <p:slideViewPr>
    <p:cSldViewPr snapToGrid="0">
      <p:cViewPr varScale="1">
        <p:scale>
          <a:sx n="108" d="100"/>
          <a:sy n="108" d="100"/>
        </p:scale>
        <p:origin x="6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6B2101-028C-4C7C-BD50-C9732890444B}" type="datetimeFigureOut">
              <a:rPr lang="en-US" smtClean="0"/>
              <a:t>10/1/25</a:t>
            </a:fld>
            <a:endParaRPr lang="en-US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13FAA-B49B-438C-9DA4-0021B6332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19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3907-0054-4CE1-BA2E-6D8CEC36E5B7}" type="datetime1">
              <a:rPr lang="tr-TR" smtClean="0"/>
              <a:t>1.10.2025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87861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316E5-22D1-424E-9E03-7FE4FCF4E762}" type="datetime1">
              <a:rPr lang="tr-TR" smtClean="0"/>
              <a:t>1.10.2025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9549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3F9A-8D36-43A8-ABA2-4C9C9E5C79EF}" type="datetime1">
              <a:rPr lang="tr-TR" smtClean="0"/>
              <a:t>1.10.2025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98613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283676" y="320675"/>
            <a:ext cx="10556631" cy="1325563"/>
          </a:xfrm>
        </p:spPr>
        <p:txBody>
          <a:bodyPr>
            <a:normAutofit/>
          </a:bodyPr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tr-TR" dirty="0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1283676" y="1646238"/>
            <a:ext cx="10556631" cy="435133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tr-TR" dirty="0"/>
              <a:t>Asıl metin stillerini düzenle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>
          <a:xfrm>
            <a:off x="1295400" y="6356349"/>
            <a:ext cx="2743200" cy="365125"/>
          </a:xfrm>
        </p:spPr>
        <p:txBody>
          <a:bodyPr/>
          <a:lstStyle/>
          <a:p>
            <a:fld id="{C46BFB63-2AB2-4BA2-8CD9-A68D09A9B742}" type="datetime1">
              <a:rPr lang="tr-TR" smtClean="0"/>
              <a:t>1.10.2025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920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46E8C-C65E-4F63-AEE4-FAD8C582111C}" type="datetime1">
              <a:rPr lang="tr-TR" smtClean="0"/>
              <a:t>1.10.2025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79952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04718-B27C-45EE-A76D-390338E2DE09}" type="datetime1">
              <a:rPr lang="tr-TR" smtClean="0"/>
              <a:t>1.10.2025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85030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10E79-79FB-4C73-A853-D9D670F075EE}" type="datetime1">
              <a:rPr lang="tr-TR" smtClean="0"/>
              <a:t>1.10.2025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19498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B1A0-33BC-4E80-A17D-D3AE4CBABFEA}" type="datetime1">
              <a:rPr lang="tr-TR" smtClean="0"/>
              <a:t>1.10.2025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18114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95EE4-3681-4524-B732-0D6448CCBE17}" type="datetime1">
              <a:rPr lang="tr-TR" smtClean="0"/>
              <a:t>1.10.2025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33626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D96BB-783D-4D3E-99CD-AC33CF6608D3}" type="datetime1">
              <a:rPr lang="tr-TR" smtClean="0"/>
              <a:t>1.10.2025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00389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9E9FA-750F-4658-A36B-A439B400F2F3}" type="datetime1">
              <a:rPr lang="tr-TR" smtClean="0"/>
              <a:t>1.10.2025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9834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BD6CC-84C3-4375-AADE-3F6A6FFABFD1}" type="datetime1">
              <a:rPr lang="tr-TR" smtClean="0"/>
              <a:t>1.10.2025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28691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youtu.be/WpZqLbWL0c0?si=T6qMrCSeRz2JOMyO" TargetMode="Externa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youtu.be/DhlIQskLhKU?si=2mTqPXC8m2Hqof0T" TargetMode="Externa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tr-TR" dirty="0"/>
            </a:br>
            <a:br>
              <a:rPr lang="tr-TR" dirty="0"/>
            </a:b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 dirty="0"/>
          </a:p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31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7" name="Metin kutusu 6"/>
          <p:cNvSpPr txBox="1"/>
          <p:nvPr/>
        </p:nvSpPr>
        <p:spPr>
          <a:xfrm>
            <a:off x="1188084" y="1296670"/>
            <a:ext cx="1016571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Bölümün Adı			: </a:t>
            </a:r>
            <a:r>
              <a:rPr lang="tr-TR" sz="2400" b="1" dirty="0" err="1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Perfüzyon</a:t>
            </a:r>
            <a:endParaRPr lang="tr-TR" sz="2400" b="1" dirty="0">
              <a:solidFill>
                <a:srgbClr val="2E324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Dersi Kodu ve Adı		: PER247 Sterilizasyon ve Cerrahi Asepsi</a:t>
            </a: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Dersin Haftası		: 2</a:t>
            </a: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Dersin Günü ve Saati	: Pazartesi 15.00</a:t>
            </a: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 Kredi/AKTS Bilgileri	: 3/6</a:t>
            </a: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Sınav Şekli/ Not Dağılımı	: Test</a:t>
            </a: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Dersin </a:t>
            </a:r>
            <a:r>
              <a:rPr lang="tr-TR" sz="2400" b="1" dirty="0" err="1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Öğr</a:t>
            </a:r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Elemanı		: Prof. Dr. Kıvanç Derya Peker</a:t>
            </a: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E-posta ve Telefon		: sbaba@gelisim.edu.tr</a:t>
            </a:r>
          </a:p>
          <a:p>
            <a:r>
              <a:rPr lang="tr-TR" sz="2400" b="1" dirty="0" err="1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Öğr</a:t>
            </a:r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Elemanı Odası		: B Blok 015</a:t>
            </a: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Danışmanlık Bilgileri	: Pazartesi 14.00-15.00</a:t>
            </a: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GBS Linki			: https://gbs.gelisim.edu.tr/ders-detay-17-322-11089-1</a:t>
            </a: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ALMS Linki			: https://lms.gelisim.edu.tr/almsp/u/Home/Index</a:t>
            </a: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AVESİS Linki		: https://avesis.gelisim.edu.tr/sbaba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778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İçerik Yer Tutucusu 8"/>
          <p:cNvSpPr>
            <a:spLocks noGrp="1"/>
          </p:cNvSpPr>
          <p:nvPr>
            <p:ph sz="half" idx="2"/>
          </p:nvPr>
        </p:nvSpPr>
        <p:spPr>
          <a:xfrm>
            <a:off x="1327618" y="1573967"/>
            <a:ext cx="5073182" cy="4615696"/>
          </a:xfrm>
        </p:spPr>
        <p:txBody>
          <a:bodyPr>
            <a:normAutofit/>
          </a:bodyPr>
          <a:lstStyle/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hakkında genel bilgi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Asepsi-antisepsi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ünitesinin özellikleri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</a:t>
            </a:r>
          </a:p>
          <a:p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Sterilizatörler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Malzeme yıkama ve hazırlama üniteleri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Sterilizasyonda güvenlik testleri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4"/>
          </p:nvPr>
        </p:nvSpPr>
        <p:spPr>
          <a:xfrm>
            <a:off x="6726836" y="1573967"/>
            <a:ext cx="5183188" cy="4615696"/>
          </a:xfrm>
        </p:spPr>
        <p:txBody>
          <a:bodyPr>
            <a:normAutofit/>
          </a:bodyPr>
          <a:lstStyle/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Setlerin kodlanması ve dokümantasyonu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Cerrahi malzemenin hazırlanması ve sterilizasyonu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Plastik malzemenin sterilizasyonu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 malzemenin depolanması ve korunması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Genel Tekrar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Genel Tekrar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408024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14 HAFTALIK DERS KONULARI 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58850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Asepsi ve antisepsi kavramlarını açıklar.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</a:t>
            </a:fld>
            <a:endParaRPr lang="tr-TR"/>
          </a:p>
        </p:txBody>
      </p:sp>
      <p:sp>
        <p:nvSpPr>
          <p:cNvPr id="9" name="Dikdörtgen 8"/>
          <p:cNvSpPr/>
          <p:nvPr/>
        </p:nvSpPr>
        <p:spPr>
          <a:xfrm>
            <a:off x="0" y="280994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HAFTALIK ÖĞRENİM KAZANIMLARI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28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5</a:t>
            </a:fld>
            <a:endParaRPr lang="tr-TR"/>
          </a:p>
        </p:txBody>
      </p:sp>
      <p:sp>
        <p:nvSpPr>
          <p:cNvPr id="9" name="Dikdörtgen 8"/>
          <p:cNvSpPr/>
          <p:nvPr/>
        </p:nvSpPr>
        <p:spPr>
          <a:xfrm>
            <a:off x="0" y="373985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ÖNCEKİ DERS HAKKINDA 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4" name="Metin kutusu 3"/>
          <p:cNvSpPr txBox="1"/>
          <p:nvPr/>
        </p:nvSpPr>
        <p:spPr>
          <a:xfrm>
            <a:off x="1930400" y="1533237"/>
            <a:ext cx="2877711" cy="2795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Times New Roman" panose="02020603050405020304" pitchFamily="18" charset="0"/>
              <a:buChar char="√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</a:t>
            </a:r>
          </a:p>
          <a:p>
            <a:pPr marL="342900" indent="-342900">
              <a:lnSpc>
                <a:spcPct val="150000"/>
              </a:lnSpc>
              <a:buFont typeface="Times New Roman" panose="02020603050405020304" pitchFamily="18" charset="0"/>
              <a:buChar char="√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</a:t>
            </a:r>
          </a:p>
          <a:p>
            <a:pPr marL="342900" indent="-342900">
              <a:lnSpc>
                <a:spcPct val="150000"/>
              </a:lnSpc>
              <a:buFont typeface="Times New Roman" panose="02020603050405020304" pitchFamily="18" charset="0"/>
              <a:buChar char="√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Sporlu bakteriler</a:t>
            </a:r>
          </a:p>
          <a:p>
            <a:pPr marL="342900" indent="-342900">
              <a:lnSpc>
                <a:spcPct val="150000"/>
              </a:lnSpc>
              <a:buFont typeface="Times New Roman" panose="02020603050405020304" pitchFamily="18" charset="0"/>
              <a:buChar char="√"/>
            </a:pP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Dekontaminasyon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Times New Roman" panose="02020603050405020304" pitchFamily="18" charset="0"/>
              <a:buChar char="√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Biyolojik indikatör</a:t>
            </a:r>
          </a:p>
        </p:txBody>
      </p:sp>
    </p:spTree>
    <p:extLst>
      <p:ext uri="{BB962C8B-B14F-4D97-AF65-F5344CB8AC3E}">
        <p14:creationId xmlns:p14="http://schemas.microsoft.com/office/powerpoint/2010/main" val="1042899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6869723" y="2479964"/>
            <a:ext cx="4953000" cy="288174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tr-T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135;g2ea15ffc163_0_29"/>
          <p:cNvPicPr preferRelativeResize="0"/>
          <p:nvPr/>
        </p:nvPicPr>
        <p:blipFill rotWithShape="1">
          <a:blip r:embed="rId3">
            <a:alphaModFix/>
          </a:blip>
          <a:srcRect l="26333" t="23998" r="20703" b="21593"/>
          <a:stretch/>
        </p:blipFill>
        <p:spPr>
          <a:xfrm>
            <a:off x="1593628" y="2622193"/>
            <a:ext cx="1731891" cy="17791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34;g2ea15ffc163_0_29"/>
          <p:cNvSpPr txBox="1"/>
          <p:nvPr/>
        </p:nvSpPr>
        <p:spPr>
          <a:xfrm>
            <a:off x="3233735" y="2622193"/>
            <a:ext cx="5856900" cy="3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tr-T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tr-TR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.00-15.50/ 1. DERS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tr-TR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16.00-16.50/ 2. DERS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tr-TR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17.00-17.45/ 3. DERS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6</a:t>
            </a:fld>
            <a:endParaRPr lang="tr-TR"/>
          </a:p>
        </p:txBody>
      </p:sp>
      <p:sp>
        <p:nvSpPr>
          <p:cNvPr id="10" name="Dikdörtgen 9"/>
          <p:cNvSpPr/>
          <p:nvPr/>
        </p:nvSpPr>
        <p:spPr>
          <a:xfrm>
            <a:off x="66675" y="384093"/>
            <a:ext cx="121253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172652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GÜNLÜK AKIŞ</a:t>
            </a:r>
          </a:p>
        </p:txBody>
      </p:sp>
    </p:spTree>
    <p:extLst>
      <p:ext uri="{BB962C8B-B14F-4D97-AF65-F5344CB8AC3E}">
        <p14:creationId xmlns:p14="http://schemas.microsoft.com/office/powerpoint/2010/main" val="2740985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tr-TR" b="1" dirty="0"/>
              <a:t>Asepsi</a:t>
            </a:r>
          </a:p>
          <a:p>
            <a:r>
              <a:rPr lang="tr-TR" b="1" dirty="0"/>
              <a:t>Tanım:</a:t>
            </a:r>
            <a:r>
              <a:rPr lang="tr-TR" dirty="0"/>
              <a:t> Hastalık yapan mikroorganizmaların ortamda bulunmaması, yani enfeksiyon etkenlerinden arındırılmış koşulların sağlanmasıdır.</a:t>
            </a:r>
          </a:p>
          <a:p>
            <a:r>
              <a:rPr lang="tr-TR" b="1" dirty="0"/>
              <a:t>Amaç:</a:t>
            </a:r>
            <a:r>
              <a:rPr lang="tr-TR" dirty="0"/>
              <a:t> Enfeksiyonun hiç ortaya çıkmamasını sağlamak.</a:t>
            </a:r>
          </a:p>
          <a:p>
            <a:r>
              <a:rPr lang="tr-TR" b="1" dirty="0"/>
              <a:t>Uygulama Alanları:</a:t>
            </a:r>
            <a:endParaRPr lang="tr-TR" dirty="0"/>
          </a:p>
          <a:p>
            <a:pPr lvl="1"/>
            <a:r>
              <a:rPr lang="tr-TR" dirty="0"/>
              <a:t>Ameliyathaneler</a:t>
            </a:r>
          </a:p>
          <a:p>
            <a:pPr lvl="1"/>
            <a:r>
              <a:rPr lang="tr-TR" dirty="0"/>
              <a:t>Steril alanlar</a:t>
            </a:r>
          </a:p>
          <a:p>
            <a:pPr lvl="1"/>
            <a:r>
              <a:rPr lang="tr-TR" dirty="0"/>
              <a:t>Cerrahi aletler ve implantlar</a:t>
            </a: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7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ASEPSİ-ANTİSEPSİ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70903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01994-33BD-AC46-8626-E8A4532B9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BEBEF65B-F672-2941-C17D-8790BE60E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A38FB18-CE1A-1934-16E5-9594578557F0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r>
              <a:rPr lang="tr-TR" b="1" dirty="0"/>
              <a:t>Antisepsi</a:t>
            </a:r>
          </a:p>
          <a:p>
            <a:r>
              <a:rPr lang="tr-TR" b="1" dirty="0"/>
              <a:t>Tanım:</a:t>
            </a:r>
            <a:r>
              <a:rPr lang="tr-TR" dirty="0"/>
              <a:t> Cilt ve canlı dokular üzerindeki mikroorganizmaları azaltma veya ortadan kaldırma işlemidir.</a:t>
            </a:r>
          </a:p>
          <a:p>
            <a:r>
              <a:rPr lang="tr-TR" b="1" dirty="0"/>
              <a:t>Amaç:</a:t>
            </a:r>
            <a:r>
              <a:rPr lang="tr-TR" dirty="0"/>
              <a:t> Tüm mikroorganizmaları öldürmek değil, </a:t>
            </a:r>
            <a:r>
              <a:rPr lang="tr-TR" b="1" dirty="0"/>
              <a:t>enfeksiyonu engellemek</a:t>
            </a:r>
            <a:r>
              <a:rPr lang="tr-TR" dirty="0"/>
              <a:t>.</a:t>
            </a:r>
          </a:p>
          <a:p>
            <a:r>
              <a:rPr lang="tr-TR" b="1" dirty="0"/>
              <a:t>Kullanım Alanları:</a:t>
            </a:r>
            <a:endParaRPr lang="tr-TR" dirty="0"/>
          </a:p>
          <a:p>
            <a:pPr lvl="1"/>
            <a:r>
              <a:rPr lang="tr-TR" dirty="0"/>
              <a:t>Ameliyat öncesi cilt hazırlığı</a:t>
            </a:r>
          </a:p>
          <a:p>
            <a:pPr lvl="1"/>
            <a:r>
              <a:rPr lang="tr-TR" dirty="0"/>
              <a:t>Yaraların temizliği</a:t>
            </a:r>
          </a:p>
          <a:p>
            <a:pPr lvl="1"/>
            <a:r>
              <a:rPr lang="tr-TR" dirty="0"/>
              <a:t>Kateter uygulamaları öncesi cilt antisepsisi</a:t>
            </a: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AF322BD8-A924-BD0F-868E-663A28E02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8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595EF71D-9106-F6D2-BC6C-4DF3796B3B8F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ASEPSİ-ANTİSEPSİ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0247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7D9B5-136F-05D2-9669-A2FBBC2A9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5E1BBA0B-BF34-1475-8541-5DE8590F9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9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3BE72C77-FF6D-15A6-89C6-2E0FAC78E15E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ASEPSİ-ANTİSEPSİ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aphicFrame>
        <p:nvGraphicFramePr>
          <p:cNvPr id="9" name="Tablo 8">
            <a:extLst>
              <a:ext uri="{FF2B5EF4-FFF2-40B4-BE49-F238E27FC236}">
                <a16:creationId xmlns:a16="http://schemas.microsoft.com/office/drawing/2014/main" id="{9F958441-F122-0642-5DAA-A70FDEDDB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343875"/>
              </p:ext>
            </p:extLst>
          </p:nvPr>
        </p:nvGraphicFramePr>
        <p:xfrm>
          <a:off x="1289462" y="1868961"/>
          <a:ext cx="10562112" cy="2762415"/>
        </p:xfrm>
        <a:graphic>
          <a:graphicData uri="http://schemas.openxmlformats.org/drawingml/2006/table">
            <a:tbl>
              <a:tblPr/>
              <a:tblGrid>
                <a:gridCol w="1881250">
                  <a:extLst>
                    <a:ext uri="{9D8B030D-6E8A-4147-A177-3AD203B41FA5}">
                      <a16:colId xmlns:a16="http://schemas.microsoft.com/office/drawing/2014/main" val="3885157090"/>
                    </a:ext>
                  </a:extLst>
                </a:gridCol>
                <a:gridCol w="3610098">
                  <a:extLst>
                    <a:ext uri="{9D8B030D-6E8A-4147-A177-3AD203B41FA5}">
                      <a16:colId xmlns:a16="http://schemas.microsoft.com/office/drawing/2014/main" val="597117529"/>
                    </a:ext>
                  </a:extLst>
                </a:gridCol>
                <a:gridCol w="5070764">
                  <a:extLst>
                    <a:ext uri="{9D8B030D-6E8A-4147-A177-3AD203B41FA5}">
                      <a16:colId xmlns:a16="http://schemas.microsoft.com/office/drawing/2014/main" val="1464171644"/>
                    </a:ext>
                  </a:extLst>
                </a:gridCol>
              </a:tblGrid>
              <a:tr h="4804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Özellik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Asepsi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Antisepsi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022256"/>
                  </a:ext>
                </a:extLst>
              </a:tr>
              <a:tr h="840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/>
                        <a:t>Tanım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 err="1"/>
                        <a:t>Mikroorganizmasız</a:t>
                      </a:r>
                      <a:r>
                        <a:rPr lang="tr-TR" dirty="0"/>
                        <a:t> ortam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Cilt/doku üzerindeki mikroorganizmaların azaltılması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8322198"/>
                  </a:ext>
                </a:extLst>
              </a:tr>
              <a:tr h="4804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/>
                        <a:t>Amaç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Enfeksiyonun hiç oluşmaması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Enfeksiyon riskinin azaltılması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212299"/>
                  </a:ext>
                </a:extLst>
              </a:tr>
              <a:tr h="4804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/>
                        <a:t>Uygulama Yeri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Ortam, alet, malzeme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Canlı doku (cilt, mukoza)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128495"/>
                  </a:ext>
                </a:extLst>
              </a:tr>
              <a:tr h="4804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/>
                        <a:t>Örnek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Steril ameliyathane, steril alet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 err="1"/>
                        <a:t>Povidon</a:t>
                      </a:r>
                      <a:r>
                        <a:rPr lang="tr-TR" dirty="0"/>
                        <a:t>-iyot, klorheksidin ile cilt temizliği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30482"/>
                  </a:ext>
                </a:extLst>
              </a:tr>
            </a:tbl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4B3B5C23-46A7-791D-16B4-C47882F14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9462" y="1130297"/>
            <a:ext cx="4644413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Asepsi ve Antisepsi Arasındaki Fark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643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10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1289538" y="1246797"/>
            <a:ext cx="1025327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/>
              <a:t>Tıbbi Asepsi</a:t>
            </a:r>
          </a:p>
          <a:p>
            <a:r>
              <a:rPr lang="tr-TR" sz="2400" b="1" dirty="0"/>
              <a:t>Tanım:</a:t>
            </a:r>
            <a:r>
              <a:rPr lang="tr-TR" sz="2400" dirty="0"/>
              <a:t> Mikroorganizmaların bireyden bireye veya objeden objeye yayılmasını önlemek ve sayısını azaltmak için yapılan uygulamalardır.</a:t>
            </a:r>
          </a:p>
          <a:p>
            <a:r>
              <a:rPr lang="tr-TR" sz="2400" b="1" dirty="0"/>
              <a:t>Örnekler:</a:t>
            </a:r>
            <a:endParaRPr lang="tr-TR" sz="2400" dirty="0"/>
          </a:p>
          <a:p>
            <a:pPr lvl="1"/>
            <a:r>
              <a:rPr lang="tr-TR" sz="2400" dirty="0"/>
              <a:t>El hijyeni</a:t>
            </a:r>
          </a:p>
          <a:p>
            <a:pPr lvl="1"/>
            <a:r>
              <a:rPr lang="tr-TR" sz="2400" dirty="0"/>
              <a:t>Eldiven kullanımı</a:t>
            </a:r>
          </a:p>
          <a:p>
            <a:pPr lvl="1"/>
            <a:r>
              <a:rPr lang="tr-TR" sz="2400" dirty="0"/>
              <a:t>Atıkların doğru şekilde uzaklaştırılması</a:t>
            </a:r>
          </a:p>
          <a:p>
            <a:pPr lvl="1"/>
            <a:r>
              <a:rPr lang="tr-TR" sz="2400" dirty="0"/>
              <a:t>Temizlik ve dezenfeksiyon uygulamaları</a:t>
            </a:r>
          </a:p>
        </p:txBody>
      </p:sp>
    </p:spTree>
    <p:extLst>
      <p:ext uri="{BB962C8B-B14F-4D97-AF65-F5344CB8AC3E}">
        <p14:creationId xmlns:p14="http://schemas.microsoft.com/office/powerpoint/2010/main" val="576736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5DD64-BA5C-BA5A-84D2-9A743857C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98F69C9C-F1BB-B5FB-1027-5FA9FC676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1E2E3093-4742-0BA7-43EB-914ABEAC9866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964B3ADA-08BD-5C5D-58F4-3FE2363E8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11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6D12DCE4-9C4E-39F3-DDC2-32DDA90192D6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24706E1A-C72B-DBD9-D5A2-1D36A9CF1F95}"/>
              </a:ext>
            </a:extLst>
          </p:cNvPr>
          <p:cNvSpPr/>
          <p:nvPr/>
        </p:nvSpPr>
        <p:spPr>
          <a:xfrm>
            <a:off x="1448790" y="1453359"/>
            <a:ext cx="967179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/>
              <a:t>Cerrahi Asepsi</a:t>
            </a:r>
          </a:p>
          <a:p>
            <a:r>
              <a:rPr lang="tr-TR" sz="2400" b="1" dirty="0"/>
              <a:t>Tanım:</a:t>
            </a:r>
            <a:r>
              <a:rPr lang="tr-TR" sz="2400" dirty="0"/>
              <a:t> Uygulamanın yapılacağı ortamın, çevresinin ve kullanılan araç-gerecin tüm mikroorganizmalardan tamamen arındırılmasıdır.</a:t>
            </a:r>
          </a:p>
          <a:p>
            <a:r>
              <a:rPr lang="tr-TR" sz="2400" b="1" dirty="0"/>
              <a:t>Amaç:</a:t>
            </a:r>
            <a:r>
              <a:rPr lang="tr-TR" sz="2400" dirty="0"/>
              <a:t> Steril bir alan oluşturarak cerrahi işlemler sırasında enfeksiyon riskini sıfıra indirmek.</a:t>
            </a:r>
          </a:p>
          <a:p>
            <a:r>
              <a:rPr lang="tr-TR" sz="2400" b="1" dirty="0"/>
              <a:t>Örnekler:</a:t>
            </a:r>
            <a:endParaRPr lang="tr-TR" sz="2400" dirty="0"/>
          </a:p>
          <a:p>
            <a:pPr lvl="1"/>
            <a:r>
              <a:rPr lang="tr-TR" sz="2400" dirty="0"/>
              <a:t>Ameliyathane sterilizasyonu</a:t>
            </a:r>
          </a:p>
          <a:p>
            <a:pPr lvl="1"/>
            <a:r>
              <a:rPr lang="tr-TR" sz="2400" dirty="0"/>
              <a:t>Cerrahi aletlerin steril edilmesi</a:t>
            </a:r>
          </a:p>
          <a:p>
            <a:pPr lvl="1"/>
            <a:r>
              <a:rPr lang="tr-TR" sz="2400" dirty="0"/>
              <a:t>Steril eldiven ve önlük kullanımı</a:t>
            </a:r>
          </a:p>
          <a:p>
            <a:pPr lvl="1"/>
            <a:r>
              <a:rPr lang="tr-TR" sz="2400" dirty="0"/>
              <a:t>Steril saha kurulması</a:t>
            </a:r>
          </a:p>
        </p:txBody>
      </p:sp>
    </p:spTree>
    <p:extLst>
      <p:ext uri="{BB962C8B-B14F-4D97-AF65-F5344CB8AC3E}">
        <p14:creationId xmlns:p14="http://schemas.microsoft.com/office/powerpoint/2010/main" val="3872378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3C49F-4B86-A316-B2E5-3C5C42BED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0C894C8C-8B82-C18F-4625-6CEEF7A8F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14726A59-83DE-3373-FC07-BD571B66080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85A327B1-EBC0-35EB-DCDC-CF3F41F25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12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252809BE-34AE-F2AE-740A-B28542FA2BD7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aphicFrame>
        <p:nvGraphicFramePr>
          <p:cNvPr id="3" name="Tablo 2">
            <a:extLst>
              <a:ext uri="{FF2B5EF4-FFF2-40B4-BE49-F238E27FC236}">
                <a16:creationId xmlns:a16="http://schemas.microsoft.com/office/drawing/2014/main" id="{A464AAFD-9002-2CFE-BD60-6280BA439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771768"/>
              </p:ext>
            </p:extLst>
          </p:nvPr>
        </p:nvGraphicFramePr>
        <p:xfrm>
          <a:off x="1307123" y="2095834"/>
          <a:ext cx="10515600" cy="3017520"/>
        </p:xfrm>
        <a:graphic>
          <a:graphicData uri="http://schemas.openxmlformats.org/drawingml/2006/table">
            <a:tbl>
              <a:tblPr/>
              <a:tblGrid>
                <a:gridCol w="1673583">
                  <a:extLst>
                    <a:ext uri="{9D8B030D-6E8A-4147-A177-3AD203B41FA5}">
                      <a16:colId xmlns:a16="http://schemas.microsoft.com/office/drawing/2014/main" val="3650696608"/>
                    </a:ext>
                  </a:extLst>
                </a:gridCol>
                <a:gridCol w="3574473">
                  <a:extLst>
                    <a:ext uri="{9D8B030D-6E8A-4147-A177-3AD203B41FA5}">
                      <a16:colId xmlns:a16="http://schemas.microsoft.com/office/drawing/2014/main" val="2131093893"/>
                    </a:ext>
                  </a:extLst>
                </a:gridCol>
                <a:gridCol w="2838203">
                  <a:extLst>
                    <a:ext uri="{9D8B030D-6E8A-4147-A177-3AD203B41FA5}">
                      <a16:colId xmlns:a16="http://schemas.microsoft.com/office/drawing/2014/main" val="530345764"/>
                    </a:ext>
                  </a:extLst>
                </a:gridCol>
                <a:gridCol w="2429341">
                  <a:extLst>
                    <a:ext uri="{9D8B030D-6E8A-4147-A177-3AD203B41FA5}">
                      <a16:colId xmlns:a16="http://schemas.microsoft.com/office/drawing/2014/main" val="10999966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2400" b="1"/>
                        <a:t>Kavram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2400" b="1"/>
                        <a:t>Tanım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2400" b="1"/>
                        <a:t>Amaç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2400" b="1" dirty="0"/>
                        <a:t>Örnek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562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/>
                        <a:t>Asepsi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Mikroorganizmasız ortam sağlamak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Enfeksiyonun hiç oluşmaması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Steril ameliyathane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678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 dirty="0"/>
                        <a:t>Antisepsi</a:t>
                      </a: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Cilt/doku üzerindeki mikroorganizmaları azaltmak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Enfeksiyonu önlemek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Ameliyat öncesi cilt temizliği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53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/>
                        <a:t>Tıbbi Asepsi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Mikroorganizmaların yayılımını önlemek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Sayıyı azaltmak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El hijyeni, dezenfeksiyon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5423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/>
                        <a:t>Cerrahi Asepsi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Ortamı ve malzemeyi tamamen mikroorganizmasız hale getirmek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Steril saha sağlamak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Ameliyat sırasında steril alan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6785950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A9C55493-75AA-561E-E483-11B71B433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9538" y="819411"/>
            <a:ext cx="289136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Karşılaştırma Tablosu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49693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24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13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2087418" y="1136073"/>
            <a:ext cx="9266382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b="1" dirty="0"/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Mikroorganizma öldürücü kimyasal maddelerin canlı dokular üzerinde kullanılanlarına antiseptik adı verilir. Günümüzde en sık kullanılan antiseptikler;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Alkoller, </a:t>
            </a:r>
          </a:p>
          <a:p>
            <a:pPr lvl="1"/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Klorheksidin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lvl="1"/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Hekzaklorofen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İyot,</a:t>
            </a:r>
          </a:p>
          <a:p>
            <a:pPr lvl="1"/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İyodoforlar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Dörtlü amonyum bileşikleri,</a:t>
            </a:r>
          </a:p>
          <a:p>
            <a:pPr lvl="1"/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Triklosan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lvl="1"/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Oktenidin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dihidroklorür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772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14</a:t>
            </a:fld>
            <a:endParaRPr lang="tr-TR"/>
          </a:p>
        </p:txBody>
      </p:sp>
      <p:sp>
        <p:nvSpPr>
          <p:cNvPr id="8" name="Metin kutusu 7"/>
          <p:cNvSpPr txBox="1"/>
          <p:nvPr/>
        </p:nvSpPr>
        <p:spPr>
          <a:xfrm>
            <a:off x="4378036" y="20781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  <p:sp>
        <p:nvSpPr>
          <p:cNvPr id="6" name="Metin kutusu 5"/>
          <p:cNvSpPr txBox="1"/>
          <p:nvPr/>
        </p:nvSpPr>
        <p:spPr>
          <a:xfrm>
            <a:off x="1580585" y="2102163"/>
            <a:ext cx="86267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Tıbbi Asepsi İlkeleri</a:t>
            </a:r>
          </a:p>
          <a:p>
            <a:r>
              <a:rPr lang="tr-TR" sz="2400" b="1" dirty="0"/>
              <a:t>1. Kurumsal Politika ve Hijyen</a:t>
            </a:r>
          </a:p>
          <a:p>
            <a:r>
              <a:rPr lang="tr-TR" sz="2400" dirty="0"/>
              <a:t>Sağlık kuruluşlarının ve </a:t>
            </a:r>
            <a:r>
              <a:rPr lang="tr-TR" sz="2400" b="1" dirty="0"/>
              <a:t>Enfeksiyon Kontrol Komitesi</a:t>
            </a:r>
            <a:r>
              <a:rPr lang="tr-TR" sz="2400" dirty="0"/>
              <a:t> tarafından belirlenen enfeksiyon kontrol politikalarına uyulması</a:t>
            </a:r>
          </a:p>
          <a:p>
            <a:r>
              <a:rPr lang="tr-TR" sz="2400" dirty="0"/>
              <a:t>Ellerin düzenli ve doğru şekilde yıkanması</a:t>
            </a:r>
          </a:p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866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r>
              <a:rPr lang="tr-TR" sz="2400" b="1" dirty="0"/>
              <a:t>2. Araç-Gereç ve Malzeme Yönetimi</a:t>
            </a:r>
          </a:p>
          <a:p>
            <a:r>
              <a:rPr lang="tr-TR" sz="2400" dirty="0"/>
              <a:t>Kirli araç-gereç ve hasta malzemelerinin </a:t>
            </a:r>
            <a:r>
              <a:rPr lang="tr-TR" sz="2400" b="1" dirty="0"/>
              <a:t>üniformaya temas ettirilmeden</a:t>
            </a:r>
            <a:r>
              <a:rPr lang="tr-TR" sz="2400" dirty="0"/>
              <a:t> kapalı kaplarda taşınması</a:t>
            </a:r>
          </a:p>
          <a:p>
            <a:r>
              <a:rPr lang="tr-TR" sz="2400" dirty="0"/>
              <a:t>Vücut akıntı ve atıkları ile bulaşmış gereç ve malzemelerin </a:t>
            </a:r>
            <a:r>
              <a:rPr lang="tr-TR" sz="2400" b="1" dirty="0"/>
              <a:t>ayrı torbalara</a:t>
            </a:r>
            <a:r>
              <a:rPr lang="tr-TR" sz="2400" dirty="0"/>
              <a:t> konularak taşınması</a:t>
            </a:r>
          </a:p>
          <a:p>
            <a:r>
              <a:rPr lang="tr-TR" sz="2400" dirty="0"/>
              <a:t>Temizlik yapılırken </a:t>
            </a:r>
            <a:r>
              <a:rPr lang="tr-TR" sz="2400" b="1" dirty="0"/>
              <a:t>az kirli alandan çok kirli alana</a:t>
            </a:r>
            <a:r>
              <a:rPr lang="tr-TR" sz="2400" dirty="0"/>
              <a:t> doğru ilerlenmesi</a:t>
            </a:r>
          </a:p>
          <a:p>
            <a:pPr marL="0" indent="0">
              <a:buNone/>
            </a:pPr>
            <a:endParaRPr lang="tr-TR" sz="2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15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8655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20279-25D1-F69E-9D94-EA9C12253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C7062F65-1FFC-EFA2-EC4A-1DF7C5BAA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5073C8D7-FC2F-B7F4-EE37-071DF271A25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3F32FECE-482F-3FF6-550A-E747AE2D6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16</a:t>
            </a:fld>
            <a:endParaRPr lang="tr-TR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FCD63982-BB61-A83E-14CA-29FC8BACF773}"/>
              </a:ext>
            </a:extLst>
          </p:cNvPr>
          <p:cNvSpPr txBox="1"/>
          <p:nvPr/>
        </p:nvSpPr>
        <p:spPr>
          <a:xfrm>
            <a:off x="4378036" y="20781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4FBBB5E8-9A40-96E9-9BC3-9C7FD082151C}"/>
              </a:ext>
            </a:extLst>
          </p:cNvPr>
          <p:cNvSpPr txBox="1"/>
          <p:nvPr/>
        </p:nvSpPr>
        <p:spPr>
          <a:xfrm>
            <a:off x="1509334" y="2167354"/>
            <a:ext cx="86267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3. Atık ve Pansuman Uygulamaları</a:t>
            </a:r>
          </a:p>
          <a:p>
            <a:r>
              <a:rPr lang="tr-TR" sz="2400" dirty="0"/>
              <a:t>Atıkların, sağlık kuruluşunun belirlediği </a:t>
            </a:r>
            <a:r>
              <a:rPr lang="tr-TR" sz="2400" b="1" dirty="0"/>
              <a:t>talimatlara uygun şekilde</a:t>
            </a:r>
            <a:r>
              <a:rPr lang="tr-TR" sz="2400" dirty="0"/>
              <a:t> yönetilmesi</a:t>
            </a:r>
          </a:p>
          <a:p>
            <a:r>
              <a:rPr lang="tr-TR" sz="2400" dirty="0"/>
              <a:t>Enfekte yaraların pansumanında kullanılan malzemelerin </a:t>
            </a:r>
            <a:r>
              <a:rPr lang="tr-TR" sz="2400" b="1" dirty="0"/>
              <a:t>steril ya da tek kullanımlık</a:t>
            </a:r>
            <a:r>
              <a:rPr lang="tr-TR" sz="2400" dirty="0"/>
              <a:t> olması</a:t>
            </a:r>
          </a:p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193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C9C80-0072-6728-2759-86D2BA146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9525ABE4-9CF7-4DCA-A21A-DCB7CE5BB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CBB094A-31CA-3A7B-79A0-6A9DB6D2AFF3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D807EE82-D678-B4CE-03C7-685917863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17</a:t>
            </a:fld>
            <a:endParaRPr lang="tr-TR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A6A56607-F55F-4B47-7A7B-133B79E1B929}"/>
              </a:ext>
            </a:extLst>
          </p:cNvPr>
          <p:cNvSpPr txBox="1"/>
          <p:nvPr/>
        </p:nvSpPr>
        <p:spPr>
          <a:xfrm>
            <a:off x="4378036" y="20781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F8D4CB08-84B7-16CD-7BAD-67B8473833B8}"/>
              </a:ext>
            </a:extLst>
          </p:cNvPr>
          <p:cNvSpPr txBox="1"/>
          <p:nvPr/>
        </p:nvSpPr>
        <p:spPr>
          <a:xfrm>
            <a:off x="1556834" y="2274838"/>
            <a:ext cx="86267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4. Bireysel Korunma ve İzolasyon</a:t>
            </a:r>
          </a:p>
          <a:p>
            <a:r>
              <a:rPr lang="tr-TR" sz="2400" dirty="0"/>
              <a:t>Mikroorganizmaların yayılmasını önlemek için </a:t>
            </a:r>
            <a:r>
              <a:rPr lang="tr-TR" sz="2400" b="1" dirty="0"/>
              <a:t>kişisel temizliğe özen gösterilmesi</a:t>
            </a:r>
            <a:endParaRPr lang="tr-TR" sz="2400" dirty="0"/>
          </a:p>
          <a:p>
            <a:r>
              <a:rPr lang="tr-TR" sz="2400" dirty="0"/>
              <a:t>İzolasyon gerektiren hastalarda bulaş yolunun ve </a:t>
            </a:r>
            <a:r>
              <a:rPr lang="tr-TR" sz="2400" b="1" dirty="0"/>
              <a:t>korunma yöntemlerinin bilinmesi ve uygulanması</a:t>
            </a:r>
            <a:endParaRPr lang="tr-TR" sz="2400" dirty="0"/>
          </a:p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35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18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2076493" y="1513429"/>
            <a:ext cx="895927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Tıbbi Asepsi İlkeleri</a:t>
            </a:r>
          </a:p>
          <a:p>
            <a:r>
              <a:rPr lang="tr-TR" sz="2400" b="1" dirty="0"/>
              <a:t>1. Kurumsal Politika ve Hijyen</a:t>
            </a:r>
          </a:p>
          <a:p>
            <a:r>
              <a:rPr lang="tr-TR" sz="2400" dirty="0"/>
              <a:t>Sağlık kuruluşlarının ve </a:t>
            </a:r>
            <a:r>
              <a:rPr lang="tr-TR" sz="2400" b="1" dirty="0"/>
              <a:t>Enfeksiyon Kontrol Komitesi</a:t>
            </a:r>
            <a:r>
              <a:rPr lang="tr-TR" sz="2400" dirty="0"/>
              <a:t> tarafından belirlenen enfeksiyon kontrol politikalarına uyulmalıdır.</a:t>
            </a:r>
          </a:p>
          <a:p>
            <a:r>
              <a:rPr lang="tr-TR" sz="2400" dirty="0"/>
              <a:t>Ellerin düzenli ve doğru şekilde yıkanması sağlanmalıdır.</a:t>
            </a:r>
          </a:p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1885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82E32-5033-A08A-5821-A549871B0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EA6B4508-A0E1-6506-15C6-B1E858833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599AE16-9658-B357-EDF5-3F67D212F56D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D956F3FF-6B9B-2C2F-BEA9-A0C107FC3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19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93C82C7A-A20F-29F6-8E1E-9453F17052E9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C99B0E10-27B3-A57E-B981-761C2FAA0BBE}"/>
              </a:ext>
            </a:extLst>
          </p:cNvPr>
          <p:cNvSpPr txBox="1"/>
          <p:nvPr/>
        </p:nvSpPr>
        <p:spPr>
          <a:xfrm>
            <a:off x="2076493" y="1513429"/>
            <a:ext cx="89592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2. Araç-Gereç ve Malzeme Yönetimi</a:t>
            </a:r>
          </a:p>
          <a:p>
            <a:r>
              <a:rPr lang="tr-TR" sz="2400" dirty="0"/>
              <a:t>Kirli araç-gereç ve hasta malzemeleri </a:t>
            </a:r>
            <a:r>
              <a:rPr lang="tr-TR" sz="2400" b="1" dirty="0"/>
              <a:t>üniformaya değmeden kapalı kaplarda</a:t>
            </a:r>
            <a:r>
              <a:rPr lang="tr-TR" sz="2400" dirty="0"/>
              <a:t> taşınmalıdır.</a:t>
            </a:r>
          </a:p>
          <a:p>
            <a:r>
              <a:rPr lang="tr-TR" sz="2400" dirty="0"/>
              <a:t>Vücut akıntısı ve atıkları ile bulaşmış malzemeler ayrı torbalara konulmalıdır.</a:t>
            </a:r>
          </a:p>
          <a:p>
            <a:r>
              <a:rPr lang="tr-TR" sz="2400" b="1" dirty="0"/>
              <a:t>Temizlik, az kirli alandan çok kirli alana doğru</a:t>
            </a:r>
            <a:r>
              <a:rPr lang="tr-TR" sz="2400" dirty="0"/>
              <a:t> yapılmalıdır.</a:t>
            </a:r>
          </a:p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902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9231A-35C0-0D00-0EFB-08514B5C8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F394CFC1-3C3C-A561-2DF6-D03D28744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F3197BD-5B02-3360-EF03-29D76A537C9D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02AAD691-4803-09A8-38FE-A19513125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20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3CB3D978-8917-FBC7-3631-6C23C887C1F9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29477AC3-3FBF-B401-DCE3-67F14A2CA467}"/>
              </a:ext>
            </a:extLst>
          </p:cNvPr>
          <p:cNvSpPr txBox="1"/>
          <p:nvPr/>
        </p:nvSpPr>
        <p:spPr>
          <a:xfrm>
            <a:off x="2076493" y="1513429"/>
            <a:ext cx="895927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3. Atık ve Pansuman Uygulamaları</a:t>
            </a:r>
          </a:p>
          <a:p>
            <a:r>
              <a:rPr lang="tr-TR" sz="2400" dirty="0"/>
              <a:t>Atıklar, kurumun belirlediği talimatlara göre yönetilmelidir.</a:t>
            </a:r>
          </a:p>
          <a:p>
            <a:r>
              <a:rPr lang="tr-TR" sz="2400" dirty="0"/>
              <a:t>Enfekte yaraların pansumanında kullanılan malzemeler </a:t>
            </a:r>
            <a:r>
              <a:rPr lang="tr-TR" sz="2400" b="1" dirty="0"/>
              <a:t>steril veya tek kullanımlık</a:t>
            </a:r>
            <a:r>
              <a:rPr lang="tr-TR" sz="2400" dirty="0"/>
              <a:t> olmalıdır.</a:t>
            </a:r>
          </a:p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9483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118D9-91CB-8F9E-B05A-F62978631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504CDB7F-FC24-A9C3-67F6-B026B8D86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C03E467-3382-D3B1-40CA-433FB3AAA882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E4B2FF6B-3614-4DDD-C76E-0281BF584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21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1E1D4771-4404-25F5-EB14-1C8762057E31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F0D5C1D6-F83D-E5C7-64CD-90F85EB20BC1}"/>
              </a:ext>
            </a:extLst>
          </p:cNvPr>
          <p:cNvSpPr txBox="1"/>
          <p:nvPr/>
        </p:nvSpPr>
        <p:spPr>
          <a:xfrm>
            <a:off x="2076493" y="1513429"/>
            <a:ext cx="895927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4. Bireysel Korunma ve İzolasyon</a:t>
            </a:r>
          </a:p>
          <a:p>
            <a:r>
              <a:rPr lang="tr-TR" sz="2400" dirty="0"/>
              <a:t>Mikroorganizmaların yayılımını önlemek için </a:t>
            </a:r>
            <a:r>
              <a:rPr lang="tr-TR" sz="2400" b="1" dirty="0"/>
              <a:t>kişisel temizlik</a:t>
            </a:r>
            <a:r>
              <a:rPr lang="tr-TR" sz="2400" dirty="0"/>
              <a:t> önemlidir.</a:t>
            </a:r>
          </a:p>
          <a:p>
            <a:r>
              <a:rPr lang="tr-TR" sz="2400" dirty="0"/>
              <a:t>İzolasyon gerektiren hastalarda bulaş yolu ve korunma yöntemleri bilinmeli, uygun önlemler alınmalıdır.</a:t>
            </a:r>
          </a:p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7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30EC6-0BD9-2651-2D80-41D2A256C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9968A2AC-4BCF-FE3B-BBD6-45EB18EF8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19457591-D2A5-5F23-5FB5-1F994A4CAFA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D98349D9-8ED6-D56F-3794-01CB15DCF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22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6D354DE5-3EDF-0E0D-7BB6-EF597D88CA3F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E7C141BF-EA5B-1D25-BA62-EEB76BE7F9BE}"/>
              </a:ext>
            </a:extLst>
          </p:cNvPr>
          <p:cNvSpPr txBox="1"/>
          <p:nvPr/>
        </p:nvSpPr>
        <p:spPr>
          <a:xfrm>
            <a:off x="2076493" y="1513429"/>
            <a:ext cx="895927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5. El Hijyeni</a:t>
            </a:r>
          </a:p>
          <a:p>
            <a:r>
              <a:rPr lang="tr-TR" sz="2400" dirty="0"/>
              <a:t>Aseptik işlemlerden önce</a:t>
            </a:r>
          </a:p>
          <a:p>
            <a:r>
              <a:rPr lang="tr-TR" sz="2400" dirty="0"/>
              <a:t>Hasta ile temas öncesi ve sonrası</a:t>
            </a:r>
          </a:p>
          <a:p>
            <a:r>
              <a:rPr lang="tr-TR" sz="2400" dirty="0"/>
              <a:t>Kan, vücut sıvıları ve sekresyonlarla temas sonrası</a:t>
            </a:r>
          </a:p>
          <a:p>
            <a:r>
              <a:rPr lang="tr-TR" sz="2400" dirty="0"/>
              <a:t>Hasta çevresi ile temas sonrası</a:t>
            </a:r>
          </a:p>
          <a:p>
            <a:r>
              <a:rPr lang="tr-TR" sz="2400" dirty="0"/>
              <a:t>Eldiven çıkarıldıktan sonra</a:t>
            </a:r>
          </a:p>
          <a:p>
            <a:r>
              <a:rPr lang="tr-TR" sz="2400" dirty="0"/>
              <a:t>👉 Mutlaka el hijyeni uygulanmalıdır.</a:t>
            </a:r>
          </a:p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8906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9E233-F4FF-E06F-9D42-4D59C7D63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5921C630-E8D3-053B-AF5E-C45B1A6EE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AB309FA-9BE6-2526-7BAA-339869B833B9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B15014B6-692E-8207-92B4-428A08B07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23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171F3935-97CF-B58B-BF56-B355A6EDB651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8600C143-CB8E-E653-51CB-5BA416009DC1}"/>
              </a:ext>
            </a:extLst>
          </p:cNvPr>
          <p:cNvSpPr txBox="1"/>
          <p:nvPr/>
        </p:nvSpPr>
        <p:spPr>
          <a:xfrm>
            <a:off x="2076493" y="1513429"/>
            <a:ext cx="895927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6. Kişisel Koruyucu Ekipman (KKE)</a:t>
            </a:r>
          </a:p>
          <a:p>
            <a:r>
              <a:rPr lang="tr-TR" sz="2400" b="1" dirty="0"/>
              <a:t>Eldiven:</a:t>
            </a:r>
            <a:r>
              <a:rPr lang="tr-TR" sz="2400" dirty="0"/>
              <a:t> Vücut sıvıları, kontamine materyal, mukoza ve cilde temas durumunda kullanılmalıdır.</a:t>
            </a:r>
          </a:p>
          <a:p>
            <a:r>
              <a:rPr lang="tr-TR" sz="2400" dirty="0"/>
              <a:t>Eldiven çıkarıldıktan sonra </a:t>
            </a:r>
            <a:r>
              <a:rPr lang="tr-TR" sz="2400" b="1" dirty="0"/>
              <a:t>el hijyeni tekrar sağlanmalıdır.</a:t>
            </a:r>
            <a:endParaRPr lang="tr-TR" sz="2400" dirty="0"/>
          </a:p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131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CD727-8C95-B7B4-38B1-4BF181DF0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2469372E-E98B-769A-90E6-92333095C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C5860F2-47B2-7CBD-A3A7-3054C6C60DD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53B57068-ED2C-7B27-119F-1B7D1EA19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24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4413C60D-A213-D470-C3B4-16770BD34C39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520699E9-E77D-569F-7F5E-EA9A198DA62B}"/>
              </a:ext>
            </a:extLst>
          </p:cNvPr>
          <p:cNvSpPr txBox="1"/>
          <p:nvPr/>
        </p:nvSpPr>
        <p:spPr>
          <a:xfrm>
            <a:off x="2076493" y="1513429"/>
            <a:ext cx="895927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7. Yüzey Teması ve Sporlar</a:t>
            </a:r>
          </a:p>
          <a:p>
            <a:r>
              <a:rPr lang="tr-TR" sz="2400" dirty="0"/>
              <a:t>Hastaya yakın yüzeylere </a:t>
            </a:r>
            <a:r>
              <a:rPr lang="tr-TR" sz="2400" b="1" dirty="0"/>
              <a:t>gereksiz dokunmaktan kaçınılmalıdır.</a:t>
            </a:r>
            <a:endParaRPr lang="tr-TR" sz="2400" dirty="0"/>
          </a:p>
          <a:p>
            <a:r>
              <a:rPr lang="tr-TR" sz="2400" dirty="0"/>
              <a:t>Sporlarla (</a:t>
            </a:r>
            <a:r>
              <a:rPr lang="tr-TR" sz="2400" dirty="0" err="1"/>
              <a:t>örn</a:t>
            </a:r>
            <a:r>
              <a:rPr lang="tr-TR" sz="2400" dirty="0"/>
              <a:t>. </a:t>
            </a:r>
            <a:r>
              <a:rPr lang="tr-TR" sz="2400" i="1" dirty="0" err="1"/>
              <a:t>Clostridium</a:t>
            </a:r>
            <a:r>
              <a:rPr lang="tr-TR" sz="2400" i="1" dirty="0"/>
              <a:t> </a:t>
            </a:r>
            <a:r>
              <a:rPr lang="tr-TR" sz="2400" i="1" dirty="0" err="1"/>
              <a:t>difficile</a:t>
            </a:r>
            <a:r>
              <a:rPr lang="tr-TR" sz="2400" i="1" dirty="0"/>
              <a:t>, </a:t>
            </a:r>
            <a:r>
              <a:rPr lang="tr-TR" sz="2400" i="1" dirty="0" err="1"/>
              <a:t>Bacillus</a:t>
            </a:r>
            <a:r>
              <a:rPr lang="tr-TR" sz="2400" i="1" dirty="0"/>
              <a:t> </a:t>
            </a:r>
            <a:r>
              <a:rPr lang="tr-TR" sz="2400" i="1" dirty="0" err="1"/>
              <a:t>anthracis</a:t>
            </a:r>
            <a:r>
              <a:rPr lang="tr-TR" sz="2400" dirty="0"/>
              <a:t>) temas olasılığı varsa eller mutlaka </a:t>
            </a:r>
            <a:r>
              <a:rPr lang="tr-TR" sz="2400" b="1" dirty="0"/>
              <a:t>sabun ve su ile yıkanmalıdır.</a:t>
            </a:r>
            <a:endParaRPr lang="tr-TR" sz="2400" dirty="0"/>
          </a:p>
          <a:p>
            <a:r>
              <a:rPr lang="tr-TR" sz="2400" dirty="0"/>
              <a:t>Alkol, klorheksidin ve </a:t>
            </a:r>
            <a:r>
              <a:rPr lang="tr-TR" sz="2400" dirty="0" err="1"/>
              <a:t>iyodoforlar</a:t>
            </a:r>
            <a:r>
              <a:rPr lang="tr-TR" sz="2400" dirty="0"/>
              <a:t> sporlara karşı etkisizdir.</a:t>
            </a:r>
          </a:p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6693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CFBE9-443F-6EDA-17BE-C184A80D3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25B891B7-F843-EB2B-D87B-03B8F6D28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5224180B-6008-2720-FFE2-5872847A2ED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F6F1F000-321F-6BCF-055C-D95B22A87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25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9A3D6DA9-4CB2-BF0B-E735-07D50600DA1C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87275B6A-0FFD-F469-418B-14FF1D4B4239}"/>
              </a:ext>
            </a:extLst>
          </p:cNvPr>
          <p:cNvSpPr txBox="1"/>
          <p:nvPr/>
        </p:nvSpPr>
        <p:spPr>
          <a:xfrm>
            <a:off x="2076493" y="1513429"/>
            <a:ext cx="895927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8. İğne ve Enjeksiyon Güvenliği</a:t>
            </a:r>
          </a:p>
          <a:p>
            <a:r>
              <a:rPr lang="tr-TR" sz="2400" dirty="0"/>
              <a:t>İğne, kanül ve enjektörler </a:t>
            </a:r>
            <a:r>
              <a:rPr lang="tr-TR" sz="2400" b="1" dirty="0"/>
              <a:t>steril, tek kullanımlık ürünlerdir.</a:t>
            </a:r>
            <a:r>
              <a:rPr lang="tr-TR" sz="2400" dirty="0"/>
              <a:t> Tekrar kullanılmamalıdır.</a:t>
            </a:r>
          </a:p>
          <a:p>
            <a:r>
              <a:rPr lang="tr-TR" sz="2400" dirty="0"/>
              <a:t>Kullanılmış malzeme ile başka solüsyon veya ilaçlara girilmemelidir.</a:t>
            </a:r>
          </a:p>
          <a:p>
            <a:r>
              <a:rPr lang="tr-TR" sz="2400" dirty="0"/>
              <a:t>Spinal kanal veya </a:t>
            </a:r>
            <a:r>
              <a:rPr lang="tr-TR" sz="2400" dirty="0" err="1"/>
              <a:t>subdural</a:t>
            </a:r>
            <a:r>
              <a:rPr lang="tr-TR" sz="2400" dirty="0"/>
              <a:t> boşluğa girişlerde </a:t>
            </a:r>
            <a:r>
              <a:rPr lang="tr-TR" sz="2400" b="1" dirty="0"/>
              <a:t>cerrahi maske</a:t>
            </a:r>
            <a:r>
              <a:rPr lang="tr-TR" sz="2400" dirty="0"/>
              <a:t> kullanılmalıdır.</a:t>
            </a:r>
          </a:p>
          <a:p>
            <a:r>
              <a:rPr lang="tr-TR" sz="2400" dirty="0"/>
              <a:t>Steril enjeksiyon ekipmanının kontaminasyonunu önlemek için mutlaka </a:t>
            </a:r>
            <a:r>
              <a:rPr lang="tr-TR" sz="2400" b="1" dirty="0"/>
              <a:t>aseptik teknik</a:t>
            </a:r>
            <a:r>
              <a:rPr lang="tr-TR" sz="2400" dirty="0"/>
              <a:t> uygulanmalıdır.</a:t>
            </a:r>
          </a:p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0078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26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1727200" y="1259870"/>
            <a:ext cx="917526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Cerrahi Asepsi İlkeleri </a:t>
            </a:r>
          </a:p>
          <a:p>
            <a:endParaRPr lang="tr-TR" sz="2400" b="1" dirty="0"/>
          </a:p>
          <a:p>
            <a:r>
              <a:rPr lang="tr-TR" sz="2400" dirty="0"/>
              <a:t>Cerrahi asepsi, </a:t>
            </a:r>
            <a:r>
              <a:rPr lang="tr-TR" sz="2400" b="1" dirty="0"/>
              <a:t>steril alanın korunması ve sürdürülmesi</a:t>
            </a:r>
            <a:r>
              <a:rPr lang="tr-TR" sz="2400" dirty="0"/>
              <a:t> için uygulanan tüm kuralları kapsar. Amaç; </a:t>
            </a:r>
            <a:r>
              <a:rPr lang="tr-TR" sz="2400" b="1" dirty="0"/>
              <a:t>ameliyat sırasında mikroorganizma bulaşını önleyerek enfeksiyon riskini en aza indirmektir.</a:t>
            </a:r>
            <a:endParaRPr lang="tr-TR" sz="2400" dirty="0"/>
          </a:p>
          <a:p>
            <a:br>
              <a:rPr lang="tr-TR" sz="2400" dirty="0"/>
            </a:br>
            <a:endParaRPr lang="tr-TR" sz="2400" dirty="0"/>
          </a:p>
          <a:p>
            <a:r>
              <a:rPr lang="tr-TR" sz="2400" b="1" dirty="0"/>
              <a:t>1. Steril Malzeme Kullanımı</a:t>
            </a:r>
          </a:p>
          <a:p>
            <a:r>
              <a:rPr lang="tr-TR" sz="2400" dirty="0"/>
              <a:t>Steril alana giren tüm malzemeler </a:t>
            </a:r>
            <a:r>
              <a:rPr lang="tr-TR" sz="2400" b="1" dirty="0"/>
              <a:t>mutlaka steril olmalıdır.</a:t>
            </a:r>
            <a:endParaRPr lang="tr-TR" sz="2400" dirty="0"/>
          </a:p>
          <a:p>
            <a:r>
              <a:rPr lang="tr-TR" sz="2400" dirty="0"/>
              <a:t>Ambalajı bozulmuş, ıslanmış veya son kullanma tarihi geçmiş malzemeler kullanılmamalıdır.</a:t>
            </a:r>
          </a:p>
          <a:p>
            <a:r>
              <a:rPr lang="tr-TR" sz="2400" dirty="0"/>
              <a:t>Sterilizasyon tarihleri ve yöntemleri mutlaka kontrol edilmelidir.</a:t>
            </a:r>
          </a:p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807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27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Metin kutusu 8"/>
          <p:cNvSpPr txBox="1"/>
          <p:nvPr/>
        </p:nvSpPr>
        <p:spPr>
          <a:xfrm>
            <a:off x="1748603" y="2274838"/>
            <a:ext cx="96150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2. Gereç ve Solüsyonların Hazırlığı</a:t>
            </a:r>
          </a:p>
          <a:p>
            <a:r>
              <a:rPr lang="tr-TR" sz="2400" dirty="0"/>
              <a:t>Steril gereçler ve solüsyonlar </a:t>
            </a:r>
            <a:r>
              <a:rPr lang="tr-TR" sz="2400" b="1" dirty="0"/>
              <a:t>kullanımdan hemen önce açılmalı</a:t>
            </a:r>
            <a:r>
              <a:rPr lang="tr-TR" sz="2400" dirty="0"/>
              <a:t> ve uzun süre açık bırakılmamalıdır.</a:t>
            </a:r>
          </a:p>
          <a:p>
            <a:r>
              <a:rPr lang="tr-TR" sz="2400" dirty="0"/>
              <a:t>Solüsyonların kapakları açık bırakıldığında kontaminasyon riski hızla artar.</a:t>
            </a:r>
          </a:p>
          <a:p>
            <a:r>
              <a:rPr lang="tr-TR" sz="2400" dirty="0"/>
              <a:t>Kullanım sonrası artan solüsyon tekrar kapatılarak kullanılmaz.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1222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28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Metin kutusu 8"/>
          <p:cNvSpPr txBox="1"/>
          <p:nvPr/>
        </p:nvSpPr>
        <p:spPr>
          <a:xfrm>
            <a:off x="1748603" y="1898912"/>
            <a:ext cx="961505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3. Kontaminasyonun Önlenmesi</a:t>
            </a:r>
          </a:p>
          <a:p>
            <a:r>
              <a:rPr lang="tr-TR" sz="2400" dirty="0"/>
              <a:t>Kontamine olmuş (kirlenmiş) herhangi bir alet veya malzeme </a:t>
            </a:r>
            <a:r>
              <a:rPr lang="tr-TR" sz="2400" b="1" dirty="0"/>
              <a:t>derhal steril alandan uzaklaştırılmalıdır.</a:t>
            </a:r>
            <a:endParaRPr lang="tr-TR" sz="2400" dirty="0"/>
          </a:p>
          <a:p>
            <a:r>
              <a:rPr lang="tr-TR" sz="2400" dirty="0"/>
              <a:t>Eğer steril saha kazara kontamine olursa, ilgili bölge yeniden hazırlanmalı ya da tüm saha değiştirilmelidir.</a:t>
            </a:r>
          </a:p>
          <a:p>
            <a:r>
              <a:rPr lang="tr-TR" sz="2400" dirty="0"/>
              <a:t>Sağlık çalışanı, şüpheli bir durumda alanın kontamine kabul edilmesi gerektiğini bilmelidir.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0543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D0541-F082-71F8-5A29-F23853CA5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E4C6D593-B9C2-0566-5B1E-42A3876B5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7EE491F-0447-F656-755E-1474411BC27C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6405D43F-6856-8868-C994-4347B015C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29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0EA71066-22EA-90C7-8D09-4043F4A99BDD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529058FD-6B4B-5217-0FA0-59A6AE9B83A6}"/>
              </a:ext>
            </a:extLst>
          </p:cNvPr>
          <p:cNvSpPr txBox="1"/>
          <p:nvPr/>
        </p:nvSpPr>
        <p:spPr>
          <a:xfrm>
            <a:off x="1748603" y="1898912"/>
            <a:ext cx="961505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4. Steril ve Steril Olmayan Alan Ayrımı</a:t>
            </a:r>
          </a:p>
          <a:p>
            <a:r>
              <a:rPr lang="tr-TR" sz="2400" dirty="0"/>
              <a:t>Steril ve steril olmayan alanlar arasında </a:t>
            </a:r>
            <a:r>
              <a:rPr lang="tr-TR" sz="2400" b="1" dirty="0"/>
              <a:t>görünür ve geniş bir güvenlik sınırı</a:t>
            </a:r>
            <a:r>
              <a:rPr lang="tr-TR" sz="2400" dirty="0"/>
              <a:t> bırakılmalıdır.</a:t>
            </a:r>
          </a:p>
          <a:p>
            <a:r>
              <a:rPr lang="tr-TR" sz="2400" dirty="0"/>
              <a:t>Cerrahi sahaya sadece steril giyimli personel yaklaşmalıdır.</a:t>
            </a:r>
          </a:p>
          <a:p>
            <a:r>
              <a:rPr lang="tr-TR" sz="2400" dirty="0"/>
              <a:t>Steril giyimli personel steril olmayan yüzeylere dokunmamalı; steril olmayan personel de steril alana yaklaşmamalıdır.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6794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0969C-F4F9-DAF4-13AD-42D05309F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5E8DB361-5B60-F164-F0C3-53097FF51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FFED695-49B8-BD91-F326-9B6283067612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0D585A14-CB85-27E0-7F4F-84C1DC8BA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30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22BDB4CB-C19E-39C7-EED0-0C9A40EA145C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D26381E2-105B-97FE-B7BC-E987B7CFA8B9}"/>
              </a:ext>
            </a:extLst>
          </p:cNvPr>
          <p:cNvSpPr txBox="1"/>
          <p:nvPr/>
        </p:nvSpPr>
        <p:spPr>
          <a:xfrm>
            <a:off x="1748603" y="1898912"/>
            <a:ext cx="961505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5. Hava Akımı ve Ortam Kontrolü</a:t>
            </a:r>
          </a:p>
          <a:p>
            <a:r>
              <a:rPr lang="tr-TR" sz="2400" b="1" dirty="0"/>
              <a:t>Ameliyathanelerde </a:t>
            </a:r>
            <a:r>
              <a:rPr lang="tr-TR" sz="2400" b="1" dirty="0" err="1"/>
              <a:t>laminar</a:t>
            </a:r>
            <a:r>
              <a:rPr lang="tr-TR" sz="2400" b="1" dirty="0"/>
              <a:t> akım ve pozitif basınçlı havalandırma sistemleri</a:t>
            </a:r>
            <a:r>
              <a:rPr lang="tr-TR" sz="2400" dirty="0"/>
              <a:t> kullanılmalıdır.</a:t>
            </a:r>
          </a:p>
          <a:p>
            <a:r>
              <a:rPr lang="tr-TR" sz="2400" dirty="0"/>
              <a:t>Fazla hava akımı veya hareketlilik, partiküllerin taşıdığı mikroorganizmaların steril alana geçmesine neden olabilir.</a:t>
            </a:r>
          </a:p>
          <a:p>
            <a:r>
              <a:rPr lang="tr-TR" sz="2400" dirty="0"/>
              <a:t>Kapıların sık açılıp kapanması engellenmeli, gereksiz personel hareketi azaltılmalıdır.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826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A49A9-AB7C-FD3F-412C-35101E2F0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45C1B1E1-C8DC-5AF1-DBEF-A5E5D1F07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C0155E3-1F57-1DA7-5557-2255D8B0236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6993B265-ACA8-594C-D95F-943A080C3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31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CD79EEFD-F4FC-AA6F-C1AE-CC5B5EFEC80A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FB227BD9-67A6-6EDA-2C03-177743F40A23}"/>
              </a:ext>
            </a:extLst>
          </p:cNvPr>
          <p:cNvSpPr txBox="1"/>
          <p:nvPr/>
        </p:nvSpPr>
        <p:spPr>
          <a:xfrm>
            <a:off x="1748603" y="1898912"/>
            <a:ext cx="961505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6. Sterilitenin Korunması ve Güncellenen Protokoller</a:t>
            </a:r>
          </a:p>
          <a:p>
            <a:r>
              <a:rPr lang="tr-TR" sz="2400" dirty="0"/>
              <a:t>Steril alanın korunması için </a:t>
            </a:r>
            <a:r>
              <a:rPr lang="tr-TR" sz="2400" b="1" dirty="0"/>
              <a:t>standart işletim prosedürleri (SOP)</a:t>
            </a:r>
            <a:r>
              <a:rPr lang="tr-TR" sz="2400" dirty="0"/>
              <a:t> ve rehberler geliştirilmelidir.</a:t>
            </a:r>
          </a:p>
          <a:p>
            <a:r>
              <a:rPr lang="tr-TR" sz="2400" dirty="0"/>
              <a:t>Bu protokoller bilimsel gelişmelere göre </a:t>
            </a:r>
            <a:r>
              <a:rPr lang="tr-TR" sz="2400" b="1" dirty="0"/>
              <a:t>periyodik olarak güncellenmelidir.</a:t>
            </a:r>
            <a:endParaRPr lang="tr-TR" sz="2400" dirty="0"/>
          </a:p>
          <a:p>
            <a:r>
              <a:rPr lang="tr-TR" sz="2400" dirty="0"/>
              <a:t>Tüm sağlık personeli aseptik teknik konusunda düzenli aralıklarla eğitilmelidir.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4144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3CB2F-7705-902A-0176-F20A39411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BA8BDF8E-9CB2-D749-DECD-2E47B6AA5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4E7AFDD-4A15-BEA2-BBA4-0B86098B85BA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DFAE427F-2616-271C-0107-93790AF7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32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CF632A2D-C591-5222-BF9D-8F5CE243D53E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3FD2CA89-2B14-D7F8-B289-EEA47CC1BDAD}"/>
              </a:ext>
            </a:extLst>
          </p:cNvPr>
          <p:cNvSpPr txBox="1"/>
          <p:nvPr/>
        </p:nvSpPr>
        <p:spPr>
          <a:xfrm>
            <a:off x="1748603" y="1898912"/>
            <a:ext cx="96150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7. Personel Davranış ve Sorumlulukları</a:t>
            </a:r>
          </a:p>
          <a:p>
            <a:r>
              <a:rPr lang="tr-TR" sz="2400" dirty="0"/>
              <a:t>Steril giyinme kurallarına tam uyulmalıdır (steril önlük, eldiven, maske, başlık).</a:t>
            </a:r>
          </a:p>
          <a:p>
            <a:r>
              <a:rPr lang="tr-TR" sz="2400" dirty="0"/>
              <a:t>Eller cerrahi el yıkama yöntemiyle hazırlanmalıdır.</a:t>
            </a:r>
          </a:p>
          <a:p>
            <a:r>
              <a:rPr lang="tr-TR" sz="2400" dirty="0"/>
              <a:t>Steril alanda gereksiz konuşma, hareket veya temas en aza indirilmelidir.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0190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265C9-2E77-AB9C-B4F4-8AFDF6253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B93FD4E2-B01C-5E49-5828-C2A039E9E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DB402DA-1C87-329B-F218-219E543D0A1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077AD424-BD3F-BA65-6845-042B714A0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33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5E2ED564-DFDB-1DD2-BA20-45F8897C132C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F30251E3-A6CB-C823-8951-C9ADEF3B6DBE}"/>
              </a:ext>
            </a:extLst>
          </p:cNvPr>
          <p:cNvSpPr txBox="1"/>
          <p:nvPr/>
        </p:nvSpPr>
        <p:spPr>
          <a:xfrm>
            <a:off x="1463595" y="1383323"/>
            <a:ext cx="9615054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/>
              <a:t>Cerrahi El Yıkama (</a:t>
            </a:r>
            <a:r>
              <a:rPr lang="tr-TR" b="1" dirty="0" err="1"/>
              <a:t>Scrub</a:t>
            </a:r>
            <a:r>
              <a:rPr lang="tr-TR" b="1" dirty="0"/>
              <a:t>)</a:t>
            </a:r>
          </a:p>
          <a:p>
            <a:br>
              <a:rPr lang="tr-TR" dirty="0"/>
            </a:br>
            <a:endParaRPr lang="tr-TR" dirty="0"/>
          </a:p>
          <a:p>
            <a:r>
              <a:rPr lang="tr-TR" b="1" dirty="0"/>
              <a:t>1. Giriş – Tanım</a:t>
            </a:r>
          </a:p>
          <a:p>
            <a:r>
              <a:rPr lang="tr-TR" dirty="0"/>
              <a:t>Cerrahi el yıkama, ameliyat öncesinde ellerin ve ön kolların </a:t>
            </a:r>
            <a:r>
              <a:rPr lang="tr-TR" b="1" dirty="0"/>
              <a:t>mikroorganizmalardan arındırılması</a:t>
            </a:r>
            <a:r>
              <a:rPr lang="tr-TR" dirty="0"/>
              <a:t> için yapılan özel bir işlemdir.</a:t>
            </a:r>
          </a:p>
          <a:p>
            <a:r>
              <a:rPr lang="tr-TR" dirty="0"/>
              <a:t>Amaç:</a:t>
            </a:r>
          </a:p>
          <a:p>
            <a:pPr lvl="1"/>
            <a:r>
              <a:rPr lang="tr-TR" dirty="0"/>
              <a:t>Kalıcı ve geçici florayı azaltmak</a:t>
            </a:r>
          </a:p>
          <a:p>
            <a:pPr lvl="1"/>
            <a:r>
              <a:rPr lang="tr-TR" dirty="0"/>
              <a:t>Eldiven kullanılsa bile delinme durumunda enfeksiyon riskini en aza indirmek</a:t>
            </a:r>
          </a:p>
          <a:p>
            <a:r>
              <a:rPr lang="tr-TR" dirty="0"/>
              <a:t>Normal el yıkamadan farkı: </a:t>
            </a:r>
            <a:r>
              <a:rPr lang="tr-TR" b="1" dirty="0"/>
              <a:t>Daha uzun süreli, antiseptik solüsyonlarla, sistematik bir teknikle yapılmasıdır.</a:t>
            </a:r>
            <a:endParaRPr lang="tr-TR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8968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6A0DA-6AE2-5614-AE98-082E36CA3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CE9E7E9B-48A9-688D-5A03-36C34BFBA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D136272-F95C-176F-5A01-C11A64455563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7849E557-471B-2D5A-9878-BADE088B2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34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37C488BC-21E3-8DB1-4D31-C20BD6DC1031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7B718950-2802-38BD-1BDB-7A4AAE92D015}"/>
              </a:ext>
            </a:extLst>
          </p:cNvPr>
          <p:cNvSpPr txBox="1"/>
          <p:nvPr/>
        </p:nvSpPr>
        <p:spPr>
          <a:xfrm>
            <a:off x="1748603" y="1898912"/>
            <a:ext cx="96150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2. Önemi</a:t>
            </a:r>
          </a:p>
          <a:p>
            <a:r>
              <a:rPr lang="tr-TR" sz="2400" dirty="0"/>
              <a:t>Cerrahi ekip üyelerinin elleri ve kolları potansiyel mikrop kaynağıdır.</a:t>
            </a:r>
          </a:p>
          <a:p>
            <a:r>
              <a:rPr lang="tr-TR" sz="2400" dirty="0"/>
              <a:t>Cerrahi alan enfeksiyonları (CAE), hastanede yatış süresini uzatır, mortalite ve maliyeti artırır.</a:t>
            </a:r>
          </a:p>
          <a:p>
            <a:r>
              <a:rPr lang="tr-TR" sz="2400" dirty="0"/>
              <a:t>Doğru el yıkama → enfeksiyon riskini %50’den fazla azaltabilir.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6600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1C659-F427-EB78-BF93-C91A9AA66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3FC94490-A044-1047-69AF-1176350CC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B0CAE4B-B174-61A8-DEED-FF2FD66B2E46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0E87AB3A-6604-DD8E-BD2E-6040E0A16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35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6BEA3415-0540-966F-3C9D-E96431E4EF11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DE1F6697-9D31-6A0A-2FD0-F923BB83DA43}"/>
              </a:ext>
            </a:extLst>
          </p:cNvPr>
          <p:cNvSpPr txBox="1"/>
          <p:nvPr/>
        </p:nvSpPr>
        <p:spPr>
          <a:xfrm>
            <a:off x="1748603" y="1898912"/>
            <a:ext cx="961505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/>
              <a:t>3. Kullanılan Antiseptik Solüsyonlar</a:t>
            </a:r>
          </a:p>
          <a:p>
            <a:r>
              <a:rPr lang="tr-TR" b="1" dirty="0" err="1"/>
              <a:t>Povidon</a:t>
            </a:r>
            <a:r>
              <a:rPr lang="tr-TR" b="1" dirty="0"/>
              <a:t>-iyot (%7,5–10)</a:t>
            </a:r>
            <a:endParaRPr lang="tr-TR" dirty="0"/>
          </a:p>
          <a:p>
            <a:r>
              <a:rPr lang="tr-TR" b="1" dirty="0"/>
              <a:t>Klorheksidin (%4)</a:t>
            </a:r>
            <a:endParaRPr lang="tr-TR" dirty="0"/>
          </a:p>
          <a:p>
            <a:r>
              <a:rPr lang="tr-TR" dirty="0"/>
              <a:t>Alkol bazlı solüsyonlar (ekstra hızlı etki, daha kısa süreli uygulama)</a:t>
            </a:r>
          </a:p>
          <a:p>
            <a:r>
              <a:rPr lang="tr-TR" dirty="0"/>
              <a:t>Özellik:</a:t>
            </a:r>
          </a:p>
          <a:p>
            <a:pPr lvl="1"/>
            <a:r>
              <a:rPr lang="tr-TR" dirty="0"/>
              <a:t>Geniş spektrumlu</a:t>
            </a:r>
          </a:p>
          <a:p>
            <a:pPr lvl="1"/>
            <a:r>
              <a:rPr lang="tr-TR" dirty="0"/>
              <a:t>Hızlı etkili</a:t>
            </a:r>
          </a:p>
          <a:p>
            <a:pPr lvl="1"/>
            <a:r>
              <a:rPr lang="tr-TR" dirty="0"/>
              <a:t>Deride uzun süreli etki bırakabilen</a:t>
            </a:r>
            <a:endParaRPr lang="tr-TR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9910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25C2C-75F4-DCD6-D9CB-C46562AFA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2DF344F8-8A5D-4C3E-D35B-8D6C1E566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96B2DD4-9BDA-0B2E-1D36-4FA492CE3E78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C624C4CC-EB15-256B-C07B-B0A0D5D7F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36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F7284358-93A0-50BC-5690-D5AA7DD1F092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73397A50-89F4-A6A7-957B-EACFBC29F565}"/>
              </a:ext>
            </a:extLst>
          </p:cNvPr>
          <p:cNvSpPr txBox="1"/>
          <p:nvPr/>
        </p:nvSpPr>
        <p:spPr>
          <a:xfrm>
            <a:off x="1748603" y="1898912"/>
            <a:ext cx="96150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4. Cerrahi El Yıkamanın Genel Kuralları</a:t>
            </a:r>
          </a:p>
          <a:p>
            <a:r>
              <a:rPr lang="tr-TR" sz="2400" dirty="0"/>
              <a:t>Takılar, saat ve yüzükler çıkarılır.</a:t>
            </a:r>
          </a:p>
          <a:p>
            <a:r>
              <a:rPr lang="tr-TR" sz="2400" dirty="0"/>
              <a:t>Tırnaklar kısa kesilmiş olmalıdır, oje ve yapay tırnak olmamalıdır.</a:t>
            </a:r>
          </a:p>
          <a:p>
            <a:r>
              <a:rPr lang="tr-TR" sz="2400" dirty="0"/>
              <a:t>Su dirsekten aşağıya doğru akmalı, geri sıçrama engellenmelidir.</a:t>
            </a:r>
          </a:p>
          <a:p>
            <a:r>
              <a:rPr lang="tr-TR" sz="2400" dirty="0"/>
              <a:t>Eller ve ön kollar </a:t>
            </a:r>
            <a:r>
              <a:rPr lang="tr-TR" sz="2400" b="1" dirty="0"/>
              <a:t>steril alanın üzerinde</a:t>
            </a:r>
            <a:r>
              <a:rPr lang="tr-TR" sz="2400" dirty="0"/>
              <a:t> tutulmalıdır.</a:t>
            </a:r>
          </a:p>
          <a:p>
            <a:r>
              <a:rPr lang="tr-TR" sz="2400" dirty="0"/>
              <a:t>Yıkama işlemi belirli bir sırayla yapılmalı → </a:t>
            </a:r>
            <a:r>
              <a:rPr lang="tr-TR" sz="2400" b="1" dirty="0"/>
              <a:t>sistematik teknik</a:t>
            </a:r>
            <a:r>
              <a:rPr lang="tr-T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75088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B48A2-FD68-6E80-8332-089F54FF4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06884D8C-5D86-23C4-EDC4-952D52FEB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DEAA13D-42C8-3432-B75B-7C43B2913D7B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6C032BB6-07AE-FCF7-1565-EE789CB0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37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7050E1D3-A838-76BC-6846-75BC3179E505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8D73D3C0-2FC7-AE82-ABFF-55CCE9B8464E}"/>
              </a:ext>
            </a:extLst>
          </p:cNvPr>
          <p:cNvSpPr txBox="1"/>
          <p:nvPr/>
        </p:nvSpPr>
        <p:spPr>
          <a:xfrm>
            <a:off x="1748603" y="1898912"/>
            <a:ext cx="961505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5. Yöntem (Klasik Fırçalama Tekniği – 5 Dakika)</a:t>
            </a:r>
          </a:p>
          <a:p>
            <a:r>
              <a:rPr lang="tr-TR" sz="2400" b="1" dirty="0"/>
              <a:t>1. Hazırlık:</a:t>
            </a:r>
            <a:endParaRPr lang="tr-TR" sz="2400" dirty="0"/>
          </a:p>
          <a:p>
            <a:r>
              <a:rPr lang="tr-TR" sz="2400" dirty="0"/>
              <a:t>Musluğa dirsek/ayak pedalı ile su açılır.</a:t>
            </a:r>
          </a:p>
          <a:p>
            <a:r>
              <a:rPr lang="tr-TR" sz="2400" dirty="0"/>
              <a:t>Eller ve kollar dirseğe kadar ıslatılır.</a:t>
            </a:r>
          </a:p>
          <a:p>
            <a:r>
              <a:rPr lang="tr-TR" sz="2400" dirty="0"/>
              <a:t>Antiseptik solüsyon alınır.</a:t>
            </a:r>
          </a:p>
          <a:p>
            <a:r>
              <a:rPr lang="tr-TR" sz="2400" b="1" dirty="0"/>
              <a:t>2. Eller ve Parmaklar:</a:t>
            </a:r>
            <a:endParaRPr lang="tr-TR" sz="2400" dirty="0"/>
          </a:p>
          <a:p>
            <a:r>
              <a:rPr lang="tr-TR" sz="2400" dirty="0"/>
              <a:t>Avuç içleri dairesel hareketlerle yıkanır (10–15 kez).</a:t>
            </a:r>
          </a:p>
          <a:p>
            <a:r>
              <a:rPr lang="tr-TR" sz="2400" dirty="0"/>
              <a:t>Parmak araları tek tek fırçalanır.</a:t>
            </a:r>
          </a:p>
          <a:p>
            <a:r>
              <a:rPr lang="tr-TR" sz="2400" dirty="0"/>
              <a:t>Parmak uçları ve tırnak dipleri özel olarak temizlenir.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646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3900C-6763-3467-375E-903A47B4B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3382AA1E-EB02-1DFF-15DC-FBE3FDA65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5AD0CAF-FE11-E6E3-2E0B-9729C2B3A543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C4A35816-7E4F-8ED1-2A50-402211B7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38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AC749908-03EA-2C80-B088-101C5CCF4E68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DADFAB0B-FC37-C40C-D372-18543489336E}"/>
              </a:ext>
            </a:extLst>
          </p:cNvPr>
          <p:cNvSpPr txBox="1"/>
          <p:nvPr/>
        </p:nvSpPr>
        <p:spPr>
          <a:xfrm>
            <a:off x="1748603" y="1898912"/>
            <a:ext cx="961505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3. El Sırtı ve Ön Kollar:</a:t>
            </a:r>
            <a:endParaRPr lang="tr-TR" sz="2400" dirty="0"/>
          </a:p>
          <a:p>
            <a:r>
              <a:rPr lang="tr-TR" sz="2400" dirty="0"/>
              <a:t>El sırtı bileğe kadar ovulur.</a:t>
            </a:r>
          </a:p>
          <a:p>
            <a:r>
              <a:rPr lang="tr-TR" sz="2400" dirty="0"/>
              <a:t>Ön kol dirseğe kadar ovulur.</a:t>
            </a:r>
          </a:p>
          <a:p>
            <a:r>
              <a:rPr lang="tr-TR" sz="2400" dirty="0"/>
              <a:t>Yıkama sırasında eller </a:t>
            </a:r>
            <a:r>
              <a:rPr lang="tr-TR" sz="2400" b="1" dirty="0"/>
              <a:t>daima yukarıda</a:t>
            </a:r>
            <a:r>
              <a:rPr lang="tr-TR" sz="2400" dirty="0"/>
              <a:t>, dirsekler aşağıda tutulur.</a:t>
            </a:r>
          </a:p>
          <a:p>
            <a:r>
              <a:rPr lang="tr-TR" sz="2400" b="1" dirty="0"/>
              <a:t>4. Durulama:</a:t>
            </a:r>
            <a:endParaRPr lang="tr-TR" sz="2400" dirty="0"/>
          </a:p>
          <a:p>
            <a:r>
              <a:rPr lang="tr-TR" sz="2400" dirty="0"/>
              <a:t>Eller ve ön kollar dirsekten aşağıya doğru akan suyla durulanır.</a:t>
            </a:r>
          </a:p>
          <a:p>
            <a:r>
              <a:rPr lang="tr-TR" sz="2400" dirty="0"/>
              <a:t>Eller göğüs hizasında, dirsekler aşağıda kalacak şekilde tutulur.</a:t>
            </a:r>
          </a:p>
          <a:p>
            <a:r>
              <a:rPr lang="tr-TR" sz="2400" b="1" dirty="0"/>
              <a:t>5. Tekrar Uygulama (2. tur):</a:t>
            </a:r>
            <a:endParaRPr lang="tr-TR" sz="2400" dirty="0"/>
          </a:p>
          <a:p>
            <a:r>
              <a:rPr lang="tr-TR" sz="2400" dirty="0"/>
              <a:t>Aynı işlem kısaltılarak 2. kez yapılır (toplam 5 dk).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6379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2F652-6BA6-E365-6E9E-F57CA38E7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B1BA1399-46CF-C3C7-F9BA-B5CDB54ED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59D1B43-01CA-8F9D-6A4C-FD2B3ED7326C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2A1B75DE-5407-7B13-582C-A09EC239B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39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D1A3D8FA-18EC-79C7-2E5D-6F023C1994A6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0FC56A53-6A15-ED11-1F8F-9528A5611149}"/>
              </a:ext>
            </a:extLst>
          </p:cNvPr>
          <p:cNvSpPr txBox="1"/>
          <p:nvPr/>
        </p:nvSpPr>
        <p:spPr>
          <a:xfrm>
            <a:off x="1748603" y="1898912"/>
            <a:ext cx="96150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6. Alkol Bazlı El Antisepsisi (Kısa Yöntem)</a:t>
            </a:r>
          </a:p>
          <a:p>
            <a:r>
              <a:rPr lang="tr-TR" sz="2400" dirty="0"/>
              <a:t>Ön yıkama → su ve sabunla 1 dk mekanik temizlik.</a:t>
            </a:r>
          </a:p>
          <a:p>
            <a:r>
              <a:rPr lang="tr-TR" sz="2400" dirty="0"/>
              <a:t>Ardından alkol bazlı solüsyonla eller ve kollar ovularak dezenfekte edilir.</a:t>
            </a:r>
          </a:p>
          <a:p>
            <a:r>
              <a:rPr lang="tr-TR" sz="2400" dirty="0"/>
              <a:t>Süre: 1,5–2 dakika.</a:t>
            </a:r>
          </a:p>
          <a:p>
            <a:r>
              <a:rPr lang="tr-TR" sz="2400" dirty="0"/>
              <a:t>Avantaj: Daha kısa süre, daha iyi hasta uyumu.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1989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F360B-30C4-8E8D-5940-DC80A5A01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1F24F8EE-3DA6-D497-8688-F0031A680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25E5382-8032-F6B3-75BB-24230B1B0EB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E1BD87B3-5C73-D762-21DD-9CB5DACE7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40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AFE3E869-2EEA-463F-1400-78846B43C44F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A61B75E9-5505-3A62-1F42-6955B3E4AD2F}"/>
              </a:ext>
            </a:extLst>
          </p:cNvPr>
          <p:cNvSpPr txBox="1"/>
          <p:nvPr/>
        </p:nvSpPr>
        <p:spPr>
          <a:xfrm>
            <a:off x="1748603" y="1898912"/>
            <a:ext cx="96150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7. Kurulama ve Steril Eldiven Giyme</a:t>
            </a:r>
          </a:p>
          <a:p>
            <a:r>
              <a:rPr lang="tr-TR" sz="2400" dirty="0"/>
              <a:t>Steril havlu ile </a:t>
            </a:r>
            <a:r>
              <a:rPr lang="tr-TR" sz="2400" b="1" dirty="0"/>
              <a:t>ellerden dirseğe doğru tek yönlü</a:t>
            </a:r>
            <a:r>
              <a:rPr lang="tr-TR" sz="2400" dirty="0"/>
              <a:t> kurulama yapılır.</a:t>
            </a:r>
          </a:p>
          <a:p>
            <a:r>
              <a:rPr lang="tr-TR" sz="2400" dirty="0"/>
              <a:t>Her el için havlunun ayrı kısmı kullanılır.</a:t>
            </a:r>
          </a:p>
          <a:p>
            <a:r>
              <a:rPr lang="tr-TR" sz="2400" dirty="0"/>
              <a:t>Ardından aseptik teknikle steril eldiven giyilir.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4364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41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651816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6096D-8B40-DB10-6880-F272E7CFD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hlinkClick r:id="rId2"/>
            <a:extLst>
              <a:ext uri="{FF2B5EF4-FFF2-40B4-BE49-F238E27FC236}">
                <a16:creationId xmlns:a16="http://schemas.microsoft.com/office/drawing/2014/main" id="{4C87C941-B21E-A5C4-D9CB-C1C0EE0E4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95F6923-D0F0-93AB-DFD2-9DAB2EEFF6EA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FB2B4F74-6C7D-ACA5-FF25-5E5A61C52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42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96C2B97A-0E55-F17F-079E-C2B1817EAAFE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080269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tr-TR" dirty="0"/>
            </a:br>
            <a:br>
              <a:rPr lang="tr-TR" dirty="0"/>
            </a:br>
            <a:br>
              <a:rPr lang="tr-TR" dirty="0"/>
            </a:br>
            <a:endParaRPr lang="tr-TR" dirty="0"/>
          </a:p>
        </p:txBody>
      </p:sp>
      <p:pic>
        <p:nvPicPr>
          <p:cNvPr id="5" name="İçerik Yer Tutucusu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275" y="1049337"/>
            <a:ext cx="8114698" cy="5489575"/>
          </a:xfrm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624710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pic>
        <p:nvPicPr>
          <p:cNvPr id="3" name="İçerik Yer Tutucusu 2"/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4349336" y="1718269"/>
            <a:ext cx="3097036" cy="3755461"/>
          </a:xfrm>
          <a:prstGeom prst="rect">
            <a:avLst/>
          </a:prstGeom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44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BUGÜN NELER ÖĞRENDİK?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94734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pic>
        <p:nvPicPr>
          <p:cNvPr id="3" name="İçerik Yer Tutucusu 2"/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4013329" y="1813994"/>
            <a:ext cx="5084505" cy="3907875"/>
          </a:xfrm>
          <a:prstGeom prst="rect">
            <a:avLst/>
          </a:prstGeom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45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405488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SORU VE ÖNERİLER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288703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Asepsi-antisepsi</a:t>
            </a:r>
          </a:p>
          <a:p>
            <a:pPr marL="0" indent="0" algn="just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Tıbbi asepsi ilkeleri</a:t>
            </a:r>
          </a:p>
          <a:p>
            <a:pPr marL="0" indent="0" algn="just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Cerrahi asepsi ilkeleri</a:t>
            </a:r>
          </a:p>
          <a:p>
            <a:pPr marL="0" indent="0" algn="just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Cerrahi el yıkama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46</a:t>
            </a:fld>
            <a:endParaRPr lang="tr-TR"/>
          </a:p>
        </p:txBody>
      </p:sp>
      <p:sp>
        <p:nvSpPr>
          <p:cNvPr id="9" name="Dikdörtgen 8"/>
          <p:cNvSpPr/>
          <p:nvPr/>
        </p:nvSpPr>
        <p:spPr>
          <a:xfrm>
            <a:off x="1" y="385351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ÖNERİLEN HAFTALIK ÇALIŞMALAR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880479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Zenciroğlu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(2024). Dezenfeksiyon Antisepsi Sterilizasyon Rehberi.</a:t>
            </a:r>
          </a:p>
          <a:p>
            <a:pPr marL="0" indent="0" algn="just">
              <a:buNone/>
            </a:pP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Altındiş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(2021). Hemşireler için Mikrobiyoloji. Ankara: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NobelTıp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Kitabevi.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47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1" y="283101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KAYNAKÇA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113560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ünitesinin özellikleri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48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295191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BİR SONRAKİ DERS HAKKINDA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70701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6" name="İçerik Yer Tutucusu 2"/>
          <p:cNvSpPr>
            <a:spLocks noGrp="1"/>
          </p:cNvSpPr>
          <p:nvPr>
            <p:ph idx="1"/>
          </p:nvPr>
        </p:nvSpPr>
        <p:spPr>
          <a:xfrm>
            <a:off x="1240220" y="1208690"/>
            <a:ext cx="10710042" cy="539180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tr-TR" dirty="0">
              <a:solidFill>
                <a:srgbClr val="002060"/>
              </a:solidFill>
              <a:ea typeface="Times New Roman"/>
              <a:cs typeface="Times New Roman"/>
              <a:sym typeface="Times New Roman"/>
            </a:endParaRPr>
          </a:p>
          <a:p>
            <a:pPr marL="0" indent="0" algn="ctr">
              <a:buNone/>
            </a:pPr>
            <a:endParaRPr lang="tr-TR" dirty="0">
              <a:solidFill>
                <a:srgbClr val="002060"/>
              </a:solidFill>
              <a:ea typeface="Times New Roman"/>
              <a:cs typeface="Times New Roman"/>
              <a:sym typeface="Times New Roman"/>
            </a:endParaRPr>
          </a:p>
          <a:p>
            <a:pPr marL="0" indent="0" algn="ctr">
              <a:buNone/>
            </a:pP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Dr. </a:t>
            </a:r>
            <a:r>
              <a:rPr lang="tr-TR" dirty="0" err="1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Öğr</a:t>
            </a: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. Üyesi Sevinç Baba’nın Sterilizasyon ve Cerrahi Asepsi</a:t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Dersine ait sunumlar özel olduğu için burada yer alan  metin ve görsellerin, </a:t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dersin öğretim üyesinden </a:t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r>
              <a:rPr lang="tr-TR" b="1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izin alınmaksızın sosyal medya ya da farklı alanlarda kullanılması</a:t>
            </a: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, </a:t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r>
              <a:rPr lang="tr-TR" b="1" i="1" u="sng" dirty="0">
                <a:solidFill>
                  <a:srgbClr val="FF0000"/>
                </a:solidFill>
                <a:ea typeface="Times New Roman"/>
                <a:cs typeface="Times New Roman"/>
                <a:sym typeface="Times New Roman"/>
              </a:rPr>
              <a:t>6698 Sayılı Kanun </a:t>
            </a: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ile güvence altına alınan kişisel verilerin ve özel hayatın korunmasına yönelik düzenlemelere aykırıdır.</a:t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endParaRPr lang="tr-TR" sz="2400" dirty="0"/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703811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6" name="İçerik Yer Tutucusu 2"/>
          <p:cNvSpPr>
            <a:spLocks noGrp="1"/>
          </p:cNvSpPr>
          <p:nvPr>
            <p:ph idx="1"/>
          </p:nvPr>
        </p:nvSpPr>
        <p:spPr>
          <a:xfrm>
            <a:off x="1240220" y="1208690"/>
            <a:ext cx="6494080" cy="5391807"/>
          </a:xfrm>
        </p:spPr>
        <p:txBody>
          <a:bodyPr>
            <a:norm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</a:pPr>
            <a:r>
              <a:rPr lang="tr-TR" dirty="0"/>
              <a:t>Ey yükselen yeni nesil! İstikbal sizsiniz. Cumhuriyeti biz kurduk, onu ila ve idame edecek sizsiniz.</a:t>
            </a: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</a:pP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</a:pPr>
            <a:r>
              <a:rPr lang="tr-TR" b="1" dirty="0">
                <a:solidFill>
                  <a:srgbClr val="172652"/>
                </a:solidFill>
                <a:ea typeface="Times New Roman"/>
                <a:cs typeface="Times New Roman"/>
                <a:sym typeface="Times New Roman"/>
              </a:rPr>
              <a:t>                              Mustafa Kemal ATATÜRK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Google Shape;323;g2ea15ffc163_0_229" descr="kişi, şahıs, insan yüzü, giyim, askeri üniforma içeren bir resim&#10;&#10;Açıklama otomatik olarak oluşturuldu"/>
          <p:cNvPicPr preferRelativeResize="0"/>
          <p:nvPr/>
        </p:nvPicPr>
        <p:blipFill rotWithShape="1">
          <a:blip r:embed="rId3">
            <a:alphaModFix/>
          </a:blip>
          <a:srcRect l="16533"/>
          <a:stretch/>
        </p:blipFill>
        <p:spPr>
          <a:xfrm>
            <a:off x="8421447" y="1542485"/>
            <a:ext cx="3570201" cy="4620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50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919399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tr-TR" dirty="0"/>
            </a:b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5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49254" y="365125"/>
            <a:ext cx="1761392" cy="103975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51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50133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1035</TotalTime>
  <Words>1860</Words>
  <Application>Microsoft Macintosh PowerPoint</Application>
  <PresentationFormat>Geniş ekran</PresentationFormat>
  <Paragraphs>398</Paragraphs>
  <Slides>51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51</vt:i4>
      </vt:variant>
    </vt:vector>
  </HeadingPairs>
  <TitlesOfParts>
    <vt:vector size="57" baseType="lpstr">
      <vt:lpstr>Arial</vt:lpstr>
      <vt:lpstr>Calibri</vt:lpstr>
      <vt:lpstr>Calibri Light</vt:lpstr>
      <vt:lpstr>Times New Roman</vt:lpstr>
      <vt:lpstr>Wingdings</vt:lpstr>
      <vt:lpstr>Office Teması</vt:lpstr>
      <vt:lpstr> 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  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</dc:title>
  <dc:creator>kaydemir</dc:creator>
  <cp:lastModifiedBy>Kıvanç Derya PEKER</cp:lastModifiedBy>
  <cp:revision>91</cp:revision>
  <dcterms:created xsi:type="dcterms:W3CDTF">2024-07-10T08:02:52Z</dcterms:created>
  <dcterms:modified xsi:type="dcterms:W3CDTF">2025-10-01T08:59:34Z</dcterms:modified>
</cp:coreProperties>
</file>