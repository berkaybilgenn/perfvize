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256" r:id="rId2"/>
    <p:sldId id="259" r:id="rId3"/>
    <p:sldId id="271" r:id="rId4"/>
    <p:sldId id="273" r:id="rId5"/>
    <p:sldId id="272" r:id="rId6"/>
    <p:sldId id="274" r:id="rId7"/>
    <p:sldId id="310" r:id="rId8"/>
    <p:sldId id="390" r:id="rId9"/>
    <p:sldId id="402" r:id="rId10"/>
    <p:sldId id="360" r:id="rId11"/>
    <p:sldId id="391" r:id="rId12"/>
    <p:sldId id="311" r:id="rId13"/>
    <p:sldId id="403" r:id="rId14"/>
    <p:sldId id="404" r:id="rId15"/>
    <p:sldId id="361" r:id="rId16"/>
    <p:sldId id="405" r:id="rId17"/>
    <p:sldId id="291" r:id="rId18"/>
    <p:sldId id="407" r:id="rId19"/>
    <p:sldId id="362" r:id="rId20"/>
    <p:sldId id="363" r:id="rId21"/>
    <p:sldId id="364" r:id="rId22"/>
    <p:sldId id="365" r:id="rId23"/>
    <p:sldId id="366" r:id="rId24"/>
    <p:sldId id="275" r:id="rId25"/>
    <p:sldId id="367" r:id="rId26"/>
    <p:sldId id="368" r:id="rId27"/>
    <p:sldId id="369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0" r:id="rId37"/>
    <p:sldId id="401" r:id="rId38"/>
    <p:sldId id="278" r:id="rId39"/>
    <p:sldId id="279" r:id="rId40"/>
    <p:sldId id="280" r:id="rId41"/>
    <p:sldId id="281" r:id="rId42"/>
    <p:sldId id="284" r:id="rId43"/>
    <p:sldId id="282" r:id="rId44"/>
    <p:sldId id="283" r:id="rId45"/>
    <p:sldId id="257" r:id="rId4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6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35"/>
    <p:restoredTop sz="94632"/>
  </p:normalViewPr>
  <p:slideViewPr>
    <p:cSldViewPr snapToGrid="0">
      <p:cViewPr varScale="1">
        <p:scale>
          <a:sx n="77" d="100"/>
          <a:sy n="77" d="100"/>
        </p:scale>
        <p:origin x="21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B2101-028C-4C7C-BD50-C9732890444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13FAA-B49B-438C-9DA4-0021B633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1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3907-0054-4CE1-BA2E-6D8CEC36E5B7}" type="datetime1">
              <a:rPr lang="tr-TR" smtClean="0"/>
              <a:t>12.11.2025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786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316E5-22D1-424E-9E03-7FE4FCF4E762}" type="datetime1">
              <a:rPr lang="tr-TR" smtClean="0"/>
              <a:t>12.11.2025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954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F9A-8D36-43A8-ABA2-4C9C9E5C79EF}" type="datetime1">
              <a:rPr lang="tr-TR" smtClean="0"/>
              <a:t>12.11.2025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861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283676" y="320675"/>
            <a:ext cx="10556631" cy="1325563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tr-TR" dirty="0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283676" y="1646238"/>
            <a:ext cx="10556631" cy="435133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tr-TR" dirty="0"/>
              <a:t>Asıl metin stillerini düzenle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>
          <a:xfrm>
            <a:off x="1295400" y="6356349"/>
            <a:ext cx="2743200" cy="365125"/>
          </a:xfrm>
        </p:spPr>
        <p:txBody>
          <a:bodyPr/>
          <a:lstStyle/>
          <a:p>
            <a:fld id="{C46BFB63-2AB2-4BA2-8CD9-A68D09A9B742}" type="datetime1">
              <a:rPr lang="tr-TR" smtClean="0"/>
              <a:t>12.11.2025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920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46E8C-C65E-4F63-AEE4-FAD8C582111C}" type="datetime1">
              <a:rPr lang="tr-TR" smtClean="0"/>
              <a:t>12.11.2025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9952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4718-B27C-45EE-A76D-390338E2DE09}" type="datetime1">
              <a:rPr lang="tr-TR" smtClean="0"/>
              <a:t>12.11.2025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503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0E79-79FB-4C73-A853-D9D670F075EE}" type="datetime1">
              <a:rPr lang="tr-TR" smtClean="0"/>
              <a:t>12.11.2025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949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B1A0-33BC-4E80-A17D-D3AE4CBABFEA}" type="datetime1">
              <a:rPr lang="tr-TR" smtClean="0"/>
              <a:t>12.11.2025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811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5EE4-3681-4524-B732-0D6448CCBE17}" type="datetime1">
              <a:rPr lang="tr-TR" smtClean="0"/>
              <a:t>12.11.2025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362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96BB-783D-4D3E-99CD-AC33CF6608D3}" type="datetime1">
              <a:rPr lang="tr-TR" smtClean="0"/>
              <a:t>12.11.2025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038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9E9FA-750F-4658-A36B-A439B400F2F3}" type="datetime1">
              <a:rPr lang="tr-TR" smtClean="0"/>
              <a:t>12.11.2025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983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BD6CC-84C3-4375-AADE-3F6A6FFABFD1}" type="datetime1">
              <a:rPr lang="tr-TR" smtClean="0"/>
              <a:t>12.11.2025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869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tr-TR" dirty="0"/>
            </a:br>
            <a:br>
              <a:rPr lang="tr-TR" dirty="0"/>
            </a:b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3200" y="104832"/>
            <a:ext cx="1828800" cy="1184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1731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1188084" y="1296670"/>
            <a:ext cx="1016571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Bölümün Adı			: </a:t>
            </a:r>
            <a:r>
              <a:rPr lang="tr-TR" sz="24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Perfüzyon</a:t>
            </a:r>
            <a:endParaRPr lang="tr-TR" sz="2400" b="1" dirty="0">
              <a:solidFill>
                <a:srgbClr val="2E32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 Kodu ve Adı		: PER247 Sterilizasyon ve Cerrahi Asepsi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Haftası		: 6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Günü ve Saati	: Pazartesi 15.00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 Kredi/AKTS Bilgileri	: 3/6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Sınav Şekli/ Not Dağılımı	: Test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</a:t>
            </a:r>
            <a:r>
              <a:rPr lang="tr-TR" sz="24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Elemanı		: Dr. </a:t>
            </a:r>
            <a:r>
              <a:rPr lang="tr-TR" sz="24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Üyesi Sevinç Baba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E-posta ve Telefon		: sbaba@gelisim.edu.tr</a:t>
            </a:r>
          </a:p>
          <a:p>
            <a:r>
              <a:rPr lang="tr-TR" sz="24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Elemanı Odası		: B Blok 015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Danışmanlık Bilgileri	: Pazartesi 14.00-15.00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GBS Linki			: https://gbs.gelisim.edu.tr/ders-detay-17-322-11089-1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ALMS Linki			: https://lms.gelisim.edu.tr/almsp/u/Home/Index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AVESİS Linki		: https://avesis.gelisim.edu.tr/sbaba</a:t>
            </a:r>
          </a:p>
        </p:txBody>
      </p:sp>
      <p:pic>
        <p:nvPicPr>
          <p:cNvPr id="8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78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İçerik Yer Tutucusu 8"/>
          <p:cNvSpPr>
            <a:spLocks noGrp="1"/>
          </p:cNvSpPr>
          <p:nvPr>
            <p:ph sz="half" idx="2"/>
          </p:nvPr>
        </p:nvSpPr>
        <p:spPr>
          <a:xfrm>
            <a:off x="1327618" y="1573967"/>
            <a:ext cx="5073182" cy="4615696"/>
          </a:xfrm>
        </p:spPr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hakkında genel bilgi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Asepsi-antisepsi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ünitesinin özellikleri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</a:t>
            </a:r>
          </a:p>
          <a:p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Sterilizatörler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Malzeme yıkama ve hazırlama üniteleri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Sterilizasyonda güvenlik testleri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4"/>
          </p:nvPr>
        </p:nvSpPr>
        <p:spPr>
          <a:xfrm>
            <a:off x="6726836" y="1573967"/>
            <a:ext cx="5183188" cy="4615696"/>
          </a:xfrm>
        </p:spPr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Setlerin kodlanması ve dokümantasyonu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malzemenin hazırlanması ve sterilizasyonu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Plastik malzemenin sterilizasyonu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 malzemenin depolanması ve korunması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Genel Tekrar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Genel Tekrar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</a:t>
            </a:fld>
            <a:endParaRPr lang="tr-TR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ikdörtgen 7"/>
          <p:cNvSpPr/>
          <p:nvPr/>
        </p:nvSpPr>
        <p:spPr>
          <a:xfrm>
            <a:off x="0" y="408024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14 HAFTALIK DERS KONULARI 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885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Malzeme yıkama ve hazırlama ünitelerini tanır. </a:t>
            </a:r>
          </a:p>
        </p:txBody>
      </p:sp>
      <p:pic>
        <p:nvPicPr>
          <p:cNvPr id="8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0" y="280994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HAFTALIK ÖĞRENİM KAZANIMLARI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28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8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0" y="37398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ÖNCEKİ DERS HAKKINDA 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2484474" y="1908036"/>
            <a:ext cx="35429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yöntemleri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Sterilizatörler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89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6869723" y="2479964"/>
            <a:ext cx="4953000" cy="28817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135;g2ea15ffc163_0_29"/>
          <p:cNvPicPr preferRelativeResize="0"/>
          <p:nvPr/>
        </p:nvPicPr>
        <p:blipFill rotWithShape="1">
          <a:blip r:embed="rId3">
            <a:alphaModFix/>
          </a:blip>
          <a:srcRect l="26333" t="23998" r="20703" b="21593"/>
          <a:stretch/>
        </p:blipFill>
        <p:spPr>
          <a:xfrm>
            <a:off x="1593628" y="2622193"/>
            <a:ext cx="1731891" cy="17791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4;g2ea15ffc163_0_29"/>
          <p:cNvSpPr txBox="1"/>
          <p:nvPr/>
        </p:nvSpPr>
        <p:spPr>
          <a:xfrm>
            <a:off x="3233735" y="2622193"/>
            <a:ext cx="5856900" cy="3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.00-15.50/ 1.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16.00-16.50/ 2.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17.00-17.45/ 3.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6</a:t>
            </a:fld>
            <a:endParaRPr lang="tr-TR"/>
          </a:p>
        </p:txBody>
      </p:sp>
      <p:sp>
        <p:nvSpPr>
          <p:cNvPr id="10" name="Dikdörtgen 9"/>
          <p:cNvSpPr/>
          <p:nvPr/>
        </p:nvSpPr>
        <p:spPr>
          <a:xfrm>
            <a:off x="66675" y="384093"/>
            <a:ext cx="121253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17265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GÜNLÜK AKIŞ</a:t>
            </a:r>
          </a:p>
        </p:txBody>
      </p:sp>
    </p:spTree>
    <p:extLst>
      <p:ext uri="{BB962C8B-B14F-4D97-AF65-F5344CB8AC3E}">
        <p14:creationId xmlns:p14="http://schemas.microsoft.com/office/powerpoint/2010/main" val="274098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0302" y="965756"/>
            <a:ext cx="10533185" cy="4770194"/>
          </a:xfrm>
        </p:spPr>
        <p:txBody>
          <a:bodyPr>
            <a:noAutofit/>
          </a:bodyPr>
          <a:lstStyle/>
          <a:p>
            <a:r>
              <a:rPr lang="tr-TR" sz="3200" b="1" dirty="0"/>
              <a:t>Kullanım Alanında - 1: Taşıma ve Ayrıştırma</a:t>
            </a:r>
          </a:p>
          <a:p>
            <a:pPr lvl="1"/>
            <a:r>
              <a:rPr lang="tr-TR" sz="2800" dirty="0"/>
              <a:t>Temizlik işlemi, cihazın </a:t>
            </a:r>
            <a:r>
              <a:rPr lang="tr-TR" sz="2800" b="1" dirty="0"/>
              <a:t>kullanım noktasında taşımaya hazırlanmasıyla</a:t>
            </a:r>
            <a:r>
              <a:rPr lang="tr-TR" sz="2800" dirty="0"/>
              <a:t> başlar.</a:t>
            </a:r>
          </a:p>
          <a:p>
            <a:pPr lvl="1"/>
            <a:r>
              <a:rPr lang="tr-TR" sz="2800" dirty="0"/>
              <a:t>Kirli tıbbi cihazların taşınması ve ayrıştırılması sırasında </a:t>
            </a:r>
            <a:r>
              <a:rPr lang="tr-TR" sz="2800" b="1" dirty="0"/>
              <a:t>enfeksiyon riski en yüksek düzeydedir.</a:t>
            </a:r>
            <a:endParaRPr lang="tr-TR" sz="2800" dirty="0"/>
          </a:p>
          <a:p>
            <a:pPr lvl="1"/>
            <a:r>
              <a:rPr lang="tr-TR" sz="2800" dirty="0"/>
              <a:t>Bu nedenle kirli cihazların </a:t>
            </a:r>
            <a:r>
              <a:rPr lang="tr-TR" sz="2800" b="1" dirty="0"/>
              <a:t>kullanım alanında ayrıştırılması ve düzenli şekilde MSÜ’ye teslim edilmesi</a:t>
            </a:r>
            <a:r>
              <a:rPr lang="tr-TR" sz="2800" dirty="0"/>
              <a:t> gerekir.</a:t>
            </a:r>
          </a:p>
          <a:p>
            <a:pPr lvl="1"/>
            <a:r>
              <a:rPr lang="tr-TR" sz="2800" dirty="0"/>
              <a:t>Amaç: Kirli cihazlara doğrudan temas eden personelin </a:t>
            </a:r>
            <a:r>
              <a:rPr lang="tr-TR" sz="2800" b="1" dirty="0"/>
              <a:t>patojen mikroorganizmalara maruziyetini en aza indirmektir.</a:t>
            </a:r>
            <a:endParaRPr lang="tr-TR" sz="2800" dirty="0"/>
          </a:p>
          <a:p>
            <a:pPr lvl="1"/>
            <a:r>
              <a:rPr lang="tr-TR" sz="2800" dirty="0"/>
              <a:t>Çalışanlar, bu süreçte </a:t>
            </a:r>
            <a:r>
              <a:rPr lang="tr-TR" sz="2800" b="1" dirty="0"/>
              <a:t>uygun kişisel koruyucu donanım (KKD)</a:t>
            </a:r>
            <a:r>
              <a:rPr lang="tr-TR" sz="2800" dirty="0"/>
              <a:t> kullanmalıdır.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MALZEME YIKAMA VE HAZIRLAMA ÜNİTELERİ</a:t>
            </a:r>
            <a:endParaRPr lang="tr-TR" sz="2400" b="1" dirty="0">
              <a:solidFill>
                <a:srgbClr val="0070C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090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0302" y="965756"/>
            <a:ext cx="10533185" cy="4770194"/>
          </a:xfrm>
        </p:spPr>
        <p:txBody>
          <a:bodyPr>
            <a:noAutofit/>
          </a:bodyPr>
          <a:lstStyle/>
          <a:p>
            <a:r>
              <a:rPr lang="tr-TR" sz="3200" b="1" dirty="0"/>
              <a:t>Kullanım Alanında - 2: Ön Temizlik (Kaba Kirlerin Uzaklaştırılması)</a:t>
            </a:r>
          </a:p>
          <a:p>
            <a:pPr lvl="1"/>
            <a:r>
              <a:rPr lang="tr-TR" dirty="0"/>
              <a:t>Cihazlar kullanıldıktan sonra, </a:t>
            </a:r>
            <a:r>
              <a:rPr lang="tr-TR" b="1" dirty="0"/>
              <a:t>kullanıldıkları alanda</a:t>
            </a:r>
            <a:r>
              <a:rPr lang="tr-TR" dirty="0"/>
              <a:t> (örneğin ameliyathane, poliklinik, servis) </a:t>
            </a:r>
            <a:r>
              <a:rPr lang="tr-TR" b="1" dirty="0"/>
              <a:t>kullanıcı tarafından kaba kirlerinden arındırılmalıdır.</a:t>
            </a:r>
            <a:endParaRPr lang="tr-TR" dirty="0"/>
          </a:p>
          <a:p>
            <a:pPr lvl="1"/>
            <a:r>
              <a:rPr lang="tr-TR" dirty="0"/>
              <a:t>Kan, doku, sıvı gibi organik kalıntılar, </a:t>
            </a:r>
            <a:r>
              <a:rPr lang="tr-TR" b="1" dirty="0"/>
              <a:t>mikrobiyal üreme için mükemmel bir ortam</a:t>
            </a:r>
            <a:r>
              <a:rPr lang="tr-TR" dirty="0"/>
              <a:t> oluşturur.</a:t>
            </a:r>
          </a:p>
          <a:p>
            <a:pPr lvl="1"/>
            <a:r>
              <a:rPr lang="tr-TR" dirty="0"/>
              <a:t>Bu nedenle </a:t>
            </a:r>
            <a:r>
              <a:rPr lang="tr-TR" b="1" dirty="0"/>
              <a:t>ön temizlik mümkün olan en kısa sürede</a:t>
            </a:r>
            <a:r>
              <a:rPr lang="tr-TR" dirty="0"/>
              <a:t> yapılmalıdır.</a:t>
            </a:r>
          </a:p>
          <a:p>
            <a:pPr lvl="1"/>
            <a:r>
              <a:rPr lang="tr-TR" b="1" dirty="0"/>
              <a:t>Temizlik gecikirse:</a:t>
            </a:r>
            <a:endParaRPr lang="tr-TR" dirty="0"/>
          </a:p>
          <a:p>
            <a:pPr lvl="2"/>
            <a:r>
              <a:rPr lang="tr-TR" sz="2400" dirty="0"/>
              <a:t>Kirler kuruyup yüzeye fikse olur,</a:t>
            </a:r>
          </a:p>
          <a:p>
            <a:pPr lvl="2"/>
            <a:r>
              <a:rPr lang="tr-TR" sz="2400" b="1" dirty="0"/>
              <a:t>Biyofilm oluşumu</a:t>
            </a:r>
            <a:r>
              <a:rPr lang="tr-TR" sz="2400" dirty="0"/>
              <a:t> kolaylaşır,</a:t>
            </a:r>
          </a:p>
          <a:p>
            <a:pPr lvl="2"/>
            <a:r>
              <a:rPr lang="tr-TR" sz="2400" dirty="0"/>
              <a:t>Sonraki aşamadaki </a:t>
            </a:r>
            <a:r>
              <a:rPr lang="tr-TR" sz="2400" b="1" dirty="0"/>
              <a:t>nihai temizlik ve sterilizasyon güçleşir.</a:t>
            </a:r>
            <a:endParaRPr lang="tr-TR" sz="2400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8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MALZEME YIKAMA VE HAZIRLAMA ÜNİTELERİ</a:t>
            </a:r>
            <a:endParaRPr lang="tr-TR" sz="2400" b="1" dirty="0">
              <a:solidFill>
                <a:srgbClr val="0070C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7471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69CA7-6057-65CA-E421-C684B4212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4CFC5BC0-C75F-B384-9548-6CAD98E3D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ED09058-E65D-A3E3-C4AE-8B144059B71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/>
              <a:t>Taşıma Sırasında Dikkat Edilecekler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Tıbbi cihazların </a:t>
            </a:r>
            <a:r>
              <a:rPr lang="tr-TR" b="1" dirty="0"/>
              <a:t>zarar görmemesi</a:t>
            </a:r>
            <a:r>
              <a:rPr lang="tr-TR" dirty="0"/>
              <a:t> için taşıma işlemi özenle yapılmalıdır.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Cihazlar </a:t>
            </a:r>
            <a:r>
              <a:rPr lang="tr-TR" b="1" dirty="0"/>
              <a:t>sarsılmadan, düşürülmeden</a:t>
            </a:r>
            <a:r>
              <a:rPr lang="tr-TR" dirty="0"/>
              <a:t> ve </a:t>
            </a:r>
            <a:r>
              <a:rPr lang="tr-TR" b="1" dirty="0"/>
              <a:t>hassasiyetle</a:t>
            </a:r>
            <a:r>
              <a:rPr lang="tr-TR" dirty="0"/>
              <a:t> taşınmalıdır.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Her taşıma işlemi, cihazın bütünlüğünü koruyacak biçimde planlanmalıdır.</a:t>
            </a:r>
          </a:p>
        </p:txBody>
      </p:sp>
      <p:pic>
        <p:nvPicPr>
          <p:cNvPr id="7" name="Google Shape;323;g2ea15ffc163_0_213">
            <a:extLst>
              <a:ext uri="{FF2B5EF4-FFF2-40B4-BE49-F238E27FC236}">
                <a16:creationId xmlns:a16="http://schemas.microsoft.com/office/drawing/2014/main" id="{3985EAF1-3AF0-1134-692F-C6FDDF99CC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BC5FE8C3-5D3F-5B5A-C353-0766B0D2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5454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r>
              <a:rPr lang="tr-TR" sz="3200" b="1" dirty="0"/>
              <a:t>Hassas Cihazların Korunması</a:t>
            </a:r>
          </a:p>
          <a:p>
            <a:pPr lvl="1"/>
            <a:r>
              <a:rPr lang="tr-TR" b="1" dirty="0"/>
              <a:t>Mikrocerrahi aletler</a:t>
            </a:r>
            <a:r>
              <a:rPr lang="tr-TR" dirty="0"/>
              <a:t> ve </a:t>
            </a:r>
            <a:r>
              <a:rPr lang="tr-TR" b="1" dirty="0"/>
              <a:t>optik cihazlar</a:t>
            </a:r>
            <a:r>
              <a:rPr lang="tr-TR" dirty="0"/>
              <a:t>, taşıma sırasında özel koruma gerektirir.</a:t>
            </a:r>
          </a:p>
          <a:p>
            <a:pPr lvl="1"/>
            <a:r>
              <a:rPr lang="tr-TR" dirty="0"/>
              <a:t>Bu tür cihazlar için:</a:t>
            </a:r>
          </a:p>
          <a:p>
            <a:pPr lvl="2"/>
            <a:r>
              <a:rPr lang="tr-TR" sz="2400" b="1" dirty="0"/>
              <a:t>Alet koruyucu uçlar</a:t>
            </a:r>
            <a:r>
              <a:rPr lang="tr-TR" sz="2400" dirty="0"/>
              <a:t>,</a:t>
            </a:r>
          </a:p>
          <a:p>
            <a:pPr lvl="2"/>
            <a:r>
              <a:rPr lang="tr-TR" sz="2400" b="1" dirty="0"/>
              <a:t>Sabitleyici aparatlar</a:t>
            </a:r>
            <a:r>
              <a:rPr lang="tr-TR" sz="2400" dirty="0"/>
              <a:t>,</a:t>
            </a:r>
          </a:p>
          <a:p>
            <a:pPr lvl="2"/>
            <a:r>
              <a:rPr lang="tr-TR" sz="2400" b="1" dirty="0"/>
              <a:t>Silikon çim yüzeyler</a:t>
            </a:r>
            <a:r>
              <a:rPr lang="tr-TR" sz="2400" dirty="0"/>
              <a:t> kullanılmalıdır.</a:t>
            </a:r>
          </a:p>
          <a:p>
            <a:pPr lvl="1"/>
            <a:r>
              <a:rPr lang="tr-TR" dirty="0"/>
              <a:t>Amaç: Fiziksel darbe, sürtünme ve titreşime bağlı </a:t>
            </a:r>
            <a:r>
              <a:rPr lang="tr-TR" b="1" dirty="0"/>
              <a:t>hasar riskini en aza indirmek.</a:t>
            </a:r>
            <a:endParaRPr lang="tr-TR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9222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1754443" y="2027719"/>
            <a:ext cx="9813443" cy="2792696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11</a:t>
            </a:fld>
            <a:endParaRPr lang="tr-TR"/>
          </a:p>
        </p:txBody>
      </p:sp>
      <p:sp>
        <p:nvSpPr>
          <p:cNvPr id="6" name="Dikdörtgen 5"/>
          <p:cNvSpPr/>
          <p:nvPr/>
        </p:nvSpPr>
        <p:spPr>
          <a:xfrm>
            <a:off x="4454706" y="5219050"/>
            <a:ext cx="36968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tıbbi cihaz koruyucu uçlar</a:t>
            </a:r>
          </a:p>
        </p:txBody>
      </p:sp>
    </p:spTree>
    <p:extLst>
      <p:ext uri="{BB962C8B-B14F-4D97-AF65-F5344CB8AC3E}">
        <p14:creationId xmlns:p14="http://schemas.microsoft.com/office/powerpoint/2010/main" val="1037914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61829" y="835650"/>
            <a:ext cx="10625371" cy="56205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/>
              <a:t>MSÜ’ye Teslim Aşaması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Kirli tıbbi cihazların </a:t>
            </a:r>
            <a:r>
              <a:rPr lang="tr-TR" b="1" dirty="0"/>
              <a:t>Merkezi Sterilizasyon Ünitesi’ne (MSÜ)</a:t>
            </a:r>
            <a:r>
              <a:rPr lang="tr-TR" dirty="0"/>
              <a:t> tesliminde kayıtlı bir sistem kullanılmalıdır.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Her teslimat için </a:t>
            </a:r>
            <a:r>
              <a:rPr lang="tr-TR" b="1" dirty="0"/>
              <a:t>“Tıbbi Cihaz Teslim Formu”</a:t>
            </a:r>
            <a:r>
              <a:rPr lang="tr-TR" dirty="0"/>
              <a:t> düzenlenmelidir.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Form, teslim sürecinin </a:t>
            </a:r>
            <a:r>
              <a:rPr lang="tr-TR" b="1" dirty="0"/>
              <a:t>izlenebilirliğini ve sorumluluğunu</a:t>
            </a:r>
            <a:r>
              <a:rPr lang="tr-TR" dirty="0"/>
              <a:t> sağlar.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12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1706939" y="1275933"/>
            <a:ext cx="9321280" cy="704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tr-TR" sz="105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36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22777-B03A-8A8A-85E8-12EF08C4D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4AEC1F5-9857-1AD9-815A-13C2FFF89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D76AA19-6457-7D14-2A9B-6F9AFB8C6A3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61829" y="835650"/>
            <a:ext cx="10625371" cy="5620568"/>
          </a:xfrm>
        </p:spPr>
        <p:txBody>
          <a:bodyPr>
            <a:normAutofit lnSpcReduction="10000"/>
          </a:bodyPr>
          <a:lstStyle/>
          <a:p>
            <a:r>
              <a:rPr lang="tr-TR" sz="2400" b="1" dirty="0"/>
              <a:t>Teslim Formunda Yer Alması Gereken Bilgiler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Formda asgari olarak şu bilgiler bulunmalıdır: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Teslim edilen malzemenin </a:t>
            </a:r>
            <a:r>
              <a:rPr lang="tr-TR" b="1" dirty="0"/>
              <a:t>adı ve tanımı</a:t>
            </a:r>
            <a:r>
              <a:rPr lang="tr-TR" dirty="0"/>
              <a:t>,</a:t>
            </a:r>
          </a:p>
          <a:p>
            <a:pPr lvl="1">
              <a:lnSpc>
                <a:spcPct val="150000"/>
              </a:lnSpc>
            </a:pPr>
            <a:r>
              <a:rPr lang="tr-TR" b="1" dirty="0"/>
              <a:t>Adet / sayısı</a:t>
            </a:r>
            <a:r>
              <a:rPr lang="tr-TR" dirty="0"/>
              <a:t>,</a:t>
            </a:r>
          </a:p>
          <a:p>
            <a:pPr lvl="1">
              <a:lnSpc>
                <a:spcPct val="150000"/>
              </a:lnSpc>
            </a:pPr>
            <a:r>
              <a:rPr lang="tr-TR" b="1" dirty="0"/>
              <a:t>Geldiği servis veya birim</a:t>
            </a:r>
            <a:r>
              <a:rPr lang="tr-TR" dirty="0"/>
              <a:t>,</a:t>
            </a:r>
          </a:p>
          <a:p>
            <a:pPr lvl="1">
              <a:lnSpc>
                <a:spcPct val="150000"/>
              </a:lnSpc>
            </a:pPr>
            <a:r>
              <a:rPr lang="tr-TR" b="1" dirty="0"/>
              <a:t>Teslim tarihi ve saati</a:t>
            </a:r>
            <a:r>
              <a:rPr lang="tr-TR" dirty="0"/>
              <a:t>,</a:t>
            </a:r>
          </a:p>
          <a:p>
            <a:pPr lvl="1">
              <a:lnSpc>
                <a:spcPct val="150000"/>
              </a:lnSpc>
            </a:pPr>
            <a:r>
              <a:rPr lang="tr-TR" b="1" dirty="0"/>
              <a:t>Teslim eden kişi</a:t>
            </a:r>
            <a:r>
              <a:rPr lang="tr-TR" dirty="0"/>
              <a:t>,</a:t>
            </a:r>
          </a:p>
          <a:p>
            <a:pPr lvl="1">
              <a:lnSpc>
                <a:spcPct val="150000"/>
              </a:lnSpc>
            </a:pPr>
            <a:r>
              <a:rPr lang="tr-TR" b="1" dirty="0"/>
              <a:t>Teslim alan kişi</a:t>
            </a:r>
            <a:r>
              <a:rPr lang="tr-TR" dirty="0"/>
              <a:t>.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Teslim alma süreci </a:t>
            </a:r>
            <a:r>
              <a:rPr lang="tr-TR" b="1" dirty="0"/>
              <a:t>manuel (kağıt ortamında)</a:t>
            </a:r>
            <a:r>
              <a:rPr lang="tr-TR" dirty="0"/>
              <a:t> veya </a:t>
            </a:r>
            <a:r>
              <a:rPr lang="tr-TR" b="1" dirty="0"/>
              <a:t>dijital sistem üzerinden</a:t>
            </a:r>
            <a:r>
              <a:rPr lang="tr-TR" dirty="0"/>
              <a:t> yürütülebilir.</a:t>
            </a:r>
          </a:p>
        </p:txBody>
      </p:sp>
      <p:pic>
        <p:nvPicPr>
          <p:cNvPr id="7" name="Google Shape;323;g2ea15ffc163_0_213">
            <a:extLst>
              <a:ext uri="{FF2B5EF4-FFF2-40B4-BE49-F238E27FC236}">
                <a16:creationId xmlns:a16="http://schemas.microsoft.com/office/drawing/2014/main" id="{9C3FC0EA-FB63-7CFB-8D6C-532FD78D9F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EB3029EF-EFCD-BC88-857C-2D67BD27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13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8EB4C7D-4343-68E4-3079-3DD20A25C149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92715E3-6E9F-00E4-23FF-0F9F1147ADC2}"/>
              </a:ext>
            </a:extLst>
          </p:cNvPr>
          <p:cNvSpPr/>
          <p:nvPr/>
        </p:nvSpPr>
        <p:spPr>
          <a:xfrm>
            <a:off x="1706939" y="1275933"/>
            <a:ext cx="9321280" cy="704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tr-TR" sz="105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494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7343C-A72E-C14F-4EDD-CC4CD0346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DB1092B-6431-B884-CC1B-E196DB724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9" name="İçerik Yer Tutucusu 8" descr="metin, makbuz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2BFC171-5FFE-883A-8E96-E499E058461D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001" y="920036"/>
            <a:ext cx="7439155" cy="5041771"/>
          </a:xfrm>
        </p:spPr>
      </p:pic>
      <p:pic>
        <p:nvPicPr>
          <p:cNvPr id="7" name="Google Shape;323;g2ea15ffc163_0_213">
            <a:extLst>
              <a:ext uri="{FF2B5EF4-FFF2-40B4-BE49-F238E27FC236}">
                <a16:creationId xmlns:a16="http://schemas.microsoft.com/office/drawing/2014/main" id="{95D5ED8B-6F39-0042-374E-FC434AE6BE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7CC9FCF1-70FD-FAFC-1914-9CC574D72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14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F62BDB7-3B4B-4DDC-685B-5CBF6DCD7295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FE7FD9E8-DC19-C26E-7ADB-D8A4FDA365E0}"/>
              </a:ext>
            </a:extLst>
          </p:cNvPr>
          <p:cNvSpPr/>
          <p:nvPr/>
        </p:nvSpPr>
        <p:spPr>
          <a:xfrm>
            <a:off x="1706939" y="1275933"/>
            <a:ext cx="9321280" cy="704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tr-TR" sz="105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764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08012" y="1352928"/>
            <a:ext cx="10346960" cy="468294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/>
              <a:t>Tıbbi Cihazların Yıkanması (Tanım ve Amaç)</a:t>
            </a:r>
          </a:p>
          <a:p>
            <a:pPr lvl="1">
              <a:lnSpc>
                <a:spcPct val="150000"/>
              </a:lnSpc>
            </a:pPr>
            <a:r>
              <a:rPr lang="tr-TR" sz="2000" b="1" dirty="0"/>
              <a:t>Temizlik:</a:t>
            </a:r>
            <a:r>
              <a:rPr lang="tr-TR" sz="2000" dirty="0"/>
              <a:t> Organik ve inorganik maddelerin, gözle görülebilir kirlerin obje ve yüzeylerden uzaklaştırılması işlemidir.</a:t>
            </a:r>
          </a:p>
          <a:p>
            <a:pPr lvl="1">
              <a:lnSpc>
                <a:spcPct val="150000"/>
              </a:lnSpc>
            </a:pPr>
            <a:r>
              <a:rPr lang="tr-TR" sz="2000" dirty="0"/>
              <a:t>Bu aşama, </a:t>
            </a:r>
            <a:r>
              <a:rPr lang="tr-TR" sz="2000" b="1" dirty="0"/>
              <a:t>sterilizasyonun ön koşuludur.</a:t>
            </a:r>
            <a:endParaRPr lang="tr-TR" sz="2000" dirty="0"/>
          </a:p>
          <a:p>
            <a:pPr lvl="1">
              <a:lnSpc>
                <a:spcPct val="150000"/>
              </a:lnSpc>
            </a:pPr>
            <a:r>
              <a:rPr lang="tr-TR" sz="2000" dirty="0"/>
              <a:t>Temizlik yapılmadan dezenfeksiyon veya sterilizasyonun etkinliği </a:t>
            </a:r>
            <a:r>
              <a:rPr lang="tr-TR" sz="2000" b="1" dirty="0"/>
              <a:t>garanti edilemez.</a:t>
            </a:r>
            <a:endParaRPr lang="tr-TR" sz="2000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15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1706939" y="1275933"/>
            <a:ext cx="9321280" cy="704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tr-TR" sz="105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850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7EE3-1E5F-C875-3965-71A52869A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868B8489-3550-5CBB-DA20-10BB3ED92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A3BA970-AAD4-538C-5C78-84B03D968CF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308012" y="1352928"/>
            <a:ext cx="10346960" cy="468294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/>
              <a:t>Yıkama ve Önemi</a:t>
            </a:r>
          </a:p>
          <a:p>
            <a:pPr lvl="1">
              <a:lnSpc>
                <a:spcPct val="150000"/>
              </a:lnSpc>
            </a:pPr>
            <a:r>
              <a:rPr lang="tr-TR" b="1" dirty="0"/>
              <a:t>Yıkama</a:t>
            </a:r>
            <a:r>
              <a:rPr lang="tr-TR" dirty="0"/>
              <a:t>, temizlik işleminin </a:t>
            </a:r>
            <a:r>
              <a:rPr lang="tr-TR" b="1" dirty="0"/>
              <a:t>elle veya mekanik olarak</a:t>
            </a:r>
            <a:r>
              <a:rPr lang="tr-TR" dirty="0"/>
              <a:t>, deterjan ve su kullanılarak yapılmasıdır.</a:t>
            </a:r>
          </a:p>
          <a:p>
            <a:pPr lvl="1">
              <a:lnSpc>
                <a:spcPct val="150000"/>
              </a:lnSpc>
            </a:pPr>
            <a:r>
              <a:rPr lang="tr-TR" b="1" dirty="0"/>
              <a:t>Yüksek düzey dezenfeksiyon</a:t>
            </a:r>
            <a:r>
              <a:rPr lang="tr-TR" dirty="0"/>
              <a:t> ve </a:t>
            </a:r>
            <a:r>
              <a:rPr lang="tr-TR" b="1" dirty="0"/>
              <a:t>sterilizasyon</a:t>
            </a:r>
            <a:r>
              <a:rPr lang="tr-TR" dirty="0"/>
              <a:t> öncesinde </a:t>
            </a:r>
            <a:r>
              <a:rPr lang="tr-TR" b="1" dirty="0"/>
              <a:t>kapsamlı yıkama zorunludur.</a:t>
            </a:r>
            <a:endParaRPr lang="tr-TR" dirty="0"/>
          </a:p>
          <a:p>
            <a:pPr lvl="1">
              <a:lnSpc>
                <a:spcPct val="150000"/>
              </a:lnSpc>
            </a:pPr>
            <a:r>
              <a:rPr lang="tr-TR" dirty="0"/>
              <a:t>Bu aşama, </a:t>
            </a:r>
            <a:r>
              <a:rPr lang="tr-TR" b="1" dirty="0"/>
              <a:t>dekontaminasyon sürecinin en kritik basamağıdır.</a:t>
            </a:r>
            <a:endParaRPr lang="tr-TR" dirty="0"/>
          </a:p>
          <a:p>
            <a:pPr lvl="1">
              <a:lnSpc>
                <a:spcPct val="150000"/>
              </a:lnSpc>
            </a:pPr>
            <a:r>
              <a:rPr lang="tr-TR" dirty="0"/>
              <a:t>Amaç: Kir, organik madde ve mikroorganizma yükünü azaltarak </a:t>
            </a:r>
            <a:r>
              <a:rPr lang="tr-TR" b="1" dirty="0"/>
              <a:t>sterilizasyonun başarısını artırmak.</a:t>
            </a:r>
            <a:endParaRPr lang="tr-TR" dirty="0"/>
          </a:p>
        </p:txBody>
      </p:sp>
      <p:pic>
        <p:nvPicPr>
          <p:cNvPr id="7" name="Google Shape;323;g2ea15ffc163_0_213">
            <a:extLst>
              <a:ext uri="{FF2B5EF4-FFF2-40B4-BE49-F238E27FC236}">
                <a16:creationId xmlns:a16="http://schemas.microsoft.com/office/drawing/2014/main" id="{13E809A7-BD47-58B9-D0AB-92B4C799B6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9F618EFF-349A-C78D-6143-2114B022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16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5CAA779-4491-59CC-0208-ACF8090FE0B6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11D46DDC-4C54-4A80-5024-31AD6BBAE0CE}"/>
              </a:ext>
            </a:extLst>
          </p:cNvPr>
          <p:cNvSpPr/>
          <p:nvPr/>
        </p:nvSpPr>
        <p:spPr>
          <a:xfrm>
            <a:off x="1706939" y="1275933"/>
            <a:ext cx="9321280" cy="704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tr-TR" sz="105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348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4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413164" y="1383323"/>
            <a:ext cx="10409559" cy="2307528"/>
          </a:xfrm>
        </p:spPr>
        <p:txBody>
          <a:bodyPr>
            <a:normAutofit/>
          </a:bodyPr>
          <a:lstStyle/>
          <a:p>
            <a:r>
              <a:rPr lang="tr-TR" b="1" dirty="0"/>
              <a:t>Yıkama Yapılmasının Amaçları (1)</a:t>
            </a:r>
          </a:p>
          <a:p>
            <a:r>
              <a:rPr lang="tr-TR" b="1" dirty="0"/>
              <a:t>Gözle görülebilen tüm kir, doku, kan ve yabancı maddelerin uzaklaştırılması</a:t>
            </a:r>
            <a:endParaRPr lang="tr-TR" dirty="0"/>
          </a:p>
          <a:p>
            <a:pPr lvl="1"/>
            <a:r>
              <a:rPr lang="tr-TR" dirty="0"/>
              <a:t>Bu kalıntılar, vücut içinde </a:t>
            </a:r>
            <a:r>
              <a:rPr lang="tr-TR" b="1" dirty="0"/>
              <a:t>tehlikeli reaksiyonlara</a:t>
            </a:r>
            <a:r>
              <a:rPr lang="tr-TR" dirty="0"/>
              <a:t> yol açabilir.</a:t>
            </a:r>
          </a:p>
          <a:p>
            <a:pPr lvl="1"/>
            <a:r>
              <a:rPr lang="tr-TR" dirty="0"/>
              <a:t>Ayrıca cihaz üzerinde kalırlarsa </a:t>
            </a:r>
            <a:r>
              <a:rPr lang="tr-TR" b="1" dirty="0"/>
              <a:t>yıkama ve sterilizasyon etkinliğini azaltırlar.</a:t>
            </a:r>
          </a:p>
          <a:p>
            <a:pPr lvl="1"/>
            <a:endParaRPr lang="tr-TR" dirty="0"/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922939" y="1513429"/>
            <a:ext cx="926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772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990C5-5808-3EFB-7CC3-B6351596E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47463F06-26A9-1F95-1C00-6AD64191A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4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8C89DFA-2E8D-F202-529B-7C581242A5C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413164" y="1383322"/>
            <a:ext cx="10409559" cy="435245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tr-TR" b="1" dirty="0"/>
              <a:t>Yıkama Yapılmasının Amaçları (2)</a:t>
            </a:r>
          </a:p>
          <a:p>
            <a:pPr lvl="1">
              <a:lnSpc>
                <a:spcPct val="150000"/>
              </a:lnSpc>
            </a:pPr>
            <a:r>
              <a:rPr lang="tr-TR" b="1" dirty="0"/>
              <a:t>Mikroorganizma yükünün azaltılması</a:t>
            </a:r>
            <a:endParaRPr lang="tr-TR" dirty="0"/>
          </a:p>
          <a:p>
            <a:pPr lvl="2">
              <a:lnSpc>
                <a:spcPct val="150000"/>
              </a:lnSpc>
            </a:pPr>
            <a:r>
              <a:rPr lang="tr-TR" dirty="0"/>
              <a:t>Etkili yıkama ile cihaz üzerindeki mikroorganizma sayısı azalır.</a:t>
            </a:r>
          </a:p>
          <a:p>
            <a:pPr lvl="2">
              <a:lnSpc>
                <a:spcPct val="150000"/>
              </a:lnSpc>
            </a:pPr>
            <a:r>
              <a:rPr lang="tr-TR" dirty="0"/>
              <a:t>Böylece </a:t>
            </a:r>
            <a:r>
              <a:rPr lang="tr-TR" b="1" dirty="0"/>
              <a:t>ölü mikroorganizmalardan kaynaklanan endotoksin ve </a:t>
            </a:r>
            <a:r>
              <a:rPr lang="tr-TR" b="1" dirty="0" err="1"/>
              <a:t>pirojen</a:t>
            </a:r>
            <a:r>
              <a:rPr lang="tr-TR" b="1" dirty="0"/>
              <a:t> oluşumu</a:t>
            </a:r>
            <a:r>
              <a:rPr lang="tr-TR" dirty="0"/>
              <a:t> engellenir.</a:t>
            </a:r>
          </a:p>
          <a:p>
            <a:pPr lvl="1">
              <a:lnSpc>
                <a:spcPct val="150000"/>
              </a:lnSpc>
            </a:pPr>
            <a:r>
              <a:rPr lang="tr-TR" b="1" dirty="0"/>
              <a:t>Tıbbi cihazların korozyondan korunması</a:t>
            </a:r>
            <a:endParaRPr lang="tr-TR" dirty="0"/>
          </a:p>
          <a:p>
            <a:pPr lvl="2">
              <a:lnSpc>
                <a:spcPct val="150000"/>
              </a:lnSpc>
            </a:pPr>
            <a:r>
              <a:rPr lang="tr-TR" dirty="0"/>
              <a:t>Uygun yıkama, cihaz yüzeylerinde </a:t>
            </a:r>
            <a:r>
              <a:rPr lang="tr-TR" b="1" dirty="0"/>
              <a:t>kimyasal veya biyolojik hasarı önler</a:t>
            </a:r>
            <a:r>
              <a:rPr lang="tr-TR" dirty="0"/>
              <a:t> ve </a:t>
            </a:r>
            <a:r>
              <a:rPr lang="tr-TR" b="1" dirty="0"/>
              <a:t>alet ömrünü uzatır.</a:t>
            </a:r>
            <a:endParaRPr lang="tr-TR" dirty="0"/>
          </a:p>
          <a:p>
            <a:pPr lvl="1"/>
            <a:endParaRPr lang="tr-TR" dirty="0"/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>
            <a:extLst>
              <a:ext uri="{FF2B5EF4-FFF2-40B4-BE49-F238E27FC236}">
                <a16:creationId xmlns:a16="http://schemas.microsoft.com/office/drawing/2014/main" id="{7FB2A7E8-B038-B765-80F8-5D0DE8AA67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D3C1A13D-41C3-489A-91F2-3982F19CE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18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370ABE4-C621-9498-83D1-DFAA43032575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8696F41-8FCA-B2BE-D4FF-3CC92011ECC8}"/>
              </a:ext>
            </a:extLst>
          </p:cNvPr>
          <p:cNvSpPr txBox="1"/>
          <p:nvPr/>
        </p:nvSpPr>
        <p:spPr>
          <a:xfrm>
            <a:off x="1922939" y="1513429"/>
            <a:ext cx="926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853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4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19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922939" y="1352929"/>
            <a:ext cx="926638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Yıkamada kullanılan malzemeler</a:t>
            </a:r>
          </a:p>
          <a:p>
            <a:pPr>
              <a:lnSpc>
                <a:spcPct val="150000"/>
              </a:lnSpc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Yumuşak bez, sünger, özel fırçalar</a:t>
            </a:r>
          </a:p>
          <a:p>
            <a:pPr>
              <a:lnSpc>
                <a:spcPct val="150000"/>
              </a:lnSpc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Basınçlı su tabancası (lavaj enjektörü)</a:t>
            </a:r>
          </a:p>
          <a:p>
            <a:pPr>
              <a:lnSpc>
                <a:spcPct val="150000"/>
              </a:lnSpc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Basınçlı hava tabancası (lavaj enjektörü)</a:t>
            </a:r>
          </a:p>
          <a:p>
            <a:pPr>
              <a:lnSpc>
                <a:spcPct val="150000"/>
              </a:lnSpc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Ultrasonik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yıkayıcı</a:t>
            </a:r>
          </a:p>
          <a:p>
            <a:pPr>
              <a:lnSpc>
                <a:spcPct val="150000"/>
              </a:lnSpc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Yıkayıcı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dezenfektör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Tıbbi cihaz kurutma makineleri</a:t>
            </a:r>
          </a:p>
          <a:p>
            <a:pPr>
              <a:lnSpc>
                <a:spcPct val="150000"/>
              </a:lnSpc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Yıkamada kullanılan kimyasallar</a:t>
            </a:r>
          </a:p>
        </p:txBody>
      </p:sp>
    </p:spTree>
    <p:extLst>
      <p:ext uri="{BB962C8B-B14F-4D97-AF65-F5344CB8AC3E}">
        <p14:creationId xmlns:p14="http://schemas.microsoft.com/office/powerpoint/2010/main" val="4140349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4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20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2087418" y="1383323"/>
            <a:ext cx="92663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Fırçalar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Lümen çapından daha büyük ya da daha küçük olmamalıdır.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cihaz yüzeyinin/kaplamasının zarar görmemesi için fırça kılları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yumusak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(naylon) olmalıdır.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uçlu fırça çeşitleri bu nedenle önerilmemektedir.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Lümenli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tıbbi cihazlar için kullanılan fırçalar tıbbi cihazın en uç noktasına kadar ulaşabilecek uzunlukta olmalıdır.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Temizlik araçlarının tek kullanımlık olması istenir.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Fırça tek kullanımlık değil ise her kullanım sonrası hasar açısından değerlendirilmeli ve gerekirse atılmalıdır. Yeniden kullanılacak ise; kullanım sonrası her gün temizlenip, dezenfekte edilmeli ve kurutulmalıdır.</a:t>
            </a:r>
          </a:p>
        </p:txBody>
      </p:sp>
    </p:spTree>
    <p:extLst>
      <p:ext uri="{BB962C8B-B14F-4D97-AF65-F5344CB8AC3E}">
        <p14:creationId xmlns:p14="http://schemas.microsoft.com/office/powerpoint/2010/main" val="51177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47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21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112" y="806640"/>
            <a:ext cx="6542258" cy="5231532"/>
          </a:xfrm>
          <a:prstGeom prst="rect">
            <a:avLst/>
          </a:prstGeom>
        </p:spPr>
      </p:pic>
      <p:sp>
        <p:nvSpPr>
          <p:cNvPr id="10" name="Dikdörtgen 9"/>
          <p:cNvSpPr/>
          <p:nvPr/>
        </p:nvSpPr>
        <p:spPr>
          <a:xfrm>
            <a:off x="4727475" y="6299805"/>
            <a:ext cx="30332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cihaz yıkama fırçaları</a:t>
            </a:r>
          </a:p>
        </p:txBody>
      </p:sp>
    </p:spTree>
    <p:extLst>
      <p:ext uri="{BB962C8B-B14F-4D97-AF65-F5344CB8AC3E}">
        <p14:creationId xmlns:p14="http://schemas.microsoft.com/office/powerpoint/2010/main" val="196161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4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66982" y="766618"/>
            <a:ext cx="10455741" cy="57198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Yıkamada kullanılan solüsyonlar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Yıkamada kullanılan kimyasallar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organik, inorganik maddeleri ve mikroorganizmaları uzaklaştırır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 bir bileşik,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tüm kirleri uzaklaştırmak için gerekli olan özelliklere sahip olmayabilir.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Temizlikteki ilk adım, yüzey gerilimini azaltmak için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yüzey aktif ajanların kullanılmasıdır.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Temizlenecek tıbbi cihaz ile uyumluluğu, ürün bilgileri, güvenlik veri bilgileri, etiket bilgileri ve suyun sertlik derecesi dikkate alınarak kimyasal seçimi yapılmalıdır.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Kimyasallar üretici tarafından önerilen koşullarda (konsantrasyon, sıcaklık ve süre) kullanılmalıdır.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cihazların yıkanmasında kullanılan deterjanlar,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nötralizanlar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durulama ve bakım ürünleri, sınıf I tıbbi cihazlar olarak tanımlanır ve etiketlerinde CE işareti yer alır.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22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6023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4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450109" y="965756"/>
            <a:ext cx="10372614" cy="5619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Deterjanlar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Kirleri solüsyon içinde süspansiyon haline getirerek yıkama ve durulama ile uzaklaştırırlar.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Yüzey gerilimini azaltarak kir içine nüfuz ederler, yağ ve organik maddeleri parçalayarak çözünmelerini sağlarlar.</a:t>
            </a:r>
          </a:p>
          <a:p>
            <a:r>
              <a:rPr lang="sv-S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 elle hem de makineli yıkamada kullanılabilirler.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Makine ile yıkamada, deterjan ile yıkayıcı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dezenfektörün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 da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ultrasonik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yıkayıcının uyumu önemlidir.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Çok köpüren deterjanlar yıkayıcı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dezenfektörlerin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basınçlı sprey kollarının fonksiyonunu bozar.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Deterjanların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pH’sı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temizliği etkileyen önemli bir özelliktir.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23</a:t>
            </a:fld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894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24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Metin kutusu 5"/>
          <p:cNvSpPr txBox="1"/>
          <p:nvPr/>
        </p:nvSpPr>
        <p:spPr>
          <a:xfrm>
            <a:off x="1812814" y="1414154"/>
            <a:ext cx="95409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nötr deterjanlar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Tüm metaller, cam, plastik, kauçuk ve alüminyum ile kaplı malzemeler güvenli bir şekilde temizlenebilir.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nötr deterjanlar yıkayıcı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dezenfektörler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ultrasonik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yıkayıcılar ve pompa sistemleri ile uyumludur.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Kolay durulanma özellikleri vardır. Pas, leke ve korozyon oluşturma riskleri azdır.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866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25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Metin kutusu 5"/>
          <p:cNvSpPr txBox="1"/>
          <p:nvPr/>
        </p:nvSpPr>
        <p:spPr>
          <a:xfrm>
            <a:off x="1683505" y="952264"/>
            <a:ext cx="95409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Alkali deterjanlar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Bunlar; hidroksitler (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NaOH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KOH), amonyak (NH3), soda/di-sodyum karbonat ( Na2CO3) fosfat ve silikatlardır.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Alkalen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deterjanlar,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nötr veya yüzey aktif madde bazlı deterjanlara göre, cerrahi tıbbi cihazlar için daha etkili temizlik maddeleridir. Genellikle yıkama makinelerinde ana yıkama solüsyonu olarak kullanılır.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Paslanmaz çelikten yapılmış cerrahi tıbbi cihazların temizliği için uygundurlar.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Alüminyum, çinko ve başka bazı demir dışı metaller, kauçuk ve lateks ile reaksiyona girebilirler.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Suyun sert olduğu koşullarda en etkili deterjandır.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048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26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Metin kutusu 5"/>
          <p:cNvSpPr txBox="1"/>
          <p:nvPr/>
        </p:nvSpPr>
        <p:spPr>
          <a:xfrm>
            <a:off x="1785637" y="1259870"/>
            <a:ext cx="95409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Enzimatik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solüsyonlar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Enzimatik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solüsyonlar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nötr ya da hafif alkali olan solüsyonlara bir veya birden fazla enzim ve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sürfaktan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ilavesi ile elde edilirler.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cihazların yıkanmasında kullanılan yardımcı ürünlerdir.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Büyük organik molekülleri parçalayarak uzaklaşmalarını kolaylaştırırlar.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Aşırı kirli,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lümenli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tıbbi cihazların temizliğinde etkilidirler.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Enzimler protein yapısında olup; biyolojik yük ve organik kalıntıları parçalamada katalizör rolü oynarlar.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Proteazlar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kan, mukus, dışkı ve albümini;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lipazlar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yağları; amilaz nişastayı (karbonhidratları);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Selülaz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lif ve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biyofilmi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parçalar.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Enzim içeren nötr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pH’lı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deterjan solüsyonlarının materyal uyumları iyidir.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216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r>
              <a:rPr lang="tr-TR" sz="2400" b="1" dirty="0">
                <a:solidFill>
                  <a:prstClr val="black"/>
                </a:solidFill>
                <a:latin typeface="Times New Roman"/>
              </a:rPr>
              <a:t>Yüzey aktif maddeler/</a:t>
            </a:r>
            <a:r>
              <a:rPr lang="tr-TR" sz="2400" b="1" dirty="0" err="1">
                <a:solidFill>
                  <a:prstClr val="black"/>
                </a:solidFill>
                <a:latin typeface="Times New Roman"/>
              </a:rPr>
              <a:t>sürfaktanlar</a:t>
            </a:r>
            <a:endParaRPr lang="tr-TR" sz="2400" b="1" dirty="0">
              <a:solidFill>
                <a:prstClr val="black"/>
              </a:solidFill>
              <a:latin typeface="Times New Roman"/>
            </a:endParaRPr>
          </a:p>
          <a:p>
            <a:pPr lvl="0" algn="just"/>
            <a:r>
              <a:rPr lang="tr-TR" sz="2400" dirty="0">
                <a:solidFill>
                  <a:prstClr val="black"/>
                </a:solidFill>
                <a:latin typeface="Times New Roman"/>
              </a:rPr>
              <a:t>Suyun oluşturduğu yüzey gerilimini azaltarak suyun temizleme kapasitesini </a:t>
            </a:r>
            <a:r>
              <a:rPr lang="tr-TR" sz="2400">
                <a:solidFill>
                  <a:prstClr val="black"/>
                </a:solidFill>
                <a:latin typeface="Times New Roman"/>
              </a:rPr>
              <a:t>ve yıkama etkinliğini </a:t>
            </a:r>
            <a:r>
              <a:rPr lang="tr-TR" sz="2400" dirty="0">
                <a:solidFill>
                  <a:prstClr val="black"/>
                </a:solidFill>
                <a:latin typeface="Times New Roman"/>
              </a:rPr>
              <a:t>artırmak amacıyla kullanılırlar.</a:t>
            </a:r>
          </a:p>
          <a:p>
            <a:pPr lvl="0" algn="just"/>
            <a:r>
              <a:rPr lang="tr-TR" sz="2400" dirty="0">
                <a:solidFill>
                  <a:prstClr val="black"/>
                </a:solidFill>
                <a:latin typeface="Times New Roman"/>
              </a:rPr>
              <a:t>Kirin tıbbi cihazlara geri yapışmasını engellerler.</a:t>
            </a:r>
          </a:p>
          <a:p>
            <a:pPr lvl="0" algn="just"/>
            <a:r>
              <a:rPr lang="tr-TR" sz="2400" dirty="0" err="1">
                <a:solidFill>
                  <a:prstClr val="black"/>
                </a:solidFill>
                <a:latin typeface="Times New Roman"/>
              </a:rPr>
              <a:t>Katyonik</a:t>
            </a:r>
            <a:r>
              <a:rPr lang="tr-TR" sz="2400" dirty="0">
                <a:solidFill>
                  <a:prstClr val="black"/>
                </a:solidFill>
                <a:latin typeface="Times New Roman"/>
              </a:rPr>
              <a:t>, </a:t>
            </a:r>
            <a:r>
              <a:rPr lang="tr-TR" sz="2400" dirty="0" err="1">
                <a:solidFill>
                  <a:prstClr val="black"/>
                </a:solidFill>
                <a:latin typeface="Times New Roman"/>
              </a:rPr>
              <a:t>anyonik</a:t>
            </a:r>
            <a:r>
              <a:rPr lang="tr-TR" sz="2400" dirty="0">
                <a:solidFill>
                  <a:prstClr val="black"/>
                </a:solidFill>
                <a:latin typeface="Times New Roman"/>
              </a:rPr>
              <a:t> ve nötr/</a:t>
            </a:r>
            <a:r>
              <a:rPr lang="tr-TR" sz="2400" dirty="0" err="1">
                <a:solidFill>
                  <a:prstClr val="black"/>
                </a:solidFill>
                <a:latin typeface="Times New Roman"/>
              </a:rPr>
              <a:t>non-anyonik</a:t>
            </a:r>
            <a:r>
              <a:rPr lang="tr-TR" sz="2400" dirty="0">
                <a:solidFill>
                  <a:prstClr val="black"/>
                </a:solidFill>
                <a:latin typeface="Times New Roman"/>
              </a:rPr>
              <a:t> olmak üzere </a:t>
            </a:r>
            <a:r>
              <a:rPr lang="tr-TR" sz="2400" dirty="0" err="1">
                <a:solidFill>
                  <a:prstClr val="black"/>
                </a:solidFill>
                <a:latin typeface="Times New Roman"/>
              </a:rPr>
              <a:t>sürfaktanlar</a:t>
            </a:r>
            <a:r>
              <a:rPr lang="tr-TR" sz="2400" dirty="0">
                <a:solidFill>
                  <a:prstClr val="black"/>
                </a:solidFill>
                <a:latin typeface="Times New Roman"/>
              </a:rPr>
              <a:t> üç büyük gruptur.</a:t>
            </a:r>
          </a:p>
          <a:p>
            <a:pPr lvl="0" algn="just"/>
            <a:r>
              <a:rPr lang="tr-TR" sz="2400" dirty="0">
                <a:solidFill>
                  <a:prstClr val="black"/>
                </a:solidFill>
                <a:latin typeface="Times New Roman"/>
              </a:rPr>
              <a:t>Sabun ve deterjanlar bu amaçla kullanılır.</a:t>
            </a: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27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16609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Durulama ürünleri / </a:t>
            </a:r>
            <a:r>
              <a:rPr lang="tr-T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nötralizanlar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nn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 başlarına yağ ve proteinlere etki etmez.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Yıkama makinelerinde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alkalen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deterjanları nötrleştirerek korozyonu önleyici etki gösterirler.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Durulamayı kolaylaştırırlar ve ilk durulama suyuna eklenirler.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Sitrik asit, fosforik asit ve asetik asit gibi asitli ürünlerdir.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28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75804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r>
              <a:rPr lang="tr-TR" sz="2400" b="1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Antimikrobiyal</a:t>
            </a:r>
            <a:r>
              <a:rPr lang="tr-TR" sz="2400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/ dezenfektanlar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Yüksek ısıdan etkilenen ve termal dezenfeksiyon yapılamayan tıbbi cihazların dezenfeksiyonunda kullanılan ürünlerdir.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Bakım solüsyonları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Bakım işlemi koruyucu ya da iyileştirici olarak uygulanabilir.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Koruyucu bakım her yıkama işleminden sonra, iyileştirici bakım belirli aralıklarla yapılır.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Leke ve pas sökücüler, korozyon inhibitörleri (alüminyum silikat) örnek verilebilir.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29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161273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tıbbi cihaz yıkama</a:t>
            </a:r>
          </a:p>
          <a:p>
            <a:pPr>
              <a:lnSpc>
                <a:spcPct val="150000"/>
              </a:lnSpc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Kullanım alanında ya da narin ve temizlenmesi zor olan tıbbi cihazların yıkaması için kullanılır.</a:t>
            </a:r>
          </a:p>
          <a:p>
            <a:pPr>
              <a:lnSpc>
                <a:spcPct val="150000"/>
              </a:lnSpc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yıkamada standart prosedürlerin kullanılması önemlidir. Elle yıkamada; tıbbi cihaz ile kullanılacak kimyasal çözeltilerin uyumlu olması ve kullanılan suyun sıcaklığının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40°C’nin altında olması gereklidir. Daha sıcak suyla protein </a:t>
            </a:r>
            <a:r>
              <a:rPr lang="tr-T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koagülasyonu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meydana gelecek ve temizlik güçleşecektir.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30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509723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31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Dikdörtgen 5"/>
          <p:cNvSpPr/>
          <p:nvPr/>
        </p:nvSpPr>
        <p:spPr>
          <a:xfrm>
            <a:off x="1741715" y="1193430"/>
            <a:ext cx="9437914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yıkamanın gerekli olduğu durumlar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Makineli yıkama yöntemlerinin uygulanamadığı durumlar;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Solüsyona daldırılamayan tıbbi cihazlar (</a:t>
            </a:r>
            <a:r>
              <a:rPr lang="tr-T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örn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elektrikli veya bataryayla çalışan cihazlar),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 temizlik gerektiren cihazlar (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örn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dar delikli lümen veya hassas cihazlar),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Ultrasonik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veya yıkayıcı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dezenfektörde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yıkama öncesi mekanik temizlik için elle temizlik gerekebilir.</a:t>
            </a:r>
          </a:p>
        </p:txBody>
      </p:sp>
    </p:spTree>
    <p:extLst>
      <p:ext uri="{BB962C8B-B14F-4D97-AF65-F5344CB8AC3E}">
        <p14:creationId xmlns:p14="http://schemas.microsoft.com/office/powerpoint/2010/main" val="2368545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32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Dikdörtgen 5"/>
          <p:cNvSpPr/>
          <p:nvPr/>
        </p:nvSpPr>
        <p:spPr>
          <a:xfrm>
            <a:off x="1828800" y="1083777"/>
            <a:ext cx="9525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yıkama işlemi-1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cihazlar üreticinin talimatlarına uygun olarak sökülür.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Gerekli olduğunda, tıbbi cihazların (tel sepetler içinde) kaba kiri akıtılır.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cihazlar, daldırma yöntemiyle veya akan su altında yıkanarak temizlenir.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cihazların yıkanması için daldırma yöntemi kullanılacaksa lavabo yeterli miktarda uygun sıcaklıktaki su ile doldurulur.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Etkili temizlik için üretici önerileri doğrultusunda uygun konsantrasyonu sağlayacak miktarda deterjan eklenir.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Deterjan olarak toz şeklinde ürünler kullanılacak ise; önce suda tamamen çözdürülmeli ve homojen çözelti elde edilmelidir.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cihazlar önceden hazırlanmış daldırma solüsyonuna daldırılır.</a:t>
            </a:r>
          </a:p>
        </p:txBody>
      </p:sp>
    </p:spTree>
    <p:extLst>
      <p:ext uri="{BB962C8B-B14F-4D97-AF65-F5344CB8AC3E}">
        <p14:creationId xmlns:p14="http://schemas.microsoft.com/office/powerpoint/2010/main" val="24856624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33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Dikdörtgen 5"/>
          <p:cNvSpPr/>
          <p:nvPr/>
        </p:nvSpPr>
        <p:spPr>
          <a:xfrm>
            <a:off x="1335315" y="911057"/>
            <a:ext cx="1027611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yıkama işlemi-2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Erişilebilir yüzeyler gözle görülür şekilde temizlenene kadar fırçalama ya da sünger, tek kullanımlık bezler ile temizlenir.·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Sıvıya daldırılamayan tıbbi cihazlar ise önce deterjanlı bezle ile ve ardından dezenfektanla ıslatılmış bezle silinerek temizlenir.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Lümenli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tıbbi cihazlar ve bazı hassas zor bölgeler özel fırça kullanılarak temizlenir.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Fırçalama her zaman en az kirli olandan en kirli uca doğru aynı yönde yapılır.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Ulaşılması zor alanlar basınçlı su tabancası ile yıkanır.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Sıçramaları önlemek için tıbbi cihazlar suyun yüzeyi altında temizlenmelidir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Enzimatik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solüsyonlar bakteri üremesi açısından zengin bir ortam oluşturur. Bu nedenle sık değiştirilmesi çok önemlidir.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Yıkama solüsyonu her temizlik seansında ve gözle görülür şekilde kirlendiğinde değiştirilmelidir.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Yıkama işleminden önce kimyasal dezenfeksiyon uygulanması gereksiz ve etkisizdir.</a:t>
            </a:r>
          </a:p>
        </p:txBody>
      </p:sp>
    </p:spTree>
    <p:extLst>
      <p:ext uri="{BB962C8B-B14F-4D97-AF65-F5344CB8AC3E}">
        <p14:creationId xmlns:p14="http://schemas.microsoft.com/office/powerpoint/2010/main" val="35655109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34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Dikdörtgen 5"/>
          <p:cNvSpPr/>
          <p:nvPr/>
        </p:nvSpPr>
        <p:spPr>
          <a:xfrm>
            <a:off x="1364344" y="1722061"/>
            <a:ext cx="10276114" cy="2795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Durulama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Yıkama işleminden sonra, tıbbi cihazların kalıntılardan ve deterjan artıklarından tamamen arındırılması önemlidir.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Durulama akan çeşme suyu ile yapılabilir ancak yumuşak su ile yapılması tıbbi cihazın ömrünü uzatır.</a:t>
            </a:r>
          </a:p>
        </p:txBody>
      </p:sp>
    </p:spTree>
    <p:extLst>
      <p:ext uri="{BB962C8B-B14F-4D97-AF65-F5344CB8AC3E}">
        <p14:creationId xmlns:p14="http://schemas.microsoft.com/office/powerpoint/2010/main" val="31630105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35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Dikdörtgen 5"/>
          <p:cNvSpPr/>
          <p:nvPr/>
        </p:nvSpPr>
        <p:spPr>
          <a:xfrm>
            <a:off x="1364344" y="1722061"/>
            <a:ext cx="10276114" cy="22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</a:t>
            </a:r>
          </a:p>
          <a:p>
            <a:pPr>
              <a:lnSpc>
                <a:spcPct val="150000"/>
              </a:lnSpc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Düşük/orta düzey dezenfeksiyon işlemi yapılır.</a:t>
            </a:r>
          </a:p>
          <a:p>
            <a:pPr>
              <a:lnSpc>
                <a:spcPct val="150000"/>
              </a:lnSpc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Cihazın özelliğine göre dezenfektan seçilir.</a:t>
            </a:r>
          </a:p>
          <a:p>
            <a:pPr>
              <a:lnSpc>
                <a:spcPct val="150000"/>
              </a:lnSpc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Seçilen dezenfektan üretici firma önerilerine göre kullanılır.</a:t>
            </a:r>
          </a:p>
        </p:txBody>
      </p:sp>
    </p:spTree>
    <p:extLst>
      <p:ext uri="{BB962C8B-B14F-4D97-AF65-F5344CB8AC3E}">
        <p14:creationId xmlns:p14="http://schemas.microsoft.com/office/powerpoint/2010/main" val="14382542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36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Dikdörtgen 5"/>
          <p:cNvSpPr/>
          <p:nvPr/>
        </p:nvSpPr>
        <p:spPr>
          <a:xfrm>
            <a:off x="1364344" y="1722061"/>
            <a:ext cx="1027611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durulama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 sonunda yumuşak (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demineralize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su ile son durulama yapılır.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 kalıntısını uzaklaştırmak için akan su altında en az 10 saniye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tüm yüzeylerin su ile temas etmesi ve bütün lümenlerden en az 10 saniye su geçirilmesi gereklidir.</a:t>
            </a:r>
          </a:p>
        </p:txBody>
      </p:sp>
    </p:spTree>
    <p:extLst>
      <p:ext uri="{BB962C8B-B14F-4D97-AF65-F5344CB8AC3E}">
        <p14:creationId xmlns:p14="http://schemas.microsoft.com/office/powerpoint/2010/main" val="9273333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37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Dikdörtgen 5"/>
          <p:cNvSpPr/>
          <p:nvPr/>
        </p:nvSpPr>
        <p:spPr>
          <a:xfrm>
            <a:off x="1364344" y="1722061"/>
            <a:ext cx="10276114" cy="2795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Kurulama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Hava ile kurutulmalı ya da hav bırakmayan yumuşak bir bezle kurulanmalıdır.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Lümenli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tıbbi cihazlar basınçlı hava ile kurutulur.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Paslanmaz çelikten yapılan tıbbi cihazlarda lekelenmeyi önlemek için durulamanın ardından hemen kurulama yapılmalıdır.</a:t>
            </a:r>
          </a:p>
        </p:txBody>
      </p:sp>
    </p:spTree>
    <p:extLst>
      <p:ext uri="{BB962C8B-B14F-4D97-AF65-F5344CB8AC3E}">
        <p14:creationId xmlns:p14="http://schemas.microsoft.com/office/powerpoint/2010/main" val="9012950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4349336" y="1718269"/>
            <a:ext cx="3097036" cy="3755461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38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BUGÜN NELER ÖĞRENDİK?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94734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4013329" y="1813994"/>
            <a:ext cx="5084505" cy="3907875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39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40548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SORU VE ÖNERİLER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88703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Malzeme yıkama ve hazırlama üniteleri</a:t>
            </a:r>
          </a:p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40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1" y="38535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ÖNERİLEN HAFTALIK ÇALIŞMALAR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80479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Zenciroğlu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(2024). Dezenfeksiyon Antisepsi Sterilizasyon Rehberi.</a:t>
            </a:r>
          </a:p>
          <a:p>
            <a:pPr marL="0" indent="0" algn="just">
              <a:buNone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Altındiş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(2021). Hemşireler için Mikrobiyoloji. Ankara: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NobelTıp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Kitabevi.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41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1" y="28310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KAYNAKÇA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1356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420269"/>
            <a:ext cx="10533185" cy="4770194"/>
          </a:xfrm>
        </p:spPr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Sterilizasyonda güvenlik testleri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42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BİR SONRAKİ DERS HAKKINDA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70701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1240220" y="1208690"/>
            <a:ext cx="10710042" cy="53918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tr-TR" dirty="0">
              <a:solidFill>
                <a:srgbClr val="002060"/>
              </a:solidFill>
              <a:ea typeface="Times New Roman"/>
              <a:cs typeface="Times New Roman"/>
              <a:sym typeface="Times New Roman"/>
            </a:endParaRPr>
          </a:p>
          <a:p>
            <a:pPr marL="0" indent="0" algn="ctr">
              <a:buNone/>
            </a:pPr>
            <a:endParaRPr lang="tr-TR" dirty="0">
              <a:solidFill>
                <a:srgbClr val="002060"/>
              </a:solidFill>
              <a:ea typeface="Times New Roman"/>
              <a:cs typeface="Times New Roman"/>
              <a:sym typeface="Times New Roman"/>
            </a:endParaRPr>
          </a:p>
          <a:p>
            <a:pPr marL="0" indent="0" algn="ctr">
              <a:buNone/>
            </a:pP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Dr. </a:t>
            </a:r>
            <a:r>
              <a:rPr lang="tr-TR" dirty="0" err="1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Öğr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. Üyesi Sevinç Baba’nın Sterilizasyon ve Cerrahi Asepsi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Dersine ait sunumlar özel olduğu için burada yer alan  metin ve görsellerin,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dersin öğretim üyesinden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b="1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izin alınmaksızın sosyal medya ya da farklı alanlarda kullanılması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,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b="1" i="1" u="sng" dirty="0">
                <a:solidFill>
                  <a:srgbClr val="FF0000"/>
                </a:solidFill>
                <a:ea typeface="Times New Roman"/>
                <a:cs typeface="Times New Roman"/>
                <a:sym typeface="Times New Roman"/>
              </a:rPr>
              <a:t>6698 Sayılı Kanun 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ile güvence altına alınan kişisel verilerin ve özel hayatın korunmasına yönelik düzenlemelere aykırıdır.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endParaRPr lang="tr-TR" sz="2400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03811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1240220" y="1208690"/>
            <a:ext cx="6494080" cy="5391807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150000"/>
              </a:lnSpc>
            </a:pPr>
            <a:r>
              <a:rPr lang="tr-TR" dirty="0"/>
              <a:t>“Kendiniz için değil, bağlı bulunduğunuz ulus için elbirliği ile çalışınız. Çalışmaların en yükseği budur.”</a:t>
            </a: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r>
              <a:rPr lang="tr-TR" b="1" dirty="0">
                <a:solidFill>
                  <a:srgbClr val="172652"/>
                </a:solidFill>
                <a:ea typeface="Times New Roman"/>
                <a:cs typeface="Times New Roman"/>
                <a:sym typeface="Times New Roman"/>
              </a:rPr>
              <a:t>                              Mustafa Kemal ATATÜRK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323;g2ea15ffc163_0_229" descr="kişi, şahıs, insan yüzü, giyim, askeri üniforma içeren bir resim&#10;&#10;Açıklama otomatik olarak oluşturuldu"/>
          <p:cNvPicPr preferRelativeResize="0"/>
          <p:nvPr/>
        </p:nvPicPr>
        <p:blipFill rotWithShape="1">
          <a:blip r:embed="rId3">
            <a:alphaModFix/>
          </a:blip>
          <a:srcRect l="16533"/>
          <a:stretch/>
        </p:blipFill>
        <p:spPr>
          <a:xfrm>
            <a:off x="8421447" y="1542485"/>
            <a:ext cx="3570201" cy="462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919399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tr-TR" dirty="0"/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9254" y="365125"/>
            <a:ext cx="1761392" cy="10397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0133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1695</TotalTime>
  <Words>2074</Words>
  <Application>Microsoft Macintosh PowerPoint</Application>
  <PresentationFormat>Geniş ekran</PresentationFormat>
  <Paragraphs>284</Paragraphs>
  <Slides>45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Times New Roman</vt:lpstr>
      <vt:lpstr>Wingdings</vt:lpstr>
      <vt:lpstr>Office Teması</vt:lpstr>
      <vt:lpstr> 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kaydemir</dc:creator>
  <cp:lastModifiedBy>Kıvanç Derya PEKER</cp:lastModifiedBy>
  <cp:revision>176</cp:revision>
  <dcterms:created xsi:type="dcterms:W3CDTF">2024-07-10T08:02:52Z</dcterms:created>
  <dcterms:modified xsi:type="dcterms:W3CDTF">2025-11-12T08:17:58Z</dcterms:modified>
</cp:coreProperties>
</file>